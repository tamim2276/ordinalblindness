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Md Tamim Hossain, from the CSE department of MIST. Today I will present our paper, OrdinalFed. It is about training an eye-disease model across many hospitals. This is joint work with Najifa Raksanda, M. M. Tamim Sharif and Aria Nawshin Ashka.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Diabetes can damage the blood vessels in the eye. This is called diabetic retinopathy, or DR. It is a major cause of blindness that we can prevent. Bangladesh has more than 13 million people with diabetes. But there are very few eye doctors outside the big cities. Doctors grade DR from 0, which is healthy, to 4, which is very severe. If we find Grade 2 or higher early, we can save a patient’s sight. So a computer that grades DR automatically would help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train a good model, we need images from many hospitals. But hospitals cannot share patient images, because of privacy. Federated learning solves this. Each hospital trains the model on its own images. Then it sends only the model, not the images, to a central server. The server combines all the models into one and sends it back. This repeats for several rounds. The usual way to combine them is called FedAvg. In FedAvg, a hospital with more images gets a bigger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there are two problems. First, hospitals see very different patients. Some see mostly healthy eyes. Others see mostly serious cases. When the data are this uneven, FedAvg can break down. In our tests, its score fell from 0.647 to 0.378. (Point to the small note at the bottom.) We use a score called QWK. It checks how close the predicted grade is to the true grade. One means perfect. Second, the usual training method treats every mistake the same. Calling a Grade 4 eye “Grade 3” is a small mistake. Calling it “Grade 0” is a big one. But the usual method sees no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example. Think of three hospitals. A big city hospital has many patients, but most have healthy eyes. An eye hospital has many serious cases. A village clinic has only a few patients. FedAvg gives votes by the number of images. So the city hospital gets almost all the votes. The model learns that most eyes are healthy. Then it starts missing the serious cases and the early cases. These bars are just a picture of the idea. But we measured the same thing: the two smallest hospitals got only 5.9 percent of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OrdinalFed, has two parts. Part one is at each hospital. We add an extra penalty when the predicted grade is far from the true grade. So a far-off mistake costs much more than a near one. Part two is at the server. The server keeps 50 test images, 10 of each grade. After each round, it tests every hospital’s model on these images. Better models get a bigger vote. The hospitals do not need to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server sets the votes. First, it gives each model a score on its 50 images. Second, it turns the scores into votes. Third, it mixes these votes with the image counts. At the start, both count equally. Over the rounds, the image counts matter less and less. At the end, only the scores matter. No hospital is ever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our three hospitals. You can think of it like a school exam. Every hospital takes the same exam. The vote depends on how well you did, not just on how big you are. And every hospital keeps a small minimum vote. In our tests, the vote of the two smallest hospitals went up from 5.9 percent to 40.8 percent. And the worst score went up from 0.378 to 0.514. The hospitals did not change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experiments. We used the DDR dataset, with more than 12,000 eye images. We had five hospitals and used the EfficientNet-B3 model. We trained for 10 rounds and repeated every test three times. We compared our method with FedAvg, FedProx and two other versions. We also tested all models on a second dataset, APTOS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images among the five hospitals in three ways. Each bar is one hospital. The colours show which grades it has. (Point left.) On the left, every hospital gets a similar mix. That is the easy case. (Point to the middle.) In the middle, each hospital gets mostly one grade. That is the hard case. One hospital has only 32 images, all healthy. (Point right.) On the right, the split copies five real kinds of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score after each round. Orange is FedAvg. Green is FedProx. Blue is our method. (Point to the middle panel.) Look at the middle, the hard case. FedAvg crashes after round 5. Our method does not crash, but it goes up and down. FedProx stays steady. On the left and right, all methods do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worst score of each method in the hard case. Higher is better. FedAvg falls to 0.378. Our method keeps it at 0.514. FedProx is the most steady, at 0.641. Our method plus FedProx gets close, at 0.627.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our method help? We tested each part on its own. The new penalty alone did not help. Its score, 0.380, was the same as FedAvg. Votes based on scores helped: 0.586. But giving every hospital an equal vote helped even more: 0.630. So the real reason is simple. Small hospitals get a bigger voice. With only 50 test images, the scores are too noisy to rank the hospitals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use our method instead of FedProx? The difference is where the change happens. FedProx changes the training at every hospital. Each hospital must change its code and tune a setting. Our method changes only the server. The hospitals do nothing new. To be honest, FedProx was more steady in our tests. But our method is useful in three cases. One: when you can only change the server. Two: when hospital sizes are very different. Three: when finding rare, serious cases matters. Our method found more Grade 3 cases: 0.36 against 0.31. And you can use both together. That reached 0.627.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results. When the data are not very uneven, all methods score about the same. Our method found the most Grade 3 cases. On the second dataset, APTOS, all models still worked well, close to a model trained on all the data. And our method adds only about one second per round at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our method stops most of FedAvg’s crash, and the hospitals change nothing. Two: it works because small hospitals get a bigger voice. Three: FedProx is still the most steady method. Our work has limits. The 50 test images are few. Grade 1 is still hard to detect. And we used one dataset with small images. Next, we want to try more test images, bigger images and more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550400" y="812800"/>
            <a:ext cx="304800" cy="304800"/>
          </a:xfrm>
          <a:prstGeom prst="roundRect">
            <a:avLst>
              <a:gd name="adj" fmla="val 20833"/>
            </a:avLst>
          </a:prstGeom>
          <a:solidFill>
            <a:srgbClr val="DCE8F5"/>
          </a:solidFill>
          <a:ln/>
        </p:spPr>
      </p:sp>
      <p:sp>
        <p:nvSpPr>
          <p:cNvPr id="3" name="Shape 1"/>
          <p:cNvSpPr/>
          <p:nvPr/>
        </p:nvSpPr>
        <p:spPr>
          <a:xfrm>
            <a:off x="9931400" y="812800"/>
            <a:ext cx="304800" cy="304800"/>
          </a:xfrm>
          <a:prstGeom prst="roundRect">
            <a:avLst>
              <a:gd name="adj" fmla="val 20833"/>
            </a:avLst>
          </a:prstGeom>
          <a:solidFill>
            <a:srgbClr val="A9C8EA"/>
          </a:solidFill>
          <a:ln/>
        </p:spPr>
      </p:sp>
      <p:sp>
        <p:nvSpPr>
          <p:cNvPr id="4" name="Shape 2"/>
          <p:cNvSpPr/>
          <p:nvPr/>
        </p:nvSpPr>
        <p:spPr>
          <a:xfrm>
            <a:off x="10312400" y="812800"/>
            <a:ext cx="304800" cy="304800"/>
          </a:xfrm>
          <a:prstGeom prst="roundRect">
            <a:avLst>
              <a:gd name="adj" fmla="val 20833"/>
            </a:avLst>
          </a:prstGeom>
          <a:solidFill>
            <a:srgbClr val="6FA3D9"/>
          </a:solidFill>
          <a:ln/>
        </p:spPr>
      </p:sp>
      <p:sp>
        <p:nvSpPr>
          <p:cNvPr id="5" name="Shape 3"/>
          <p:cNvSpPr/>
          <p:nvPr/>
        </p:nvSpPr>
        <p:spPr>
          <a:xfrm>
            <a:off x="10693400" y="812800"/>
            <a:ext cx="304800" cy="304800"/>
          </a:xfrm>
          <a:prstGeom prst="roundRect">
            <a:avLst>
              <a:gd name="adj" fmla="val 20833"/>
            </a:avLst>
          </a:prstGeom>
          <a:solidFill>
            <a:srgbClr val="3A78BF"/>
          </a:solidFill>
          <a:ln/>
        </p:spPr>
      </p:sp>
      <p:sp>
        <p:nvSpPr>
          <p:cNvPr id="6" name="Shape 4"/>
          <p:cNvSpPr/>
          <p:nvPr/>
        </p:nvSpPr>
        <p:spPr>
          <a:xfrm>
            <a:off x="11080750" y="819150"/>
            <a:ext cx="292100" cy="292100"/>
          </a:xfrm>
          <a:prstGeom prst="roundRect">
            <a:avLst>
              <a:gd name="adj" fmla="val 19565"/>
            </a:avLst>
          </a:prstGeom>
          <a:solidFill>
            <a:srgbClr val="1F4E8C"/>
          </a:solidFill>
          <a:ln w="12700">
            <a:solidFill>
              <a:srgbClr val="6FA3D9"/>
            </a:solidFill>
            <a:prstDash val="solid"/>
          </a:ln>
        </p:spPr>
      </p:sp>
      <p:sp>
        <p:nvSpPr>
          <p:cNvPr id="7" name="Text 5"/>
          <p:cNvSpPr/>
          <p:nvPr/>
        </p:nvSpPr>
        <p:spPr>
          <a:xfrm>
            <a:off x="812800" y="812800"/>
            <a:ext cx="3116759" cy="340320"/>
          </a:xfrm>
          <a:prstGeom prst="roundRect">
            <a:avLst>
              <a:gd name="adj" fmla="val 50000"/>
            </a:avLst>
          </a:prstGeom>
          <a:solidFill>
            <a:srgbClr val="9EC1E8"/>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Arial" pitchFamily="34" charset="0"/>
                <a:ea typeface="Arial" pitchFamily="34" charset="-122"/>
                <a:cs typeface="Arial" pitchFamily="34" charset="-120"/>
              </a:rPr>
              <a:t>IEEE WIECON-ECE 2026 · Paper ID 518</a:t>
            </a:r>
            <a:endParaRPr lang="en-US" sz="1200" dirty="0"/>
          </a:p>
        </p:txBody>
      </p:sp>
      <p:sp>
        <p:nvSpPr>
          <p:cNvPr id="8" name="Text 6"/>
          <p:cNvSpPr/>
          <p:nvPr>
            <p:ph type="title"/>
          </p:nvPr>
        </p:nvSpPr>
        <p:spPr>
          <a:xfrm>
            <a:off x="812800" y="249307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Arial" pitchFamily="34" charset="0"/>
                <a:ea typeface="Arial" pitchFamily="34" charset="-122"/>
                <a:cs typeface="Arial" pitchFamily="34" charset="-120"/>
              </a:rPr>
              <a:t>OrdinalFed</a:t>
            </a:r>
            <a:endParaRPr lang="en-US" sz="6000" dirty="0"/>
          </a:p>
        </p:txBody>
      </p:sp>
      <p:sp>
        <p:nvSpPr>
          <p:cNvPr id="9" name="Text 7"/>
          <p:cNvSpPr/>
          <p:nvPr/>
        </p:nvSpPr>
        <p:spPr>
          <a:xfrm>
            <a:off x="812800" y="3445570"/>
            <a:ext cx="915670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DCE6F2"/>
                </a:solidFill>
                <a:latin typeface="Arial" pitchFamily="34" charset="0"/>
                <a:ea typeface="Arial" pitchFamily="34" charset="-122"/>
                <a:cs typeface="Arial" pitchFamily="34" charset="-120"/>
              </a:rPr>
              <a:t>Federated Learning with Ordinal-Aware Aggregation for Diabetic Retinopathy Grading</a:t>
            </a:r>
            <a:endParaRPr lang="en-US" sz="2200" dirty="0"/>
          </a:p>
        </p:txBody>
      </p:sp>
      <p:sp>
        <p:nvSpPr>
          <p:cNvPr id="10" name="Text 8"/>
          <p:cNvSpPr/>
          <p:nvPr/>
        </p:nvSpPr>
        <p:spPr>
          <a:xfrm>
            <a:off x="812800" y="54839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Arial" pitchFamily="34" charset="0"/>
                <a:ea typeface="Arial" pitchFamily="34" charset="-122"/>
                <a:cs typeface="Arial" pitchFamily="34" charset="-120"/>
              </a:rPr>
              <a:t>Md Tamim Hossain, Najifa Raksanda, M. M. Tamim Sharif, Aria Nawshin Ashka</a:t>
            </a:r>
            <a:endParaRPr lang="en-US" sz="1600" dirty="0"/>
          </a:p>
        </p:txBody>
      </p:sp>
      <p:sp>
        <p:nvSpPr>
          <p:cNvPr id="11" name="Text 9"/>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Arial" pitchFamily="34" charset="0"/>
                <a:ea typeface="Arial" pitchFamily="34" charset="-122"/>
                <a:cs typeface="Arial" pitchFamily="34" charset="-120"/>
              </a:rPr>
              <a:t>Department of Computer Science and Engineering · Military Institute of Science and Technology (MIST), Dhaka,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Diabetic retinopathy</a:t>
            </a:r>
            <a:endParaRPr lang="en-US" sz="3200" dirty="0"/>
          </a:p>
        </p:txBody>
      </p:sp>
      <p:sp>
        <p:nvSpPr>
          <p:cNvPr id="4" name="Shape 2"/>
          <p:cNvSpPr/>
          <p:nvPr/>
        </p:nvSpPr>
        <p:spPr>
          <a:xfrm>
            <a:off x="815975" y="1857276"/>
            <a:ext cx="5052913" cy="2926060"/>
          </a:xfrm>
          <a:prstGeom prst="roundRect">
            <a:avLst>
              <a:gd name="adj" fmla="val 4232"/>
            </a:avLst>
          </a:prstGeom>
          <a:solidFill>
            <a:srgbClr val="FEFDFB"/>
          </a:solidFill>
          <a:ln w="6350">
            <a:solidFill>
              <a:srgbClr val="E2E0D8"/>
            </a:solidFill>
            <a:prstDash val="solid"/>
          </a:ln>
        </p:spPr>
      </p:sp>
      <p:sp>
        <p:nvSpPr>
          <p:cNvPr id="5" name="Text 3"/>
          <p:cNvSpPr/>
          <p:nvPr/>
        </p:nvSpPr>
        <p:spPr>
          <a:xfrm>
            <a:off x="1174750" y="2216051"/>
            <a:ext cx="446542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FB3"/>
                </a:solidFill>
                <a:latin typeface="Arial" pitchFamily="34" charset="0"/>
                <a:ea typeface="Arial" pitchFamily="34" charset="-122"/>
                <a:cs typeface="Arial" pitchFamily="34" charset="-120"/>
              </a:rPr>
              <a:t>13.1M</a:t>
            </a:r>
            <a:endParaRPr lang="en-US" sz="6000" dirty="0"/>
          </a:p>
        </p:txBody>
      </p:sp>
      <p:sp>
        <p:nvSpPr>
          <p:cNvPr id="6" name="Text 4"/>
          <p:cNvSpPr/>
          <p:nvPr/>
        </p:nvSpPr>
        <p:spPr>
          <a:xfrm>
            <a:off x="1174750" y="3105051"/>
            <a:ext cx="446542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C"/>
                </a:solidFill>
                <a:latin typeface="Arial" pitchFamily="34" charset="0"/>
                <a:ea typeface="Arial" pitchFamily="34" charset="-122"/>
                <a:cs typeface="Arial" pitchFamily="34" charset="-120"/>
              </a:rPr>
              <a:t>people with diabetes in Bangladesh</a:t>
            </a:r>
            <a:endParaRPr lang="en-US" sz="1500" dirty="0"/>
          </a:p>
        </p:txBody>
      </p:sp>
      <p:pic>
        <p:nvPicPr>
          <p:cNvPr id="7" name="Image 0" descr="line">    </p:cNvPr>
          <p:cNvPicPr>
            <a:picLocks noChangeAspect="1"/>
          </p:cNvPicPr>
          <p:nvPr/>
        </p:nvPicPr>
        <p:blipFill>
          <a:blip r:embed="rId1"/>
          <a:srcRect l="0" r="0" t="-20" b="-20"/>
          <a:stretch/>
        </p:blipFill>
        <p:spPr>
          <a:xfrm>
            <a:off x="1174750" y="3489226"/>
            <a:ext cx="4335363" cy="12700"/>
          </a:xfrm>
          <a:prstGeom prst="rect">
            <a:avLst/>
          </a:prstGeom>
        </p:spPr>
      </p:pic>
      <p:sp>
        <p:nvSpPr>
          <p:cNvPr id="8" name="Text 5"/>
          <p:cNvSpPr/>
          <p:nvPr/>
        </p:nvSpPr>
        <p:spPr>
          <a:xfrm>
            <a:off x="1174750" y="3628926"/>
            <a:ext cx="446542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C"/>
                </a:solidFill>
                <a:latin typeface="Arial" pitchFamily="34" charset="0"/>
                <a:ea typeface="Arial" pitchFamily="34" charset="-122"/>
                <a:cs typeface="Arial" pitchFamily="34" charset="-120"/>
              </a:rPr>
              <a:t>A major cause of blindness that we can prevent. Very few eye doctors outside big cities.</a:t>
            </a:r>
            <a:endParaRPr lang="en-US" sz="1500" dirty="0"/>
          </a:p>
        </p:txBody>
      </p:sp>
      <p:sp>
        <p:nvSpPr>
          <p:cNvPr id="9" name="Text 6"/>
          <p:cNvSpPr/>
          <p:nvPr/>
        </p:nvSpPr>
        <p:spPr>
          <a:xfrm>
            <a:off x="6176863" y="1854101"/>
            <a:ext cx="53584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Five grades of DR</a:t>
            </a:r>
            <a:endParaRPr lang="en-US" sz="2000" dirty="0"/>
          </a:p>
        </p:txBody>
      </p:sp>
      <p:sp>
        <p:nvSpPr>
          <p:cNvPr id="10" name="Text 7"/>
          <p:cNvSpPr/>
          <p:nvPr/>
        </p:nvSpPr>
        <p:spPr>
          <a:xfrm>
            <a:off x="6176863" y="2260501"/>
            <a:ext cx="355600" cy="355600"/>
          </a:xfrm>
          <a:prstGeom prst="roundRect">
            <a:avLst>
              <a:gd name="adj" fmla="val 21429"/>
            </a:avLst>
          </a:prstGeom>
          <a:solidFill>
            <a:srgbClr val="DCE8F5"/>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0</a:t>
            </a:r>
            <a:endParaRPr lang="en-US" sz="1400" dirty="0"/>
          </a:p>
        </p:txBody>
      </p:sp>
      <p:sp>
        <p:nvSpPr>
          <p:cNvPr id="11" name="Text 8"/>
          <p:cNvSpPr/>
          <p:nvPr/>
        </p:nvSpPr>
        <p:spPr>
          <a:xfrm>
            <a:off x="6659463" y="2304951"/>
            <a:ext cx="77509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Healthy</a:t>
            </a:r>
            <a:endParaRPr lang="en-US" sz="1500" dirty="0"/>
          </a:p>
        </p:txBody>
      </p:sp>
      <p:sp>
        <p:nvSpPr>
          <p:cNvPr id="12" name="Text 9"/>
          <p:cNvSpPr/>
          <p:nvPr/>
        </p:nvSpPr>
        <p:spPr>
          <a:xfrm>
            <a:off x="6176863" y="2717701"/>
            <a:ext cx="355600" cy="355600"/>
          </a:xfrm>
          <a:prstGeom prst="roundRect">
            <a:avLst>
              <a:gd name="adj" fmla="val 21429"/>
            </a:avLst>
          </a:prstGeom>
          <a:solidFill>
            <a:srgbClr val="A9C8EA"/>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1</a:t>
            </a:r>
            <a:endParaRPr lang="en-US" sz="1400" dirty="0"/>
          </a:p>
        </p:txBody>
      </p:sp>
      <p:sp>
        <p:nvSpPr>
          <p:cNvPr id="13" name="Text 10"/>
          <p:cNvSpPr/>
          <p:nvPr/>
        </p:nvSpPr>
        <p:spPr>
          <a:xfrm>
            <a:off x="6659463" y="2762151"/>
            <a:ext cx="4192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Mild</a:t>
            </a:r>
            <a:endParaRPr lang="en-US" sz="1500" dirty="0"/>
          </a:p>
        </p:txBody>
      </p:sp>
      <p:sp>
        <p:nvSpPr>
          <p:cNvPr id="14" name="Text 11"/>
          <p:cNvSpPr/>
          <p:nvPr/>
        </p:nvSpPr>
        <p:spPr>
          <a:xfrm>
            <a:off x="6176863" y="3174901"/>
            <a:ext cx="355600" cy="355600"/>
          </a:xfrm>
          <a:prstGeom prst="roundRect">
            <a:avLst>
              <a:gd name="adj" fmla="val 21429"/>
            </a:avLst>
          </a:prstGeom>
          <a:solidFill>
            <a:srgbClr val="6FA3D9"/>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6659463" y="3219351"/>
            <a:ext cx="9658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Moderate</a:t>
            </a:r>
            <a:endParaRPr lang="en-US" sz="1500" dirty="0"/>
          </a:p>
        </p:txBody>
      </p:sp>
      <p:sp>
        <p:nvSpPr>
          <p:cNvPr id="16" name="Text 13"/>
          <p:cNvSpPr/>
          <p:nvPr/>
        </p:nvSpPr>
        <p:spPr>
          <a:xfrm>
            <a:off x="6176863" y="3632101"/>
            <a:ext cx="355600" cy="355600"/>
          </a:xfrm>
          <a:prstGeom prst="roundRect">
            <a:avLst>
              <a:gd name="adj" fmla="val 21429"/>
            </a:avLst>
          </a:prstGeom>
          <a:solidFill>
            <a:srgbClr val="3A78BF"/>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3</a:t>
            </a:r>
            <a:endParaRPr lang="en-US" sz="1400" dirty="0"/>
          </a:p>
        </p:txBody>
      </p:sp>
      <p:sp>
        <p:nvSpPr>
          <p:cNvPr id="17" name="Text 14"/>
          <p:cNvSpPr/>
          <p:nvPr/>
        </p:nvSpPr>
        <p:spPr>
          <a:xfrm>
            <a:off x="6659463" y="3676551"/>
            <a:ext cx="7243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Severe</a:t>
            </a:r>
            <a:endParaRPr lang="en-US" sz="1500" dirty="0"/>
          </a:p>
        </p:txBody>
      </p:sp>
      <p:sp>
        <p:nvSpPr>
          <p:cNvPr id="18" name="Text 15"/>
          <p:cNvSpPr/>
          <p:nvPr/>
        </p:nvSpPr>
        <p:spPr>
          <a:xfrm>
            <a:off x="6176863" y="4089301"/>
            <a:ext cx="355600" cy="355600"/>
          </a:xfrm>
          <a:prstGeom prst="roundRect">
            <a:avLst>
              <a:gd name="adj" fmla="val 21429"/>
            </a:avLst>
          </a:prstGeom>
          <a:solidFill>
            <a:srgbClr val="1F4E8C"/>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4</a:t>
            </a:r>
            <a:endParaRPr lang="en-US" sz="1400" dirty="0"/>
          </a:p>
        </p:txBody>
      </p:sp>
      <p:sp>
        <p:nvSpPr>
          <p:cNvPr id="19" name="Text 16"/>
          <p:cNvSpPr/>
          <p:nvPr/>
        </p:nvSpPr>
        <p:spPr>
          <a:xfrm>
            <a:off x="6659463" y="4133751"/>
            <a:ext cx="12071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Very severe</a:t>
            </a:r>
            <a:endParaRPr lang="en-US" sz="1500" dirty="0"/>
          </a:p>
        </p:txBody>
      </p:sp>
      <p:sp>
        <p:nvSpPr>
          <p:cNvPr id="20" name="Text 17"/>
          <p:cNvSpPr/>
          <p:nvPr/>
        </p:nvSpPr>
        <p:spPr>
          <a:xfrm>
            <a:off x="6176863" y="4546501"/>
            <a:ext cx="5358407"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B4501F"/>
                </a:solidFill>
                <a:latin typeface="Arial" pitchFamily="34" charset="0"/>
                <a:ea typeface="Arial" pitchFamily="34" charset="-122"/>
                <a:cs typeface="Arial" pitchFamily="34" charset="-120"/>
              </a:rPr>
              <a:t>Finding Grade 2 or higher early can save a patient’s sight.</a:t>
            </a:r>
            <a:endParaRPr lang="en-US" sz="1400" dirty="0"/>
          </a:p>
        </p:txBody>
      </p:sp>
      <p:sp>
        <p:nvSpPr>
          <p:cNvPr id="21" name="Text 18"/>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22" name="Text 19"/>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BACKGROUND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Why federated learning?</a:t>
            </a:r>
            <a:endParaRPr lang="en-US" sz="3200" dirty="0"/>
          </a:p>
        </p:txBody>
      </p:sp>
      <p:sp>
        <p:nvSpPr>
          <p:cNvPr id="4" name="Text 2"/>
          <p:cNvSpPr/>
          <p:nvPr/>
        </p:nvSpPr>
        <p:spPr>
          <a:xfrm>
            <a:off x="812800" y="180330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Arial" pitchFamily="34" charset="0"/>
                <a:ea typeface="Arial" pitchFamily="34" charset="-122"/>
                <a:cs typeface="Arial" pitchFamily="34" charset="-120"/>
              </a:rPr>
              <a:t>Hospitals cannot share patient images, because of privacy. Federated learning trains one model together, and the images stay at each hospital.</a:t>
            </a:r>
            <a:endParaRPr lang="en-US" sz="1600" dirty="0"/>
          </a:p>
        </p:txBody>
      </p:sp>
      <p:sp>
        <p:nvSpPr>
          <p:cNvPr id="5" name="Shape 3"/>
          <p:cNvSpPr/>
          <p:nvPr/>
        </p:nvSpPr>
        <p:spPr>
          <a:xfrm>
            <a:off x="815975" y="2629396"/>
            <a:ext cx="3007717" cy="1875631"/>
          </a:xfrm>
          <a:prstGeom prst="roundRect">
            <a:avLst>
              <a:gd name="adj" fmla="val 6602"/>
            </a:avLst>
          </a:prstGeom>
          <a:solidFill>
            <a:srgbClr val="FEFDFB"/>
          </a:solidFill>
          <a:ln w="6350">
            <a:solidFill>
              <a:srgbClr val="E2E0D8"/>
            </a:solidFill>
            <a:prstDash val="solid"/>
          </a:ln>
        </p:spPr>
      </p:sp>
      <p:sp>
        <p:nvSpPr>
          <p:cNvPr id="6" name="Text 4"/>
          <p:cNvSpPr/>
          <p:nvPr/>
        </p:nvSpPr>
        <p:spPr>
          <a:xfrm>
            <a:off x="1073150" y="288657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073150" y="3343771"/>
            <a:ext cx="25681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Train locally</a:t>
            </a:r>
            <a:endParaRPr lang="en-US" sz="2000" dirty="0"/>
          </a:p>
        </p:txBody>
      </p:sp>
      <p:sp>
        <p:nvSpPr>
          <p:cNvPr id="8" name="Text 6"/>
          <p:cNvSpPr/>
          <p:nvPr/>
        </p:nvSpPr>
        <p:spPr>
          <a:xfrm>
            <a:off x="1073150" y="3750171"/>
            <a:ext cx="25681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Each hospital trains the model on its own images</a:t>
            </a:r>
            <a:endParaRPr lang="en-US" sz="1400" dirty="0"/>
          </a:p>
        </p:txBody>
      </p:sp>
      <p:pic>
        <p:nvPicPr>
          <p:cNvPr id="9" name="Image 0" descr="arrow-right">    </p:cNvPr>
          <p:cNvPicPr>
            <a:picLocks noChangeAspect="1"/>
          </p:cNvPicPr>
          <p:nvPr/>
        </p:nvPicPr>
        <p:blipFill>
          <a:blip r:embed="rId1"/>
          <a:srcRect l="0" r="0" t="0" b="0"/>
          <a:stretch/>
        </p:blipFill>
        <p:spPr>
          <a:xfrm>
            <a:off x="3979267" y="3452912"/>
            <a:ext cx="457200" cy="228600"/>
          </a:xfrm>
          <a:prstGeom prst="rect">
            <a:avLst/>
          </a:prstGeom>
        </p:spPr>
      </p:pic>
      <p:sp>
        <p:nvSpPr>
          <p:cNvPr id="10" name="Shape 7"/>
          <p:cNvSpPr/>
          <p:nvPr/>
        </p:nvSpPr>
        <p:spPr>
          <a:xfrm>
            <a:off x="4592042" y="2629396"/>
            <a:ext cx="3007816" cy="1875631"/>
          </a:xfrm>
          <a:prstGeom prst="roundRect">
            <a:avLst>
              <a:gd name="adj" fmla="val 6602"/>
            </a:avLst>
          </a:prstGeom>
          <a:solidFill>
            <a:srgbClr val="FEFDFB"/>
          </a:solidFill>
          <a:ln w="6350">
            <a:solidFill>
              <a:srgbClr val="E2E0D8"/>
            </a:solidFill>
            <a:prstDash val="solid"/>
          </a:ln>
        </p:spPr>
      </p:sp>
      <p:sp>
        <p:nvSpPr>
          <p:cNvPr id="11" name="Text 8"/>
          <p:cNvSpPr/>
          <p:nvPr/>
        </p:nvSpPr>
        <p:spPr>
          <a:xfrm>
            <a:off x="4849217" y="288657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2</a:t>
            </a:r>
            <a:endParaRPr lang="en-US" sz="1400" dirty="0"/>
          </a:p>
        </p:txBody>
      </p:sp>
      <p:sp>
        <p:nvSpPr>
          <p:cNvPr id="12" name="Text 9"/>
          <p:cNvSpPr/>
          <p:nvPr/>
        </p:nvSpPr>
        <p:spPr>
          <a:xfrm>
            <a:off x="4849217" y="334377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Send the model</a:t>
            </a:r>
            <a:endParaRPr lang="en-US" sz="2000" dirty="0"/>
          </a:p>
        </p:txBody>
      </p:sp>
      <p:sp>
        <p:nvSpPr>
          <p:cNvPr id="13" name="Text 10"/>
          <p:cNvSpPr/>
          <p:nvPr/>
        </p:nvSpPr>
        <p:spPr>
          <a:xfrm>
            <a:off x="4849217" y="375017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Only the model goes to the server, never the images</a:t>
            </a:r>
            <a:endParaRPr lang="en-US" sz="1400" dirty="0"/>
          </a:p>
        </p:txBody>
      </p:sp>
      <p:pic>
        <p:nvPicPr>
          <p:cNvPr id="14" name="Image 1" descr="arrow-right">    </p:cNvPr>
          <p:cNvPicPr>
            <a:picLocks noChangeAspect="1"/>
          </p:cNvPicPr>
          <p:nvPr/>
        </p:nvPicPr>
        <p:blipFill>
          <a:blip r:embed="rId2"/>
          <a:srcRect l="0" r="0" t="0" b="0"/>
          <a:stretch/>
        </p:blipFill>
        <p:spPr>
          <a:xfrm>
            <a:off x="7755434" y="3452912"/>
            <a:ext cx="457200" cy="228600"/>
          </a:xfrm>
          <a:prstGeom prst="rect">
            <a:avLst/>
          </a:prstGeom>
        </p:spPr>
      </p:pic>
      <p:sp>
        <p:nvSpPr>
          <p:cNvPr id="15" name="Shape 11"/>
          <p:cNvSpPr/>
          <p:nvPr/>
        </p:nvSpPr>
        <p:spPr>
          <a:xfrm>
            <a:off x="8368209" y="2629396"/>
            <a:ext cx="3007816" cy="1875631"/>
          </a:xfrm>
          <a:prstGeom prst="roundRect">
            <a:avLst>
              <a:gd name="adj" fmla="val 6602"/>
            </a:avLst>
          </a:prstGeom>
          <a:solidFill>
            <a:srgbClr val="FEFDFB"/>
          </a:solidFill>
          <a:ln w="6350">
            <a:solidFill>
              <a:srgbClr val="E2E0D8"/>
            </a:solidFill>
            <a:prstDash val="solid"/>
          </a:ln>
        </p:spPr>
      </p:sp>
      <p:sp>
        <p:nvSpPr>
          <p:cNvPr id="16" name="Text 12"/>
          <p:cNvSpPr/>
          <p:nvPr/>
        </p:nvSpPr>
        <p:spPr>
          <a:xfrm>
            <a:off x="8625384" y="288657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3</a:t>
            </a:r>
            <a:endParaRPr lang="en-US" sz="1400" dirty="0"/>
          </a:p>
        </p:txBody>
      </p:sp>
      <p:sp>
        <p:nvSpPr>
          <p:cNvPr id="17" name="Text 13"/>
          <p:cNvSpPr/>
          <p:nvPr/>
        </p:nvSpPr>
        <p:spPr>
          <a:xfrm>
            <a:off x="8625384" y="334377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Combine</a:t>
            </a:r>
            <a:endParaRPr lang="en-US" sz="2000" dirty="0"/>
          </a:p>
        </p:txBody>
      </p:sp>
      <p:sp>
        <p:nvSpPr>
          <p:cNvPr id="18" name="Text 14"/>
          <p:cNvSpPr/>
          <p:nvPr/>
        </p:nvSpPr>
        <p:spPr>
          <a:xfrm>
            <a:off x="8625384" y="375017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The server combines them into one and sends it back</a:t>
            </a:r>
            <a:endParaRPr lang="en-US" sz="1400" dirty="0"/>
          </a:p>
        </p:txBody>
      </p:sp>
      <p:sp>
        <p:nvSpPr>
          <p:cNvPr id="19" name="Text 15"/>
          <p:cNvSpPr/>
          <p:nvPr/>
        </p:nvSpPr>
        <p:spPr>
          <a:xfrm>
            <a:off x="812800" y="47622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This repeats for several rounds. In </a:t>
            </a:r>
            <a:r>
              <a:rPr lang="en-US" sz="1400" b="1" dirty="0">
                <a:solidFill>
                  <a:srgbClr val="3D4A5C"/>
                </a:solidFill>
                <a:latin typeface="Arial" pitchFamily="34" charset="0"/>
                <a:ea typeface="Arial" pitchFamily="34" charset="-122"/>
                <a:cs typeface="Arial" pitchFamily="34" charset="-120"/>
              </a:rPr>
              <a:t>FedAvg</a:t>
            </a:r>
            <a:r>
              <a:rPr lang="en-US" sz="1400" dirty="0">
                <a:solidFill>
                  <a:srgbClr val="3D4A5C"/>
                </a:solidFill>
                <a:latin typeface="Arial" pitchFamily="34" charset="0"/>
                <a:ea typeface="Arial" pitchFamily="34" charset="-122"/>
                <a:cs typeface="Arial" pitchFamily="34" charset="-120"/>
              </a:rPr>
              <a:t>, the usual method, a hospital with more images gets a bigger vote.</a:t>
            </a:r>
            <a:endParaRPr lang="en-US" sz="1400" dirty="0"/>
          </a:p>
        </p:txBody>
      </p:sp>
      <p:sp>
        <p:nvSpPr>
          <p:cNvPr id="20" name="Text 16"/>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21" name="Text 17"/>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THE CHALLENGE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Two problems</a:t>
            </a:r>
            <a:endParaRPr lang="en-US" sz="3200" dirty="0"/>
          </a:p>
        </p:txBody>
      </p:sp>
      <p:sp>
        <p:nvSpPr>
          <p:cNvPr id="4" name="Shape 2"/>
          <p:cNvSpPr/>
          <p:nvPr/>
        </p:nvSpPr>
        <p:spPr>
          <a:xfrm>
            <a:off x="815975" y="1857276"/>
            <a:ext cx="5149850" cy="2743696"/>
          </a:xfrm>
          <a:prstGeom prst="roundRect">
            <a:avLst>
              <a:gd name="adj" fmla="val 4513"/>
            </a:avLst>
          </a:prstGeom>
          <a:solidFill>
            <a:srgbClr val="FEFDFB"/>
          </a:solidFill>
          <a:ln w="6350">
            <a:solidFill>
              <a:srgbClr val="E2E0D8"/>
            </a:solidFill>
            <a:prstDash val="solid"/>
          </a:ln>
        </p:spPr>
      </p:sp>
      <p:sp>
        <p:nvSpPr>
          <p:cNvPr id="5" name="Text 3"/>
          <p:cNvSpPr/>
          <p:nvPr/>
        </p:nvSpPr>
        <p:spPr>
          <a:xfrm>
            <a:off x="1123950" y="2165251"/>
            <a:ext cx="46699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F"/>
                </a:solidFill>
                <a:latin typeface="Arial" pitchFamily="34" charset="0"/>
                <a:ea typeface="Arial" pitchFamily="34" charset="-122"/>
                <a:cs typeface="Arial" pitchFamily="34" charset="-120"/>
              </a:rPr>
              <a:t>PROBLEM 1</a:t>
            </a:r>
            <a:endParaRPr lang="en-US" sz="1200" dirty="0"/>
          </a:p>
        </p:txBody>
      </p:sp>
      <p:sp>
        <p:nvSpPr>
          <p:cNvPr id="6" name="Text 4"/>
          <p:cNvSpPr/>
          <p:nvPr/>
        </p:nvSpPr>
        <p:spPr>
          <a:xfrm>
            <a:off x="1123950" y="248017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Hospitals see different patients</a:t>
            </a:r>
            <a:endParaRPr lang="en-US" sz="2000" dirty="0"/>
          </a:p>
        </p:txBody>
      </p:sp>
      <p:sp>
        <p:nvSpPr>
          <p:cNvPr id="7" name="Text 5"/>
          <p:cNvSpPr/>
          <p:nvPr/>
        </p:nvSpPr>
        <p:spPr>
          <a:xfrm>
            <a:off x="1123950" y="288657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Arial" pitchFamily="34" charset="0"/>
                <a:ea typeface="Arial" pitchFamily="34" charset="-122"/>
                <a:cs typeface="Arial" pitchFamily="34" charset="-120"/>
              </a:rPr>
              <a:t>Some see mostly healthy eyes. Others see mostly serious cases.</a:t>
            </a:r>
            <a:endParaRPr lang="en-US" sz="1500" dirty="0"/>
          </a:p>
        </p:txBody>
      </p:sp>
      <p:sp>
        <p:nvSpPr>
          <p:cNvPr id="8" name="Text 6"/>
          <p:cNvSpPr/>
          <p:nvPr/>
        </p:nvSpPr>
        <p:spPr>
          <a:xfrm>
            <a:off x="1123950" y="3521571"/>
            <a:ext cx="466991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F"/>
                </a:solidFill>
                <a:latin typeface="Arial" pitchFamily="34" charset="0"/>
                <a:ea typeface="Arial" pitchFamily="34" charset="-122"/>
                <a:cs typeface="Arial" pitchFamily="34" charset="-120"/>
              </a:rPr>
              <a:t>0.647 → 0.378</a:t>
            </a:r>
            <a:endParaRPr lang="en-US" sz="3200" dirty="0"/>
          </a:p>
        </p:txBody>
      </p:sp>
      <p:sp>
        <p:nvSpPr>
          <p:cNvPr id="9" name="Text 7"/>
          <p:cNvSpPr/>
          <p:nvPr/>
        </p:nvSpPr>
        <p:spPr>
          <a:xfrm>
            <a:off x="1123950" y="4070152"/>
            <a:ext cx="466991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575"/>
                </a:solidFill>
                <a:latin typeface="Arial" pitchFamily="34" charset="0"/>
                <a:ea typeface="Arial" pitchFamily="34" charset="-122"/>
                <a:cs typeface="Arial" pitchFamily="34" charset="-120"/>
              </a:rPr>
              <a:t>FedAvg’s score falls when the data are very uneven</a:t>
            </a:r>
            <a:endParaRPr lang="en-US" sz="1300" dirty="0"/>
          </a:p>
        </p:txBody>
      </p:sp>
      <p:sp>
        <p:nvSpPr>
          <p:cNvPr id="10" name="Shape 8"/>
          <p:cNvSpPr/>
          <p:nvPr/>
        </p:nvSpPr>
        <p:spPr>
          <a:xfrm>
            <a:off x="6226175" y="1857276"/>
            <a:ext cx="5149850" cy="2743696"/>
          </a:xfrm>
          <a:prstGeom prst="roundRect">
            <a:avLst>
              <a:gd name="adj" fmla="val 4513"/>
            </a:avLst>
          </a:prstGeom>
          <a:solidFill>
            <a:srgbClr val="FEFDFB"/>
          </a:solidFill>
          <a:ln w="6350">
            <a:solidFill>
              <a:srgbClr val="E2E0D8"/>
            </a:solidFill>
            <a:prstDash val="solid"/>
          </a:ln>
        </p:spPr>
      </p:sp>
      <p:sp>
        <p:nvSpPr>
          <p:cNvPr id="11" name="Text 9"/>
          <p:cNvSpPr/>
          <p:nvPr/>
        </p:nvSpPr>
        <p:spPr>
          <a:xfrm>
            <a:off x="6534150" y="2165251"/>
            <a:ext cx="46699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Arial" pitchFamily="34" charset="0"/>
                <a:ea typeface="Arial" pitchFamily="34" charset="-122"/>
                <a:cs typeface="Arial" pitchFamily="34" charset="-120"/>
              </a:rPr>
              <a:t>PROBLEM 2</a:t>
            </a:r>
            <a:endParaRPr lang="en-US" sz="1200" dirty="0"/>
          </a:p>
        </p:txBody>
      </p:sp>
      <p:sp>
        <p:nvSpPr>
          <p:cNvPr id="12" name="Text 10"/>
          <p:cNvSpPr/>
          <p:nvPr/>
        </p:nvSpPr>
        <p:spPr>
          <a:xfrm>
            <a:off x="6534150" y="248017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Grades have an order</a:t>
            </a:r>
            <a:endParaRPr lang="en-US" sz="2000" dirty="0"/>
          </a:p>
        </p:txBody>
      </p:sp>
      <p:sp>
        <p:nvSpPr>
          <p:cNvPr id="13" name="Text 11"/>
          <p:cNvSpPr/>
          <p:nvPr/>
        </p:nvSpPr>
        <p:spPr>
          <a:xfrm>
            <a:off x="6534150" y="288657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Arial" pitchFamily="34" charset="0"/>
                <a:ea typeface="Arial" pitchFamily="34" charset="-122"/>
                <a:cs typeface="Arial" pitchFamily="34" charset="-120"/>
              </a:rPr>
              <a:t>The usual training method treats every mistake the same.</a:t>
            </a:r>
            <a:endParaRPr lang="en-US" sz="1500" dirty="0"/>
          </a:p>
        </p:txBody>
      </p:sp>
      <p:sp>
        <p:nvSpPr>
          <p:cNvPr id="14" name="Text 12"/>
          <p:cNvSpPr/>
          <p:nvPr/>
        </p:nvSpPr>
        <p:spPr>
          <a:xfrm>
            <a:off x="6534150" y="3521571"/>
            <a:ext cx="46699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Grade 4 called Grade 3: </a:t>
            </a:r>
            <a:r>
              <a:rPr lang="en-US" sz="1500" b="1" dirty="0">
                <a:solidFill>
                  <a:srgbClr val="14213D"/>
                </a:solidFill>
                <a:latin typeface="Arial" pitchFamily="34" charset="0"/>
                <a:ea typeface="Arial" pitchFamily="34" charset="-122"/>
                <a:cs typeface="Arial" pitchFamily="34" charset="-120"/>
              </a:rPr>
              <a:t>small mistake</a:t>
            </a:r>
            <a:endParaRPr lang="en-US" sz="1500" dirty="0"/>
          </a:p>
        </p:txBody>
      </p:sp>
      <p:sp>
        <p:nvSpPr>
          <p:cNvPr id="15" name="Text 13"/>
          <p:cNvSpPr/>
          <p:nvPr/>
        </p:nvSpPr>
        <p:spPr>
          <a:xfrm>
            <a:off x="6534150" y="3889871"/>
            <a:ext cx="46699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Grade 4 called Grade 0: </a:t>
            </a:r>
            <a:r>
              <a:rPr lang="en-US" sz="1500" b="1" dirty="0">
                <a:solidFill>
                  <a:srgbClr val="B4501F"/>
                </a:solidFill>
                <a:latin typeface="Arial" pitchFamily="34" charset="0"/>
                <a:ea typeface="Arial" pitchFamily="34" charset="-122"/>
                <a:cs typeface="Arial" pitchFamily="34" charset="-120"/>
              </a:rPr>
              <a:t>big mistake</a:t>
            </a:r>
            <a:endParaRPr lang="en-US" sz="1500" dirty="0"/>
          </a:p>
        </p:txBody>
      </p:sp>
      <p:sp>
        <p:nvSpPr>
          <p:cNvPr id="16" name="Text 14"/>
          <p:cNvSpPr/>
          <p:nvPr/>
        </p:nvSpPr>
        <p:spPr>
          <a:xfrm>
            <a:off x="812800" y="490894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QWK = a score for how close the predicted grade is to the true grade. 1 = perfect.</a:t>
            </a:r>
            <a:endParaRPr lang="en-US" sz="1200" dirty="0"/>
          </a:p>
        </p:txBody>
      </p:sp>
      <p:sp>
        <p:nvSpPr>
          <p:cNvPr id="17" name="Text 15"/>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18" name="Text 16"/>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F6FB3"/>
                </a:solidFill>
                <a:latin typeface="Arial" pitchFamily="34" charset="0"/>
                <a:ea typeface="Arial" pitchFamily="34" charset="-122"/>
                <a:cs typeface="Arial" pitchFamily="34" charset="-120"/>
              </a:rPr>
              <a:t>THE PROBLEM IN REAL LIFE</a:t>
            </a:r>
            <a:endParaRPr lang="en-US" sz="1196" dirty="0"/>
          </a:p>
        </p:txBody>
      </p:sp>
      <p:sp>
        <p:nvSpPr>
          <p:cNvPr id="3" name="Text 1"/>
          <p:cNvSpPr/>
          <p:nvPr>
            <p:ph type="title"/>
          </p:nvPr>
        </p:nvSpPr>
        <p:spPr>
          <a:xfrm>
            <a:off x="812800" y="1098947"/>
            <a:ext cx="10883392" cy="465237"/>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4213D"/>
                </a:solidFill>
                <a:latin typeface="Arial" pitchFamily="34" charset="0"/>
                <a:ea typeface="Arial" pitchFamily="34" charset="-122"/>
                <a:cs typeface="Arial" pitchFamily="34" charset="-120"/>
              </a:rPr>
              <a:t>Example: three very different hospitals</a:t>
            </a:r>
            <a:endParaRPr lang="en-US" sz="3150" dirty="0"/>
          </a:p>
        </p:txBody>
      </p:sp>
      <p:sp>
        <p:nvSpPr>
          <p:cNvPr id="4" name="Shape 2"/>
          <p:cNvSpPr/>
          <p:nvPr/>
        </p:nvSpPr>
        <p:spPr>
          <a:xfrm>
            <a:off x="815975" y="1770559"/>
            <a:ext cx="3380284" cy="2570063"/>
          </a:xfrm>
          <a:prstGeom prst="roundRect">
            <a:avLst>
              <a:gd name="adj" fmla="val 4818"/>
            </a:avLst>
          </a:prstGeom>
          <a:solidFill>
            <a:srgbClr val="FEFDFB"/>
          </a:solidFill>
          <a:ln w="6350">
            <a:solidFill>
              <a:srgbClr val="E2E0D8"/>
            </a:solidFill>
            <a:prstDash val="solid"/>
          </a:ln>
        </p:spPr>
      </p:sp>
      <p:pic>
        <p:nvPicPr>
          <p:cNvPr id="5" name="Image 0" descr="Users">    </p:cNvPr>
          <p:cNvPicPr>
            <a:picLocks noChangeAspect="1"/>
          </p:cNvPicPr>
          <p:nvPr/>
        </p:nvPicPr>
        <p:blipFill>
          <a:blip r:embed="rId1"/>
          <a:srcRect l="-167" r="-167" t="0" b="0"/>
          <a:stretch/>
        </p:blipFill>
        <p:spPr>
          <a:xfrm>
            <a:off x="1073150" y="2027734"/>
            <a:ext cx="304800" cy="297458"/>
          </a:xfrm>
          <a:prstGeom prst="rect">
            <a:avLst/>
          </a:prstGeom>
        </p:spPr>
      </p:pic>
      <p:sp>
        <p:nvSpPr>
          <p:cNvPr id="6" name="Text 3"/>
          <p:cNvSpPr/>
          <p:nvPr/>
        </p:nvSpPr>
        <p:spPr>
          <a:xfrm>
            <a:off x="1073150" y="2401391"/>
            <a:ext cx="2951912" cy="322858"/>
          </a:xfrm>
          <a:prstGeom prst="rect">
            <a:avLst/>
          </a:prstGeom>
          <a:noFill/>
          <a:ln/>
        </p:spPr>
        <p:txBody>
          <a:bodyPr wrap="square" lIns="0" tIns="0" rIns="0" bIns="0" rtlCol="0" anchor="t">
            <a:normAutofit/>
          </a:bodyPr>
          <a:lstStyle/>
          <a:p>
            <a:pPr algn="l" indent="0" marL="0">
              <a:lnSpc>
                <a:spcPts val="2370"/>
              </a:lnSpc>
              <a:buNone/>
            </a:pPr>
            <a:r>
              <a:rPr lang="en-US" sz="1975" b="1" dirty="0">
                <a:solidFill>
                  <a:srgbClr val="14213D"/>
                </a:solidFill>
                <a:latin typeface="Arial" pitchFamily="34" charset="0"/>
                <a:ea typeface="Arial" pitchFamily="34" charset="-122"/>
                <a:cs typeface="Arial" pitchFamily="34" charset="-120"/>
              </a:rPr>
              <a:t>City hospital</a:t>
            </a:r>
            <a:endParaRPr lang="en-US" sz="1975" dirty="0"/>
          </a:p>
        </p:txBody>
      </p:sp>
      <p:sp>
        <p:nvSpPr>
          <p:cNvPr id="7" name="Text 4"/>
          <p:cNvSpPr/>
          <p:nvPr/>
        </p:nvSpPr>
        <p:spPr>
          <a:xfrm>
            <a:off x="1073150" y="2775049"/>
            <a:ext cx="2951912" cy="511076"/>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C"/>
                </a:solidFill>
                <a:latin typeface="Arial" pitchFamily="34" charset="0"/>
                <a:ea typeface="Arial" pitchFamily="34" charset="-122"/>
                <a:cs typeface="Arial" pitchFamily="34" charset="-120"/>
              </a:rPr>
              <a:t>Many patients, but mostly healthy eyes (Grade 0)</a:t>
            </a:r>
            <a:endParaRPr lang="en-US" sz="1365" dirty="0"/>
          </a:p>
        </p:txBody>
      </p:sp>
      <p:sp>
        <p:nvSpPr>
          <p:cNvPr id="8" name="Text 5"/>
          <p:cNvSpPr/>
          <p:nvPr/>
        </p:nvSpPr>
        <p:spPr>
          <a:xfrm>
            <a:off x="1073150" y="3336925"/>
            <a:ext cx="2951912"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5B6575"/>
                </a:solidFill>
                <a:latin typeface="Arial" pitchFamily="34" charset="0"/>
                <a:ea typeface="Arial" pitchFamily="34" charset="-122"/>
                <a:cs typeface="Arial" pitchFamily="34" charset="-120"/>
              </a:rPr>
              <a:t>FedAvg vote</a:t>
            </a:r>
            <a:endParaRPr lang="en-US" sz="1196" dirty="0"/>
          </a:p>
        </p:txBody>
      </p:sp>
      <p:sp>
        <p:nvSpPr>
          <p:cNvPr id="9" name="Shape 6"/>
          <p:cNvSpPr/>
          <p:nvPr/>
        </p:nvSpPr>
        <p:spPr>
          <a:xfrm>
            <a:off x="1073150" y="3621286"/>
            <a:ext cx="2865934" cy="177800"/>
          </a:xfrm>
          <a:prstGeom prst="roundRect">
            <a:avLst>
              <a:gd name="adj" fmla="val 50000"/>
            </a:avLst>
          </a:prstGeom>
          <a:solidFill>
            <a:srgbClr val="E8E6DF"/>
          </a:solidFill>
          <a:ln/>
        </p:spPr>
      </p:sp>
      <p:sp>
        <p:nvSpPr>
          <p:cNvPr id="10" name="Shape 7"/>
          <p:cNvSpPr/>
          <p:nvPr/>
        </p:nvSpPr>
        <p:spPr>
          <a:xfrm>
            <a:off x="1073150" y="3621286"/>
            <a:ext cx="2286000" cy="177800"/>
          </a:xfrm>
          <a:prstGeom prst="roundRect">
            <a:avLst>
              <a:gd name="adj" fmla="val 50000"/>
            </a:avLst>
          </a:prstGeom>
          <a:solidFill>
            <a:srgbClr val="D9622B"/>
          </a:solidFill>
          <a:ln/>
        </p:spPr>
      </p:sp>
      <p:sp>
        <p:nvSpPr>
          <p:cNvPr id="11" name="Text 8"/>
          <p:cNvSpPr/>
          <p:nvPr/>
        </p:nvSpPr>
        <p:spPr>
          <a:xfrm>
            <a:off x="1073150" y="3875286"/>
            <a:ext cx="2951912"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B4501F"/>
                </a:solidFill>
                <a:latin typeface="Arial" pitchFamily="34" charset="0"/>
                <a:ea typeface="Arial" pitchFamily="34" charset="-122"/>
                <a:cs typeface="Arial" pitchFamily="34" charset="-120"/>
              </a:rPr>
              <a:t>Very big vote</a:t>
            </a:r>
            <a:endParaRPr lang="en-US" sz="1196" dirty="0"/>
          </a:p>
        </p:txBody>
      </p:sp>
      <p:sp>
        <p:nvSpPr>
          <p:cNvPr id="12" name="Shape 9"/>
          <p:cNvSpPr/>
          <p:nvPr/>
        </p:nvSpPr>
        <p:spPr>
          <a:xfrm>
            <a:off x="4405809" y="1770559"/>
            <a:ext cx="3380383" cy="2570063"/>
          </a:xfrm>
          <a:prstGeom prst="roundRect">
            <a:avLst>
              <a:gd name="adj" fmla="val 4818"/>
            </a:avLst>
          </a:prstGeom>
          <a:solidFill>
            <a:srgbClr val="FEFDFB"/>
          </a:solidFill>
          <a:ln w="6350">
            <a:solidFill>
              <a:srgbClr val="E2E0D8"/>
            </a:solidFill>
            <a:prstDash val="solid"/>
          </a:ln>
        </p:spPr>
      </p:sp>
      <p:pic>
        <p:nvPicPr>
          <p:cNvPr id="13" name="Image 1" descr="Search">    </p:cNvPr>
          <p:cNvPicPr>
            <a:picLocks noChangeAspect="1"/>
          </p:cNvPicPr>
          <p:nvPr/>
        </p:nvPicPr>
        <p:blipFill>
          <a:blip r:embed="rId2"/>
          <a:srcRect l="-167" r="-167" t="0" b="0"/>
          <a:stretch/>
        </p:blipFill>
        <p:spPr>
          <a:xfrm>
            <a:off x="4662984" y="2027734"/>
            <a:ext cx="304800" cy="297458"/>
          </a:xfrm>
          <a:prstGeom prst="rect">
            <a:avLst/>
          </a:prstGeom>
        </p:spPr>
      </p:pic>
      <p:sp>
        <p:nvSpPr>
          <p:cNvPr id="14" name="Text 10"/>
          <p:cNvSpPr/>
          <p:nvPr/>
        </p:nvSpPr>
        <p:spPr>
          <a:xfrm>
            <a:off x="4662984" y="2401391"/>
            <a:ext cx="2952014" cy="322858"/>
          </a:xfrm>
          <a:prstGeom prst="rect">
            <a:avLst/>
          </a:prstGeom>
          <a:noFill/>
          <a:ln/>
        </p:spPr>
        <p:txBody>
          <a:bodyPr wrap="square" lIns="0" tIns="0" rIns="0" bIns="0" rtlCol="0" anchor="t">
            <a:normAutofit/>
          </a:bodyPr>
          <a:lstStyle/>
          <a:p>
            <a:pPr algn="l" indent="0" marL="0">
              <a:lnSpc>
                <a:spcPts val="2370"/>
              </a:lnSpc>
              <a:buNone/>
            </a:pPr>
            <a:r>
              <a:rPr lang="en-US" sz="1975" b="1" dirty="0">
                <a:solidFill>
                  <a:srgbClr val="14213D"/>
                </a:solidFill>
                <a:latin typeface="Arial" pitchFamily="34" charset="0"/>
                <a:ea typeface="Arial" pitchFamily="34" charset="-122"/>
                <a:cs typeface="Arial" pitchFamily="34" charset="-120"/>
              </a:rPr>
              <a:t>Eye hospital</a:t>
            </a:r>
            <a:endParaRPr lang="en-US" sz="1975" dirty="0"/>
          </a:p>
        </p:txBody>
      </p:sp>
      <p:sp>
        <p:nvSpPr>
          <p:cNvPr id="15" name="Text 11"/>
          <p:cNvSpPr/>
          <p:nvPr/>
        </p:nvSpPr>
        <p:spPr>
          <a:xfrm>
            <a:off x="4662984" y="2775049"/>
            <a:ext cx="2952014" cy="511076"/>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C"/>
                </a:solidFill>
                <a:latin typeface="Arial" pitchFamily="34" charset="0"/>
                <a:ea typeface="Arial" pitchFamily="34" charset="-122"/>
                <a:cs typeface="Arial" pitchFamily="34" charset="-120"/>
              </a:rPr>
              <a:t>Specialist hospital with many severe cases (Grade 3–4)</a:t>
            </a:r>
            <a:endParaRPr lang="en-US" sz="1365" dirty="0"/>
          </a:p>
        </p:txBody>
      </p:sp>
      <p:sp>
        <p:nvSpPr>
          <p:cNvPr id="16" name="Text 12"/>
          <p:cNvSpPr/>
          <p:nvPr/>
        </p:nvSpPr>
        <p:spPr>
          <a:xfrm>
            <a:off x="4662984" y="3336925"/>
            <a:ext cx="2952014"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5B6575"/>
                </a:solidFill>
                <a:latin typeface="Arial" pitchFamily="34" charset="0"/>
                <a:ea typeface="Arial" pitchFamily="34" charset="-122"/>
                <a:cs typeface="Arial" pitchFamily="34" charset="-120"/>
              </a:rPr>
              <a:t>FedAvg vote</a:t>
            </a:r>
            <a:endParaRPr lang="en-US" sz="1196" dirty="0"/>
          </a:p>
        </p:txBody>
      </p:sp>
      <p:sp>
        <p:nvSpPr>
          <p:cNvPr id="17" name="Shape 13"/>
          <p:cNvSpPr/>
          <p:nvPr/>
        </p:nvSpPr>
        <p:spPr>
          <a:xfrm>
            <a:off x="4662984" y="3621286"/>
            <a:ext cx="2866033" cy="177800"/>
          </a:xfrm>
          <a:prstGeom prst="roundRect">
            <a:avLst>
              <a:gd name="adj" fmla="val 50000"/>
            </a:avLst>
          </a:prstGeom>
          <a:solidFill>
            <a:srgbClr val="E8E6DF"/>
          </a:solidFill>
          <a:ln/>
        </p:spPr>
      </p:sp>
      <p:sp>
        <p:nvSpPr>
          <p:cNvPr id="18" name="Shape 14"/>
          <p:cNvSpPr/>
          <p:nvPr/>
        </p:nvSpPr>
        <p:spPr>
          <a:xfrm>
            <a:off x="4662984" y="3621286"/>
            <a:ext cx="952500" cy="177800"/>
          </a:xfrm>
          <a:prstGeom prst="roundRect">
            <a:avLst>
              <a:gd name="adj" fmla="val 50000"/>
            </a:avLst>
          </a:prstGeom>
          <a:solidFill>
            <a:srgbClr val="D9622B"/>
          </a:solidFill>
          <a:ln/>
        </p:spPr>
      </p:sp>
      <p:sp>
        <p:nvSpPr>
          <p:cNvPr id="19" name="Text 15"/>
          <p:cNvSpPr/>
          <p:nvPr/>
        </p:nvSpPr>
        <p:spPr>
          <a:xfrm>
            <a:off x="4662984" y="3875286"/>
            <a:ext cx="2952014"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5B6575"/>
                </a:solidFill>
                <a:latin typeface="Arial" pitchFamily="34" charset="0"/>
                <a:ea typeface="Arial" pitchFamily="34" charset="-122"/>
                <a:cs typeface="Arial" pitchFamily="34" charset="-120"/>
              </a:rPr>
              <a:t>Small vote</a:t>
            </a:r>
            <a:endParaRPr lang="en-US" sz="1196" dirty="0"/>
          </a:p>
        </p:txBody>
      </p:sp>
      <p:sp>
        <p:nvSpPr>
          <p:cNvPr id="20" name="Shape 16"/>
          <p:cNvSpPr/>
          <p:nvPr/>
        </p:nvSpPr>
        <p:spPr>
          <a:xfrm>
            <a:off x="7995741" y="1770559"/>
            <a:ext cx="3380284" cy="2570063"/>
          </a:xfrm>
          <a:prstGeom prst="roundRect">
            <a:avLst>
              <a:gd name="adj" fmla="val 4818"/>
            </a:avLst>
          </a:prstGeom>
          <a:solidFill>
            <a:srgbClr val="FEFDFB"/>
          </a:solidFill>
          <a:ln w="6350">
            <a:solidFill>
              <a:srgbClr val="E2E0D8"/>
            </a:solidFill>
            <a:prstDash val="solid"/>
          </a:ln>
        </p:spPr>
      </p:sp>
      <p:pic>
        <p:nvPicPr>
          <p:cNvPr id="21" name="Image 2" descr="Home">    </p:cNvPr>
          <p:cNvPicPr>
            <a:picLocks noChangeAspect="1"/>
          </p:cNvPicPr>
          <p:nvPr/>
        </p:nvPicPr>
        <p:blipFill>
          <a:blip r:embed="rId3"/>
          <a:srcRect l="-167" r="-167" t="0" b="0"/>
          <a:stretch/>
        </p:blipFill>
        <p:spPr>
          <a:xfrm>
            <a:off x="8252916" y="2027734"/>
            <a:ext cx="304800" cy="297458"/>
          </a:xfrm>
          <a:prstGeom prst="rect">
            <a:avLst/>
          </a:prstGeom>
        </p:spPr>
      </p:pic>
      <p:sp>
        <p:nvSpPr>
          <p:cNvPr id="22" name="Text 17"/>
          <p:cNvSpPr/>
          <p:nvPr/>
        </p:nvSpPr>
        <p:spPr>
          <a:xfrm>
            <a:off x="8252916" y="2401391"/>
            <a:ext cx="2951912" cy="322858"/>
          </a:xfrm>
          <a:prstGeom prst="rect">
            <a:avLst/>
          </a:prstGeom>
          <a:noFill/>
          <a:ln/>
        </p:spPr>
        <p:txBody>
          <a:bodyPr wrap="square" lIns="0" tIns="0" rIns="0" bIns="0" rtlCol="0" anchor="t">
            <a:normAutofit/>
          </a:bodyPr>
          <a:lstStyle/>
          <a:p>
            <a:pPr algn="l" indent="0" marL="0">
              <a:lnSpc>
                <a:spcPts val="2370"/>
              </a:lnSpc>
              <a:buNone/>
            </a:pPr>
            <a:r>
              <a:rPr lang="en-US" sz="1975" b="1" dirty="0">
                <a:solidFill>
                  <a:srgbClr val="14213D"/>
                </a:solidFill>
                <a:latin typeface="Arial" pitchFamily="34" charset="0"/>
                <a:ea typeface="Arial" pitchFamily="34" charset="-122"/>
                <a:cs typeface="Arial" pitchFamily="34" charset="-120"/>
              </a:rPr>
              <a:t>Village clinic</a:t>
            </a:r>
            <a:endParaRPr lang="en-US" sz="1975" dirty="0"/>
          </a:p>
        </p:txBody>
      </p:sp>
      <p:sp>
        <p:nvSpPr>
          <p:cNvPr id="23" name="Text 18"/>
          <p:cNvSpPr/>
          <p:nvPr/>
        </p:nvSpPr>
        <p:spPr>
          <a:xfrm>
            <a:off x="8252916" y="2775049"/>
            <a:ext cx="2951912" cy="511076"/>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3D4A5C"/>
                </a:solidFill>
                <a:latin typeface="Arial" pitchFamily="34" charset="0"/>
                <a:ea typeface="Arial" pitchFamily="34" charset="-122"/>
                <a:cs typeface="Arial" pitchFamily="34" charset="-120"/>
              </a:rPr>
              <a:t>Very few patients, often early-stage disease</a:t>
            </a:r>
            <a:endParaRPr lang="en-US" sz="1365" dirty="0"/>
          </a:p>
        </p:txBody>
      </p:sp>
      <p:sp>
        <p:nvSpPr>
          <p:cNvPr id="24" name="Text 19"/>
          <p:cNvSpPr/>
          <p:nvPr/>
        </p:nvSpPr>
        <p:spPr>
          <a:xfrm>
            <a:off x="8252916" y="3336925"/>
            <a:ext cx="2951912"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5B6575"/>
                </a:solidFill>
                <a:latin typeface="Arial" pitchFamily="34" charset="0"/>
                <a:ea typeface="Arial" pitchFamily="34" charset="-122"/>
                <a:cs typeface="Arial" pitchFamily="34" charset="-120"/>
              </a:rPr>
              <a:t>FedAvg vote</a:t>
            </a:r>
            <a:endParaRPr lang="en-US" sz="1196" dirty="0"/>
          </a:p>
        </p:txBody>
      </p:sp>
      <p:sp>
        <p:nvSpPr>
          <p:cNvPr id="25" name="Shape 20"/>
          <p:cNvSpPr/>
          <p:nvPr/>
        </p:nvSpPr>
        <p:spPr>
          <a:xfrm>
            <a:off x="8252916" y="3621286"/>
            <a:ext cx="2865934" cy="177800"/>
          </a:xfrm>
          <a:prstGeom prst="roundRect">
            <a:avLst>
              <a:gd name="adj" fmla="val 50000"/>
            </a:avLst>
          </a:prstGeom>
          <a:solidFill>
            <a:srgbClr val="E8E6DF"/>
          </a:solidFill>
          <a:ln/>
        </p:spPr>
      </p:sp>
      <p:sp>
        <p:nvSpPr>
          <p:cNvPr id="26" name="Shape 21"/>
          <p:cNvSpPr/>
          <p:nvPr/>
        </p:nvSpPr>
        <p:spPr>
          <a:xfrm>
            <a:off x="8252916" y="3621286"/>
            <a:ext cx="228600" cy="177800"/>
          </a:xfrm>
          <a:prstGeom prst="roundRect">
            <a:avLst>
              <a:gd name="adj" fmla="val 50000"/>
            </a:avLst>
          </a:prstGeom>
          <a:solidFill>
            <a:srgbClr val="D9622B"/>
          </a:solidFill>
          <a:ln/>
        </p:spPr>
      </p:sp>
      <p:sp>
        <p:nvSpPr>
          <p:cNvPr id="27" name="Text 22"/>
          <p:cNvSpPr/>
          <p:nvPr/>
        </p:nvSpPr>
        <p:spPr>
          <a:xfrm>
            <a:off x="8252916" y="3875286"/>
            <a:ext cx="2951912" cy="233561"/>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5B6575"/>
                </a:solidFill>
                <a:latin typeface="Arial" pitchFamily="34" charset="0"/>
                <a:ea typeface="Arial" pitchFamily="34" charset="-122"/>
                <a:cs typeface="Arial" pitchFamily="34" charset="-120"/>
              </a:rPr>
              <a:t>Almost no vote</a:t>
            </a:r>
            <a:endParaRPr lang="en-US" sz="1196" dirty="0"/>
          </a:p>
        </p:txBody>
      </p:sp>
      <p:sp>
        <p:nvSpPr>
          <p:cNvPr id="28" name="Shape 23"/>
          <p:cNvSpPr/>
          <p:nvPr/>
        </p:nvSpPr>
        <p:spPr>
          <a:xfrm>
            <a:off x="812800" y="4572397"/>
            <a:ext cx="10566400" cy="830659"/>
          </a:xfrm>
          <a:prstGeom prst="roundRect">
            <a:avLst>
              <a:gd name="adj" fmla="val 12231"/>
            </a:avLst>
          </a:prstGeom>
          <a:solidFill>
            <a:srgbClr val="FBEAE0"/>
          </a:solidFill>
          <a:ln/>
        </p:spPr>
      </p:sp>
      <p:sp>
        <p:nvSpPr>
          <p:cNvPr id="29" name="Text 24"/>
          <p:cNvSpPr/>
          <p:nvPr/>
        </p:nvSpPr>
        <p:spPr>
          <a:xfrm>
            <a:off x="1016000" y="4724797"/>
            <a:ext cx="10464800" cy="551259"/>
          </a:xfrm>
          <a:prstGeom prst="rect">
            <a:avLst/>
          </a:prstGeom>
          <a:noFill/>
          <a:ln/>
        </p:spPr>
        <p:txBody>
          <a:bodyPr wrap="square" lIns="0" tIns="0" rIns="0" bIns="0" rtlCol="0" anchor="t">
            <a:normAutofit/>
          </a:bodyPr>
          <a:lstStyle/>
          <a:p>
            <a:pPr algn="l" indent="0" marL="0">
              <a:lnSpc>
                <a:spcPts val="2087"/>
              </a:lnSpc>
              <a:buNone/>
            </a:pPr>
            <a:r>
              <a:rPr lang="en-US" sz="1491" dirty="0">
                <a:solidFill>
                  <a:srgbClr val="14213D"/>
                </a:solidFill>
                <a:latin typeface="Arial" pitchFamily="34" charset="0"/>
                <a:ea typeface="Arial" pitchFamily="34" charset="-122"/>
                <a:cs typeface="Arial" pitchFamily="34" charset="-120"/>
              </a:rPr>
              <a:t>FedAvg votes by number of images, so the city hospital decides almost everything. The model learns “most eyes are healthy” and starts </a:t>
            </a:r>
            <a:r>
              <a:rPr lang="en-US" sz="1491" b="1" dirty="0">
                <a:solidFill>
                  <a:srgbClr val="14213D"/>
                </a:solidFill>
                <a:latin typeface="Arial" pitchFamily="34" charset="0"/>
                <a:ea typeface="Arial" pitchFamily="34" charset="-122"/>
                <a:cs typeface="Arial" pitchFamily="34" charset="-120"/>
              </a:rPr>
              <a:t>missing severe and early cases</a:t>
            </a:r>
            <a:r>
              <a:rPr lang="en-US" sz="1491" dirty="0">
                <a:solidFill>
                  <a:srgbClr val="14213D"/>
                </a:solidFill>
                <a:latin typeface="Arial" pitchFamily="34" charset="0"/>
                <a:ea typeface="Arial" pitchFamily="34" charset="-122"/>
                <a:cs typeface="Arial" pitchFamily="34" charset="-120"/>
              </a:rPr>
              <a:t>.</a:t>
            </a:r>
            <a:endParaRPr lang="en-US" sz="1491" dirty="0"/>
          </a:p>
        </p:txBody>
      </p:sp>
      <p:sp>
        <p:nvSpPr>
          <p:cNvPr id="30" name="Text 25"/>
          <p:cNvSpPr/>
          <p:nvPr/>
        </p:nvSpPr>
        <p:spPr>
          <a:xfrm>
            <a:off x="812800" y="5631656"/>
            <a:ext cx="10883392" cy="235744"/>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5B6575"/>
                </a:solidFill>
                <a:latin typeface="Arial" pitchFamily="34" charset="0"/>
                <a:ea typeface="Arial" pitchFamily="34" charset="-122"/>
                <a:cs typeface="Arial" pitchFamily="34" charset="-120"/>
              </a:rPr>
              <a:t>The bars are just a picture of the idea. In our tests, the two smallest hospitals really got only 5.9% of the vote.</a:t>
            </a:r>
            <a:endParaRPr lang="en-US" sz="1196" dirty="0"/>
          </a:p>
        </p:txBody>
      </p:sp>
      <p:sp>
        <p:nvSpPr>
          <p:cNvPr id="31" name="Text 26"/>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32" name="Text 27"/>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OUR 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OrdinalFed has two parts</a:t>
            </a:r>
            <a:endParaRPr lang="en-US" sz="3200" dirty="0"/>
          </a:p>
        </p:txBody>
      </p:sp>
      <p:sp>
        <p:nvSpPr>
          <p:cNvPr id="4" name="Shape 2"/>
          <p:cNvSpPr/>
          <p:nvPr/>
        </p:nvSpPr>
        <p:spPr>
          <a:xfrm>
            <a:off x="815975" y="1857276"/>
            <a:ext cx="5149850" cy="3171130"/>
          </a:xfrm>
          <a:prstGeom prst="roundRect">
            <a:avLst>
              <a:gd name="adj" fmla="val 3905"/>
            </a:avLst>
          </a:prstGeom>
          <a:solidFill>
            <a:srgbClr val="FEFDFB"/>
          </a:solidFill>
          <a:ln w="6350">
            <a:solidFill>
              <a:srgbClr val="E2E0D8"/>
            </a:solidFill>
            <a:prstDash val="solid"/>
          </a:ln>
        </p:spPr>
      </p:sp>
      <p:pic>
        <p:nvPicPr>
          <p:cNvPr id="5" name="Image 0" descr="Home">    </p:cNvPr>
          <p:cNvPicPr>
            <a:picLocks noChangeAspect="1"/>
          </p:cNvPicPr>
          <p:nvPr/>
        </p:nvPicPr>
        <p:blipFill>
          <a:blip r:embed="rId1"/>
          <a:srcRect l="0" r="0" t="0" b="0"/>
          <a:stretch/>
        </p:blipFill>
        <p:spPr>
          <a:xfrm>
            <a:off x="1123950" y="2165251"/>
            <a:ext cx="279400" cy="279400"/>
          </a:xfrm>
          <a:prstGeom prst="rect">
            <a:avLst/>
          </a:prstGeom>
        </p:spPr>
      </p:pic>
      <p:sp>
        <p:nvSpPr>
          <p:cNvPr id="6" name="Text 3"/>
          <p:cNvSpPr/>
          <p:nvPr/>
        </p:nvSpPr>
        <p:spPr>
          <a:xfrm>
            <a:off x="1504950" y="2198291"/>
            <a:ext cx="20048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Arial" pitchFamily="34" charset="0"/>
                <a:ea typeface="Arial" pitchFamily="34" charset="-122"/>
                <a:cs typeface="Arial" pitchFamily="34" charset="-120"/>
              </a:rPr>
              <a:t>AT EACH HOSPITAL</a:t>
            </a:r>
            <a:endParaRPr lang="en-US" sz="1200" dirty="0"/>
          </a:p>
        </p:txBody>
      </p:sp>
      <p:sp>
        <p:nvSpPr>
          <p:cNvPr id="7" name="Text 4"/>
          <p:cNvSpPr/>
          <p:nvPr/>
        </p:nvSpPr>
        <p:spPr>
          <a:xfrm>
            <a:off x="1123950" y="255895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1. Distance penalty</a:t>
            </a:r>
            <a:endParaRPr lang="en-US" sz="2000" dirty="0"/>
          </a:p>
        </p:txBody>
      </p:sp>
      <p:sp>
        <p:nvSpPr>
          <p:cNvPr id="8" name="Text 5"/>
          <p:cNvSpPr/>
          <p:nvPr/>
        </p:nvSpPr>
        <p:spPr>
          <a:xfrm>
            <a:off x="1123950" y="297805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Arial" pitchFamily="34" charset="0"/>
                <a:ea typeface="Arial" pitchFamily="34" charset="-122"/>
                <a:cs typeface="Arial" pitchFamily="34" charset="-120"/>
              </a:rPr>
              <a:t>An extra penalty when the predicted grade is far from the true grade.</a:t>
            </a:r>
            <a:endParaRPr lang="en-US" sz="1500" dirty="0"/>
          </a:p>
        </p:txBody>
      </p:sp>
      <p:sp>
        <p:nvSpPr>
          <p:cNvPr id="9" name="Shape 6"/>
          <p:cNvSpPr/>
          <p:nvPr/>
        </p:nvSpPr>
        <p:spPr>
          <a:xfrm>
            <a:off x="1123950" y="3625751"/>
            <a:ext cx="4533900" cy="1094680"/>
          </a:xfrm>
          <a:prstGeom prst="roundRect">
            <a:avLst>
              <a:gd name="adj" fmla="val 6961"/>
            </a:avLst>
          </a:prstGeom>
          <a:solidFill>
            <a:srgbClr val="EAF0F7"/>
          </a:solidFill>
          <a:ln/>
        </p:spPr>
      </p:sp>
      <p:sp>
        <p:nvSpPr>
          <p:cNvPr id="10" name="Text 7"/>
          <p:cNvSpPr/>
          <p:nvPr/>
        </p:nvSpPr>
        <p:spPr>
          <a:xfrm>
            <a:off x="1301750" y="3752751"/>
            <a:ext cx="430364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True grade is 4:</a:t>
            </a:r>
            <a:endParaRPr lang="en-US" sz="1300" dirty="0"/>
          </a:p>
        </p:txBody>
      </p:sp>
      <p:sp>
        <p:nvSpPr>
          <p:cNvPr id="11" name="Text 8"/>
          <p:cNvSpPr/>
          <p:nvPr/>
        </p:nvSpPr>
        <p:spPr>
          <a:xfrm>
            <a:off x="1301750" y="4021931"/>
            <a:ext cx="430364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Guess 3 → penalty </a:t>
            </a:r>
            <a:r>
              <a:rPr lang="en-US" sz="1500" b="1" dirty="0">
                <a:solidFill>
                  <a:srgbClr val="14213D"/>
                </a:solidFill>
                <a:latin typeface="Arial" pitchFamily="34" charset="0"/>
                <a:ea typeface="Arial" pitchFamily="34" charset="-122"/>
                <a:cs typeface="Arial" pitchFamily="34" charset="-120"/>
              </a:rPr>
              <a:t>1</a:t>
            </a:r>
            <a:endParaRPr lang="en-US" sz="1500" dirty="0"/>
          </a:p>
        </p:txBody>
      </p:sp>
      <p:sp>
        <p:nvSpPr>
          <p:cNvPr id="12" name="Text 9"/>
          <p:cNvSpPr/>
          <p:nvPr/>
        </p:nvSpPr>
        <p:spPr>
          <a:xfrm>
            <a:off x="1301750" y="4326731"/>
            <a:ext cx="430364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Guess 0 → penalty </a:t>
            </a:r>
            <a:r>
              <a:rPr lang="en-US" sz="1500" b="1" dirty="0">
                <a:solidFill>
                  <a:srgbClr val="B4501F"/>
                </a:solidFill>
                <a:latin typeface="Arial" pitchFamily="34" charset="0"/>
                <a:ea typeface="Arial" pitchFamily="34" charset="-122"/>
                <a:cs typeface="Arial" pitchFamily="34" charset="-120"/>
              </a:rPr>
              <a:t>16</a:t>
            </a:r>
            <a:endParaRPr lang="en-US" sz="1500" dirty="0"/>
          </a:p>
        </p:txBody>
      </p:sp>
      <p:sp>
        <p:nvSpPr>
          <p:cNvPr id="13" name="Shape 10"/>
          <p:cNvSpPr/>
          <p:nvPr/>
        </p:nvSpPr>
        <p:spPr>
          <a:xfrm>
            <a:off x="6226175" y="1857276"/>
            <a:ext cx="5149850" cy="3171130"/>
          </a:xfrm>
          <a:prstGeom prst="roundRect">
            <a:avLst>
              <a:gd name="adj" fmla="val 3905"/>
            </a:avLst>
          </a:prstGeom>
          <a:solidFill>
            <a:srgbClr val="FEFDFB"/>
          </a:solidFill>
          <a:ln w="6350">
            <a:solidFill>
              <a:srgbClr val="E2E0D8"/>
            </a:solidFill>
            <a:prstDash val="solid"/>
          </a:ln>
        </p:spPr>
      </p:sp>
      <p:pic>
        <p:nvPicPr>
          <p:cNvPr id="14" name="Image 1" descr="Database">    </p:cNvPr>
          <p:cNvPicPr>
            <a:picLocks noChangeAspect="1"/>
          </p:cNvPicPr>
          <p:nvPr/>
        </p:nvPicPr>
        <p:blipFill>
          <a:blip r:embed="rId2"/>
          <a:srcRect l="0" r="0" t="0" b="0"/>
          <a:stretch/>
        </p:blipFill>
        <p:spPr>
          <a:xfrm>
            <a:off x="6534150" y="2165251"/>
            <a:ext cx="279400" cy="279400"/>
          </a:xfrm>
          <a:prstGeom prst="rect">
            <a:avLst/>
          </a:prstGeom>
        </p:spPr>
      </p:pic>
      <p:sp>
        <p:nvSpPr>
          <p:cNvPr id="15" name="Text 11"/>
          <p:cNvSpPr/>
          <p:nvPr/>
        </p:nvSpPr>
        <p:spPr>
          <a:xfrm>
            <a:off x="6915150" y="2198291"/>
            <a:ext cx="16444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Arial" pitchFamily="34" charset="0"/>
                <a:ea typeface="Arial" pitchFamily="34" charset="-122"/>
                <a:cs typeface="Arial" pitchFamily="34" charset="-120"/>
              </a:rPr>
              <a:t>AT THE SERVER</a:t>
            </a:r>
            <a:endParaRPr lang="en-US" sz="1200" dirty="0"/>
          </a:p>
        </p:txBody>
      </p:sp>
      <p:sp>
        <p:nvSpPr>
          <p:cNvPr id="16" name="Text 12"/>
          <p:cNvSpPr/>
          <p:nvPr/>
        </p:nvSpPr>
        <p:spPr>
          <a:xfrm>
            <a:off x="6534150" y="255895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2. Votes by test score</a:t>
            </a:r>
            <a:endParaRPr lang="en-US" sz="2000" dirty="0"/>
          </a:p>
        </p:txBody>
      </p:sp>
      <p:sp>
        <p:nvSpPr>
          <p:cNvPr id="17" name="Text 13"/>
          <p:cNvSpPr/>
          <p:nvPr/>
        </p:nvSpPr>
        <p:spPr>
          <a:xfrm>
            <a:off x="6534150" y="297805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Arial" pitchFamily="34" charset="0"/>
                <a:ea typeface="Arial" pitchFamily="34" charset="-122"/>
                <a:cs typeface="Arial" pitchFamily="34" charset="-120"/>
              </a:rPr>
              <a:t>The server keeps 50 test images (10 of each grade) and tests every hospital’s model on them.</a:t>
            </a:r>
            <a:endParaRPr lang="en-US" sz="1500" dirty="0"/>
          </a:p>
        </p:txBody>
      </p:sp>
      <p:sp>
        <p:nvSpPr>
          <p:cNvPr id="18" name="Text 14"/>
          <p:cNvSpPr/>
          <p:nvPr/>
        </p:nvSpPr>
        <p:spPr>
          <a:xfrm>
            <a:off x="6534150" y="3625751"/>
            <a:ext cx="46699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Better models get a bigger vote.</a:t>
            </a:r>
            <a:endParaRPr lang="en-US" sz="1500" dirty="0"/>
          </a:p>
        </p:txBody>
      </p:sp>
      <p:sp>
        <p:nvSpPr>
          <p:cNvPr id="19" name="Text 15"/>
          <p:cNvSpPr/>
          <p:nvPr/>
        </p:nvSpPr>
        <p:spPr>
          <a:xfrm>
            <a:off x="6534150" y="4006751"/>
            <a:ext cx="46699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Arial" pitchFamily="34" charset="0"/>
                <a:ea typeface="Arial" pitchFamily="34" charset="-122"/>
                <a:cs typeface="Arial" pitchFamily="34" charset="-120"/>
              </a:rPr>
              <a:t>The hospitals change nothing.</a:t>
            </a:r>
            <a:endParaRPr lang="en-US" sz="1300" dirty="0"/>
          </a:p>
        </p:txBody>
      </p:sp>
      <p:sp>
        <p:nvSpPr>
          <p:cNvPr id="20" name="Text 16"/>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21" name="Text 17"/>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OUR 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How the server sets the votes</a:t>
            </a:r>
            <a:endParaRPr lang="en-US" sz="3200" dirty="0"/>
          </a:p>
        </p:txBody>
      </p:sp>
      <p:sp>
        <p:nvSpPr>
          <p:cNvPr id="4" name="Shape 2"/>
          <p:cNvSpPr/>
          <p:nvPr/>
        </p:nvSpPr>
        <p:spPr>
          <a:xfrm>
            <a:off x="815975" y="1831876"/>
            <a:ext cx="3007717" cy="1875631"/>
          </a:xfrm>
          <a:prstGeom prst="roundRect">
            <a:avLst>
              <a:gd name="adj" fmla="val 6602"/>
            </a:avLst>
          </a:prstGeom>
          <a:solidFill>
            <a:srgbClr val="FEFDFB"/>
          </a:solidFill>
          <a:ln w="6350">
            <a:solidFill>
              <a:srgbClr val="D5DEE9"/>
            </a:solidFill>
            <a:prstDash val="solid"/>
          </a:ln>
        </p:spPr>
      </p:sp>
      <p:sp>
        <p:nvSpPr>
          <p:cNvPr id="5" name="Text 3"/>
          <p:cNvSpPr/>
          <p:nvPr/>
        </p:nvSpPr>
        <p:spPr>
          <a:xfrm>
            <a:off x="1073150" y="208905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073150" y="2546251"/>
            <a:ext cx="25681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Score</a:t>
            </a:r>
            <a:endParaRPr lang="en-US" sz="2000" dirty="0"/>
          </a:p>
        </p:txBody>
      </p:sp>
      <p:sp>
        <p:nvSpPr>
          <p:cNvPr id="7" name="Text 5"/>
          <p:cNvSpPr/>
          <p:nvPr/>
        </p:nvSpPr>
        <p:spPr>
          <a:xfrm>
            <a:off x="1073150" y="2952651"/>
            <a:ext cx="25681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Test each model on the 50 images</a:t>
            </a:r>
            <a:endParaRPr lang="en-US" sz="1400" dirty="0"/>
          </a:p>
        </p:txBody>
      </p:sp>
      <p:pic>
        <p:nvPicPr>
          <p:cNvPr id="8" name="Image 0" descr="arrow-right">    </p:cNvPr>
          <p:cNvPicPr>
            <a:picLocks noChangeAspect="1"/>
          </p:cNvPicPr>
          <p:nvPr/>
        </p:nvPicPr>
        <p:blipFill>
          <a:blip r:embed="rId1"/>
          <a:srcRect l="0" r="0" t="0" b="0"/>
          <a:stretch/>
        </p:blipFill>
        <p:spPr>
          <a:xfrm>
            <a:off x="3979267" y="2655391"/>
            <a:ext cx="457200" cy="228600"/>
          </a:xfrm>
          <a:prstGeom prst="rect">
            <a:avLst/>
          </a:prstGeom>
        </p:spPr>
      </p:pic>
      <p:sp>
        <p:nvSpPr>
          <p:cNvPr id="9" name="Shape 6"/>
          <p:cNvSpPr/>
          <p:nvPr/>
        </p:nvSpPr>
        <p:spPr>
          <a:xfrm>
            <a:off x="4592042" y="1956296"/>
            <a:ext cx="3007816" cy="1626791"/>
          </a:xfrm>
          <a:prstGeom prst="roundRect">
            <a:avLst>
              <a:gd name="adj" fmla="val 7612"/>
            </a:avLst>
          </a:prstGeom>
          <a:solidFill>
            <a:srgbClr val="FEFDFB"/>
          </a:solidFill>
          <a:ln w="6350">
            <a:solidFill>
              <a:srgbClr val="D5DEE9"/>
            </a:solidFill>
            <a:prstDash val="solid"/>
          </a:ln>
        </p:spPr>
      </p:sp>
      <p:sp>
        <p:nvSpPr>
          <p:cNvPr id="10" name="Text 7"/>
          <p:cNvSpPr/>
          <p:nvPr/>
        </p:nvSpPr>
        <p:spPr>
          <a:xfrm>
            <a:off x="4849217" y="221347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2</a:t>
            </a:r>
            <a:endParaRPr lang="en-US" sz="1400" dirty="0"/>
          </a:p>
        </p:txBody>
      </p:sp>
      <p:sp>
        <p:nvSpPr>
          <p:cNvPr id="11" name="Text 8"/>
          <p:cNvSpPr/>
          <p:nvPr/>
        </p:nvSpPr>
        <p:spPr>
          <a:xfrm>
            <a:off x="4849217" y="267067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Convert</a:t>
            </a:r>
            <a:endParaRPr lang="en-US" sz="2000" dirty="0"/>
          </a:p>
        </p:txBody>
      </p:sp>
      <p:sp>
        <p:nvSpPr>
          <p:cNvPr id="12" name="Text 9"/>
          <p:cNvSpPr/>
          <p:nvPr/>
        </p:nvSpPr>
        <p:spPr>
          <a:xfrm>
            <a:off x="4849217" y="3077071"/>
            <a:ext cx="25682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Turn the scores into votes</a:t>
            </a:r>
            <a:endParaRPr lang="en-US" sz="1400" dirty="0"/>
          </a:p>
        </p:txBody>
      </p:sp>
      <p:pic>
        <p:nvPicPr>
          <p:cNvPr id="13" name="Image 1" descr="arrow-right">    </p:cNvPr>
          <p:cNvPicPr>
            <a:picLocks noChangeAspect="1"/>
          </p:cNvPicPr>
          <p:nvPr/>
        </p:nvPicPr>
        <p:blipFill>
          <a:blip r:embed="rId2"/>
          <a:srcRect l="0" r="0" t="0" b="0"/>
          <a:stretch/>
        </p:blipFill>
        <p:spPr>
          <a:xfrm>
            <a:off x="7755434" y="2655391"/>
            <a:ext cx="457200" cy="228600"/>
          </a:xfrm>
          <a:prstGeom prst="rect">
            <a:avLst/>
          </a:prstGeom>
        </p:spPr>
      </p:pic>
      <p:sp>
        <p:nvSpPr>
          <p:cNvPr id="14" name="Shape 10"/>
          <p:cNvSpPr/>
          <p:nvPr/>
        </p:nvSpPr>
        <p:spPr>
          <a:xfrm>
            <a:off x="8368209" y="1831876"/>
            <a:ext cx="3007816" cy="1875631"/>
          </a:xfrm>
          <a:prstGeom prst="roundRect">
            <a:avLst>
              <a:gd name="adj" fmla="val 6602"/>
            </a:avLst>
          </a:prstGeom>
          <a:solidFill>
            <a:srgbClr val="FEFDFB"/>
          </a:solidFill>
          <a:ln w="6350">
            <a:solidFill>
              <a:srgbClr val="D5DEE9"/>
            </a:solidFill>
            <a:prstDash val="solid"/>
          </a:ln>
        </p:spPr>
      </p:sp>
      <p:sp>
        <p:nvSpPr>
          <p:cNvPr id="15" name="Text 11"/>
          <p:cNvSpPr/>
          <p:nvPr/>
        </p:nvSpPr>
        <p:spPr>
          <a:xfrm>
            <a:off x="8625384" y="208905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3</a:t>
            </a:r>
            <a:endParaRPr lang="en-US" sz="1400" dirty="0"/>
          </a:p>
        </p:txBody>
      </p:sp>
      <p:sp>
        <p:nvSpPr>
          <p:cNvPr id="16" name="Text 12"/>
          <p:cNvSpPr/>
          <p:nvPr/>
        </p:nvSpPr>
        <p:spPr>
          <a:xfrm>
            <a:off x="8625384" y="254625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Arial" pitchFamily="34" charset="0"/>
                <a:ea typeface="Arial" pitchFamily="34" charset="-122"/>
                <a:cs typeface="Arial" pitchFamily="34" charset="-120"/>
              </a:rPr>
              <a:t>Mix</a:t>
            </a:r>
            <a:endParaRPr lang="en-US" sz="2000" dirty="0"/>
          </a:p>
        </p:txBody>
      </p:sp>
      <p:sp>
        <p:nvSpPr>
          <p:cNvPr id="17" name="Text 13"/>
          <p:cNvSpPr/>
          <p:nvPr/>
        </p:nvSpPr>
        <p:spPr>
          <a:xfrm>
            <a:off x="8625384" y="295265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Mix these votes with the image counts</a:t>
            </a:r>
            <a:endParaRPr lang="en-US" sz="1400" dirty="0"/>
          </a:p>
        </p:txBody>
      </p:sp>
      <p:sp>
        <p:nvSpPr>
          <p:cNvPr id="18" name="Shape 14"/>
          <p:cNvSpPr/>
          <p:nvPr/>
        </p:nvSpPr>
        <p:spPr>
          <a:xfrm>
            <a:off x="812800" y="3990082"/>
            <a:ext cx="10566400" cy="152400"/>
          </a:xfrm>
          <a:prstGeom prst="roundRect">
            <a:avLst>
              <a:gd name="adj" fmla="val 50000"/>
            </a:avLst>
          </a:prstGeom>
          <a:gradFill rotWithShape="1">
            <a:gsLst>
              <a:gs pos="0">
                <a:srgbClr val="A9C8EA"/>
              </a:gs>
              <a:gs pos="100000">
                <a:srgbClr val="1F4E8C"/>
              </a:gs>
            </a:gsLst>
            <a:lin ang="0" scaled="0"/>
          </a:gradFill>
          <a:ln/>
        </p:spPr>
      </p:sp>
      <p:sp>
        <p:nvSpPr>
          <p:cNvPr id="19" name="Text 15"/>
          <p:cNvSpPr/>
          <p:nvPr/>
        </p:nvSpPr>
        <p:spPr>
          <a:xfrm>
            <a:off x="812800" y="4218682"/>
            <a:ext cx="267450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Round 1: both count equally</a:t>
            </a:r>
            <a:endParaRPr lang="en-US" sz="1300" dirty="0"/>
          </a:p>
        </p:txBody>
      </p:sp>
      <p:sp>
        <p:nvSpPr>
          <p:cNvPr id="20" name="Text 16"/>
          <p:cNvSpPr/>
          <p:nvPr/>
        </p:nvSpPr>
        <p:spPr>
          <a:xfrm>
            <a:off x="8307864" y="4218682"/>
            <a:ext cx="3071336"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213D"/>
                </a:solidFill>
                <a:latin typeface="Arial" pitchFamily="34" charset="0"/>
                <a:ea typeface="Arial" pitchFamily="34" charset="-122"/>
                <a:cs typeface="Arial" pitchFamily="34" charset="-120"/>
              </a:rPr>
              <a:t>Round 10: only the scores count</a:t>
            </a:r>
            <a:endParaRPr lang="en-US" sz="1300" dirty="0"/>
          </a:p>
        </p:txBody>
      </p:sp>
      <p:sp>
        <p:nvSpPr>
          <p:cNvPr id="21" name="Text 17"/>
          <p:cNvSpPr/>
          <p:nvPr/>
        </p:nvSpPr>
        <p:spPr>
          <a:xfrm>
            <a:off x="812800" y="472916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Image counts matter less and less each round. No hospital is ever left out.</a:t>
            </a:r>
            <a:endParaRPr lang="en-US" sz="1300" dirty="0"/>
          </a:p>
        </p:txBody>
      </p:sp>
      <p:sp>
        <p:nvSpPr>
          <p:cNvPr id="22" name="Text 18"/>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Arial" pitchFamily="34" charset="0"/>
                <a:ea typeface="Arial" pitchFamily="34" charset="-122"/>
                <a:cs typeface="Arial" pitchFamily="34" charset="-120"/>
              </a:rPr>
              <a:t>OrdinalFed · IEEE WIECON-ECE 2026</a:t>
            </a:r>
            <a:endParaRPr lang="en-US" sz="1200" dirty="0"/>
          </a:p>
        </p:txBody>
      </p:sp>
      <p:sp>
        <p:nvSpPr>
          <p:cNvPr id="23" name="Text 19"/>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HOW ORDINALFED SOLVES IT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Same exam for every hospital</a:t>
            </a:r>
            <a:endParaRPr lang="en-US" sz="3200" dirty="0"/>
          </a:p>
        </p:txBody>
      </p:sp>
      <p:sp>
        <p:nvSpPr>
          <p:cNvPr id="4" name="Text 2"/>
          <p:cNvSpPr/>
          <p:nvPr/>
        </p:nvSpPr>
        <p:spPr>
          <a:xfrm>
            <a:off x="812800" y="182870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320800" y="1828701"/>
            <a:ext cx="467737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Same exam</a:t>
            </a:r>
            <a:endParaRPr lang="en-US" sz="1500" dirty="0"/>
          </a:p>
        </p:txBody>
      </p:sp>
      <p:sp>
        <p:nvSpPr>
          <p:cNvPr id="6" name="Text 4"/>
          <p:cNvSpPr/>
          <p:nvPr/>
        </p:nvSpPr>
        <p:spPr>
          <a:xfrm>
            <a:off x="1320800" y="2133501"/>
            <a:ext cx="467737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The server tests every hospital’s model on the same 50 images, 10 of each grade.</a:t>
            </a:r>
            <a:endParaRPr lang="en-US" sz="1400" dirty="0"/>
          </a:p>
        </p:txBody>
      </p:sp>
      <p:sp>
        <p:nvSpPr>
          <p:cNvPr id="7" name="Text 5"/>
          <p:cNvSpPr/>
          <p:nvPr/>
        </p:nvSpPr>
        <p:spPr>
          <a:xfrm>
            <a:off x="812800" y="2834382"/>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2</a:t>
            </a:r>
            <a:endParaRPr lang="en-US" sz="1400" dirty="0"/>
          </a:p>
        </p:txBody>
      </p:sp>
      <p:sp>
        <p:nvSpPr>
          <p:cNvPr id="8" name="Text 6"/>
          <p:cNvSpPr/>
          <p:nvPr/>
        </p:nvSpPr>
        <p:spPr>
          <a:xfrm>
            <a:off x="1320800" y="2834382"/>
            <a:ext cx="467737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Fair vote</a:t>
            </a:r>
            <a:endParaRPr lang="en-US" sz="1500" dirty="0"/>
          </a:p>
        </p:txBody>
      </p:sp>
      <p:sp>
        <p:nvSpPr>
          <p:cNvPr id="9" name="Text 7"/>
          <p:cNvSpPr/>
          <p:nvPr/>
        </p:nvSpPr>
        <p:spPr>
          <a:xfrm>
            <a:off x="1320800" y="3139182"/>
            <a:ext cx="467737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Votes move from “how many images you have” to “how well you did on the exam”.</a:t>
            </a:r>
            <a:endParaRPr lang="en-US" sz="1400" dirty="0"/>
          </a:p>
        </p:txBody>
      </p:sp>
      <p:sp>
        <p:nvSpPr>
          <p:cNvPr id="10" name="Text 8"/>
          <p:cNvSpPr/>
          <p:nvPr/>
        </p:nvSpPr>
        <p:spPr>
          <a:xfrm>
            <a:off x="812800" y="3840063"/>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Arial" pitchFamily="34" charset="0"/>
                <a:ea typeface="Arial" pitchFamily="34" charset="-122"/>
                <a:cs typeface="Arial" pitchFamily="34" charset="-120"/>
              </a:rPr>
              <a:t>3</a:t>
            </a:r>
            <a:endParaRPr lang="en-US" sz="1400" dirty="0"/>
          </a:p>
        </p:txBody>
      </p:sp>
      <p:sp>
        <p:nvSpPr>
          <p:cNvPr id="11" name="Text 9"/>
          <p:cNvSpPr/>
          <p:nvPr/>
        </p:nvSpPr>
        <p:spPr>
          <a:xfrm>
            <a:off x="1320800" y="3840063"/>
            <a:ext cx="467737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No one left out</a:t>
            </a:r>
            <a:endParaRPr lang="en-US" sz="1500" dirty="0"/>
          </a:p>
        </p:txBody>
      </p:sp>
      <p:sp>
        <p:nvSpPr>
          <p:cNvPr id="12" name="Text 10"/>
          <p:cNvSpPr/>
          <p:nvPr/>
        </p:nvSpPr>
        <p:spPr>
          <a:xfrm>
            <a:off x="1320800" y="4144863"/>
            <a:ext cx="467737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Every hospital keeps a minimum vote, even a tiny village clinic.</a:t>
            </a:r>
            <a:endParaRPr lang="en-US" sz="1400" dirty="0"/>
          </a:p>
        </p:txBody>
      </p:sp>
      <p:sp>
        <p:nvSpPr>
          <p:cNvPr id="13" name="Shape 11"/>
          <p:cNvSpPr/>
          <p:nvPr/>
        </p:nvSpPr>
        <p:spPr>
          <a:xfrm>
            <a:off x="6169918" y="1831876"/>
            <a:ext cx="5206107" cy="2886373"/>
          </a:xfrm>
          <a:prstGeom prst="roundRect">
            <a:avLst>
              <a:gd name="adj" fmla="val 4290"/>
            </a:avLst>
          </a:prstGeom>
          <a:solidFill>
            <a:srgbClr val="FEFDFB"/>
          </a:solidFill>
          <a:ln w="6350">
            <a:solidFill>
              <a:srgbClr val="D5DEE9"/>
            </a:solidFill>
            <a:prstDash val="solid"/>
          </a:ln>
        </p:spPr>
      </p:sp>
      <p:sp>
        <p:nvSpPr>
          <p:cNvPr id="14" name="Text 12"/>
          <p:cNvSpPr/>
          <p:nvPr/>
        </p:nvSpPr>
        <p:spPr>
          <a:xfrm>
            <a:off x="6477893" y="2139851"/>
            <a:ext cx="47278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Arial" pitchFamily="34" charset="0"/>
                <a:ea typeface="Arial" pitchFamily="34" charset="-122"/>
                <a:cs typeface="Arial" pitchFamily="34" charset="-120"/>
              </a:rPr>
              <a:t>MEASURED IN THE HARD CASE</a:t>
            </a:r>
            <a:endParaRPr lang="en-US" sz="1200" dirty="0"/>
          </a:p>
        </p:txBody>
      </p:sp>
      <p:sp>
        <p:nvSpPr>
          <p:cNvPr id="15" name="Text 13"/>
          <p:cNvSpPr/>
          <p:nvPr/>
        </p:nvSpPr>
        <p:spPr>
          <a:xfrm>
            <a:off x="6477893" y="2429371"/>
            <a:ext cx="472786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5.9% → 40.8%</a:t>
            </a:r>
            <a:endParaRPr lang="en-US" sz="3200" dirty="0"/>
          </a:p>
        </p:txBody>
      </p:sp>
      <p:sp>
        <p:nvSpPr>
          <p:cNvPr id="16" name="Text 14"/>
          <p:cNvSpPr/>
          <p:nvPr/>
        </p:nvSpPr>
        <p:spPr>
          <a:xfrm>
            <a:off x="6477893" y="2952552"/>
            <a:ext cx="47278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vote of the two smallest hospitals (FedAvg → OrdinalFed)</a:t>
            </a:r>
            <a:endParaRPr lang="en-US" sz="1300" dirty="0"/>
          </a:p>
        </p:txBody>
      </p:sp>
      <p:pic>
        <p:nvPicPr>
          <p:cNvPr id="17" name="Image 0" descr="line">    </p:cNvPr>
          <p:cNvPicPr>
            <a:picLocks noChangeAspect="1"/>
          </p:cNvPicPr>
          <p:nvPr/>
        </p:nvPicPr>
        <p:blipFill>
          <a:blip r:embed="rId1"/>
          <a:srcRect l="0" r="0" t="-8" b="-8"/>
          <a:stretch/>
        </p:blipFill>
        <p:spPr>
          <a:xfrm>
            <a:off x="6477893" y="3259832"/>
            <a:ext cx="4590157" cy="12700"/>
          </a:xfrm>
          <a:prstGeom prst="rect">
            <a:avLst/>
          </a:prstGeom>
        </p:spPr>
      </p:pic>
      <p:sp>
        <p:nvSpPr>
          <p:cNvPr id="18" name="Text 15"/>
          <p:cNvSpPr/>
          <p:nvPr/>
        </p:nvSpPr>
        <p:spPr>
          <a:xfrm>
            <a:off x="6477893" y="3348732"/>
            <a:ext cx="472786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0.378 → 0.514</a:t>
            </a:r>
            <a:endParaRPr lang="en-US" sz="3200" dirty="0"/>
          </a:p>
        </p:txBody>
      </p:sp>
      <p:sp>
        <p:nvSpPr>
          <p:cNvPr id="19" name="Text 16"/>
          <p:cNvSpPr/>
          <p:nvPr/>
        </p:nvSpPr>
        <p:spPr>
          <a:xfrm>
            <a:off x="6477893" y="3871913"/>
            <a:ext cx="47278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worst score: no crash</a:t>
            </a:r>
            <a:endParaRPr lang="en-US" sz="1300" dirty="0"/>
          </a:p>
        </p:txBody>
      </p:sp>
      <p:sp>
        <p:nvSpPr>
          <p:cNvPr id="20" name="Text 17"/>
          <p:cNvSpPr/>
          <p:nvPr/>
        </p:nvSpPr>
        <p:spPr>
          <a:xfrm>
            <a:off x="6477893" y="4179193"/>
            <a:ext cx="472786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The hospitals change nothing.</a:t>
            </a:r>
            <a:endParaRPr lang="en-US" sz="1300" dirty="0"/>
          </a:p>
        </p:txBody>
      </p:sp>
      <p:sp>
        <p:nvSpPr>
          <p:cNvPr id="21" name="Text 18"/>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Arial" pitchFamily="34" charset="0"/>
                <a:ea typeface="Arial" pitchFamily="34" charset="-122"/>
                <a:cs typeface="Arial" pitchFamily="34" charset="-120"/>
              </a:rPr>
              <a:t>OrdinalFed · IEEE WIECON-ECE 2026</a:t>
            </a:r>
            <a:endParaRPr lang="en-US" sz="1200" dirty="0"/>
          </a:p>
        </p:txBody>
      </p:sp>
      <p:sp>
        <p:nvSpPr>
          <p:cNvPr id="22" name="Text 19"/>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EXPERIMENTS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Experimental setup</a:t>
            </a:r>
            <a:endParaRPr lang="en-US" sz="3200" dirty="0"/>
          </a:p>
        </p:txBody>
      </p:sp>
      <p:sp>
        <p:nvSpPr>
          <p:cNvPr id="4" name="Shape 2"/>
          <p:cNvSpPr/>
          <p:nvPr/>
        </p:nvSpPr>
        <p:spPr>
          <a:xfrm>
            <a:off x="812800" y="1854101"/>
            <a:ext cx="10566400" cy="3326011"/>
          </a:xfrm>
          <a:custGeom>
            <a:avLst/>
            <a:gdLst/>
            <a:ahLst/>
            <a:cxnLst/>
            <a:rect l="l" t="t" r="r" b="b"/>
            <a:pathLst>
              <a:path w="10566400" h="3326011">
                <a:moveTo>
                  <a:pt x="10464800" y="0"/>
                </a:moveTo>
                <a:lnTo>
                  <a:pt x="10464800" y="0"/>
                </a:lnTo>
                <a:arcTo hR="101600" wR="101600" stAng="16200000" swAng="5400000"/>
                <a:lnTo>
                  <a:pt x="10566400" y="3224411"/>
                </a:lnTo>
                <a:arcTo hR="101600" wR="101600" stAng="0" swAng="5400000"/>
                <a:lnTo>
                  <a:pt x="101600" y="3326011"/>
                </a:lnTo>
                <a:arcTo hR="101600" wR="101600" stAng="5400000" swAng="5400000"/>
                <a:lnTo>
                  <a:pt x="0" y="3224411"/>
                </a:lnTo>
                <a:arcTo hR="95250" wR="101600" stAng="10800000" swAng="-5400000"/>
                <a:lnTo>
                  <a:pt x="10464800" y="3319661"/>
                </a:lnTo>
                <a:arcTo hR="95250" wR="95250" stAng="5400000" swAng="-5400000"/>
                <a:lnTo>
                  <a:pt x="10560050" y="101600"/>
                </a:lnTo>
                <a:arcTo hR="101600" wR="95250" stAng="0" swAng="-5400000"/>
                <a:close/>
              </a:path>
            </a:pathLst>
          </a:custGeom>
          <a:solidFill>
            <a:srgbClr val="E2E0D8"/>
          </a:solidFill>
          <a:ln/>
        </p:spPr>
      </p:sp>
      <p:sp>
        <p:nvSpPr>
          <p:cNvPr id="5" name="Shape 3"/>
          <p:cNvSpPr/>
          <p:nvPr/>
        </p:nvSpPr>
        <p:spPr>
          <a:xfrm>
            <a:off x="812800" y="1854101"/>
            <a:ext cx="10566400" cy="3326011"/>
          </a:xfrm>
          <a:custGeom>
            <a:avLst/>
            <a:gdLst/>
            <a:ahLst/>
            <a:cxnLst/>
            <a:rect l="l" t="t" r="r" b="b"/>
            <a:pathLst>
              <a:path w="10566400" h="3326011">
                <a:moveTo>
                  <a:pt x="101600" y="3326011"/>
                </a:moveTo>
                <a:lnTo>
                  <a:pt x="101600" y="3326011"/>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3224411"/>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47350" cy="3306961"/>
        </p:xfrm>
        <a:graphic>
          <a:graphicData uri="http://schemas.openxmlformats.org/drawingml/2006/table">
            <a:tbl>
              <a:tblPr/>
              <a:tblGrid>
                <a:gridCol w="2953258"/>
                <a:gridCol w="7594092"/>
              </a:tblGrid>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Dataset</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BCAC8"/>
                      </a:solidFill>
                      <a:prstDash val="solid"/>
                      <a:round/>
                      <a:headEnd type="none" w="med" len="med"/>
                      <a:tailEnd type="none" w="med" len="med"/>
                    </a:lnR>
                    <a:lnT w="0" cap="flat" cmpd="sng" algn="ctr">
                      <a:noFill/>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DDR: more than 12,000 eye images</a:t>
                      </a:r>
                      <a:endParaRPr lang="en-US" sz="1600" dirty="0">
                        <a:latin typeface="Arial" charset="0"/>
                        <a:ea typeface="Arial" charset="0"/>
                        <a:cs typeface="Arial" charset="0"/>
                      </a:endParaRPr>
                    </a:p>
                  </a:txBody>
                  <a:tcPr marL="177800" marR="177800" marT="127000" marB="1270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0" cap="flat" cmpd="sng" algn="ctr">
                      <a:noFill/>
                    </a:lnT>
                    <a:lnB w="12700" cap="flat" cmpd="sng" algn="ctr">
                      <a:solidFill>
                        <a:srgbClr val="CBCAC8"/>
                      </a:solidFill>
                      <a:prstDash val="solid"/>
                      <a:round/>
                      <a:headEnd type="none" w="med" len="med"/>
                      <a:tailEnd type="none" w="med" len="med"/>
                    </a:lnB>
                    <a:solidFill>
                      <a:srgbClr val="FEFDFB"/>
                    </a:solidFill>
                  </a:tcPr>
                </a:tc>
              </a:tr>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Hospitals</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marL="177800" marR="177800" marT="127000" marB="1270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Model</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EfficientNet-B3</a:t>
                      </a:r>
                      <a:endParaRPr lang="en-US" sz="1600" dirty="0">
                        <a:latin typeface="Arial" charset="0"/>
                        <a:ea typeface="Arial" charset="0"/>
                        <a:cs typeface="Arial" charset="0"/>
                      </a:endParaRPr>
                    </a:p>
                  </a:txBody>
                  <a:tcPr marL="177800" marR="177800" marT="127000" marB="1270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Training</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10 rounds; every test repeated 3 times</a:t>
                      </a:r>
                      <a:endParaRPr lang="en-US" sz="1600" dirty="0">
                        <a:latin typeface="Arial" charset="0"/>
                        <a:ea typeface="Arial" charset="0"/>
                        <a:cs typeface="Arial" charset="0"/>
                      </a:endParaRPr>
                    </a:p>
                  </a:txBody>
                  <a:tcPr marL="177800" marR="177800" marT="127000" marB="1270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Compared with</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FedAvg, FedProx and two other versions</a:t>
                      </a:r>
                      <a:endParaRPr lang="en-US" sz="1600" dirty="0">
                        <a:latin typeface="Arial" charset="0"/>
                        <a:ea typeface="Arial" charset="0"/>
                        <a:cs typeface="Arial" charset="0"/>
                      </a:endParaRPr>
                    </a:p>
                  </a:txBody>
                  <a:tcPr marL="177800" marR="177800" marT="127000" marB="1270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55116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Second test</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APTOS 2019 dataset, no retraining</a:t>
                      </a:r>
                      <a:endParaRPr lang="en-US" sz="1600" dirty="0">
                        <a:latin typeface="Arial" charset="0"/>
                        <a:ea typeface="Arial" charset="0"/>
                        <a:cs typeface="Arial" charset="0"/>
                      </a:endParaRPr>
                    </a:p>
                  </a:txBody>
                  <a:tcPr marL="177800" marR="177800" marT="127000" marB="1270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bl>
          </a:graphicData>
        </a:graphic>
      </p:graphicFrame>
      <p:sp>
        <p:nvSpPr>
          <p:cNvPr id="7" name="Text 4"/>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8" name="Text 5"/>
          <p:cNvSpPr/>
          <p:nvPr/>
        </p:nvSpPr>
        <p:spPr>
          <a:xfrm>
            <a:off x="11243568" y="6238280"/>
            <a:ext cx="1356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EXPERIMENTS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Three ways to split the data</a:t>
            </a:r>
            <a:endParaRPr lang="en-US" sz="3200" dirty="0"/>
          </a:p>
        </p:txBody>
      </p:sp>
      <p:sp>
        <p:nvSpPr>
          <p:cNvPr id="4" name="Shape 2"/>
          <p:cNvSpPr/>
          <p:nvPr/>
        </p:nvSpPr>
        <p:spPr>
          <a:xfrm>
            <a:off x="815975" y="1755676"/>
            <a:ext cx="10560050" cy="3105150"/>
          </a:xfrm>
          <a:prstGeom prst="roundRect">
            <a:avLst>
              <a:gd name="adj" fmla="val 3988"/>
            </a:avLst>
          </a:prstGeom>
          <a:solidFill>
            <a:srgbClr val="FEFDFB"/>
          </a:solidFill>
          <a:ln w="6350">
            <a:solidFill>
              <a:srgbClr val="D5DEE9"/>
            </a:solidFill>
            <a:prstDash val="solid"/>
          </a:ln>
        </p:spPr>
      </p:sp>
      <p:pic>
        <p:nvPicPr>
          <p:cNvPr id="5" name="Image 0" descr="Stacked bars showing the grade mix of each of the 5 clients under the IID, Dirichlet alpha 0.1 and real-site partitions">    </p:cNvPr>
          <p:cNvPicPr>
            <a:picLocks noChangeAspect="1"/>
          </p:cNvPicPr>
          <p:nvPr/>
        </p:nvPicPr>
        <p:blipFill>
          <a:blip r:embed="rId1"/>
          <a:srcRect l="0" r="0" t="-53" b="-53"/>
          <a:stretch/>
        </p:blipFill>
        <p:spPr>
          <a:xfrm>
            <a:off x="1651000" y="1936651"/>
            <a:ext cx="8890000" cy="2743200"/>
          </a:xfrm>
          <a:prstGeom prst="rect">
            <a:avLst/>
          </a:prstGeom>
        </p:spPr>
      </p:pic>
      <p:sp>
        <p:nvSpPr>
          <p:cNvPr id="6" name="Text 3"/>
          <p:cNvSpPr/>
          <p:nvPr/>
        </p:nvSpPr>
        <p:spPr>
          <a:xfrm>
            <a:off x="812800" y="5067201"/>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Arial" pitchFamily="34" charset="0"/>
                <a:ea typeface="Arial" pitchFamily="34" charset="-122"/>
                <a:cs typeface="Arial" pitchFamily="34" charset="-120"/>
              </a:rPr>
              <a:t>Left:</a:t>
            </a:r>
            <a:r>
              <a:rPr lang="en-US" sz="1400" dirty="0">
                <a:solidFill>
                  <a:srgbClr val="3D4A5C"/>
                </a:solidFill>
                <a:latin typeface="Arial" pitchFamily="34" charset="0"/>
                <a:ea typeface="Arial" pitchFamily="34" charset="-122"/>
                <a:cs typeface="Arial" pitchFamily="34" charset="-120"/>
              </a:rPr>
              <a:t> easy case, similar mix. </a:t>
            </a:r>
            <a:r>
              <a:rPr lang="en-US" sz="1400" b="1" dirty="0">
                <a:solidFill>
                  <a:srgbClr val="3D4A5C"/>
                </a:solidFill>
                <a:latin typeface="Arial" pitchFamily="34" charset="0"/>
                <a:ea typeface="Arial" pitchFamily="34" charset="-122"/>
                <a:cs typeface="Arial" pitchFamily="34" charset="-120"/>
              </a:rPr>
              <a:t>Middle:</a:t>
            </a:r>
            <a:r>
              <a:rPr lang="en-US" sz="1400" dirty="0">
                <a:solidFill>
                  <a:srgbClr val="3D4A5C"/>
                </a:solidFill>
                <a:latin typeface="Arial" pitchFamily="34" charset="0"/>
                <a:ea typeface="Arial" pitchFamily="34" charset="-122"/>
                <a:cs typeface="Arial" pitchFamily="34" charset="-120"/>
              </a:rPr>
              <a:t> hard case, each hospital gets mostly one grade (one has only 32 images, all healthy). </a:t>
            </a:r>
            <a:r>
              <a:rPr lang="en-US" sz="1400" b="1" dirty="0">
                <a:solidFill>
                  <a:srgbClr val="3D4A5C"/>
                </a:solidFill>
                <a:latin typeface="Arial" pitchFamily="34" charset="0"/>
                <a:ea typeface="Arial" pitchFamily="34" charset="-122"/>
                <a:cs typeface="Arial" pitchFamily="34" charset="-120"/>
              </a:rPr>
              <a:t>Right:</a:t>
            </a:r>
            <a:r>
              <a:rPr lang="en-US" sz="1400" dirty="0">
                <a:solidFill>
                  <a:srgbClr val="3D4A5C"/>
                </a:solidFill>
                <a:latin typeface="Arial" pitchFamily="34" charset="0"/>
                <a:ea typeface="Arial" pitchFamily="34" charset="-122"/>
                <a:cs typeface="Arial" pitchFamily="34" charset="-120"/>
              </a:rPr>
              <a:t> five real kinds of clinics.</a:t>
            </a:r>
            <a:endParaRPr lang="en-US" sz="1400" dirty="0"/>
          </a:p>
        </p:txBody>
      </p:sp>
      <p:sp>
        <p:nvSpPr>
          <p:cNvPr id="7" name="Text 4"/>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Arial" pitchFamily="34" charset="0"/>
                <a:ea typeface="Arial" pitchFamily="34" charset="-122"/>
                <a:cs typeface="Arial" pitchFamily="34" charset="-120"/>
              </a:rPr>
              <a:t>OrdinalFed · IEEE WIECON-ECE 2026</a:t>
            </a:r>
            <a:endParaRPr lang="en-US" sz="1200" dirty="0"/>
          </a:p>
        </p:txBody>
      </p:sp>
      <p:sp>
        <p:nvSpPr>
          <p:cNvPr id="8" name="Text 5"/>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Score after every round</a:t>
            </a:r>
            <a:endParaRPr lang="en-US" sz="3200" dirty="0"/>
          </a:p>
        </p:txBody>
      </p:sp>
      <p:sp>
        <p:nvSpPr>
          <p:cNvPr id="4" name="Shape 2"/>
          <p:cNvSpPr/>
          <p:nvPr/>
        </p:nvSpPr>
        <p:spPr>
          <a:xfrm>
            <a:off x="815975" y="1755676"/>
            <a:ext cx="10560050" cy="3263900"/>
          </a:xfrm>
          <a:prstGeom prst="roundRect">
            <a:avLst>
              <a:gd name="adj" fmla="val 3794"/>
            </a:avLst>
          </a:prstGeom>
          <a:solidFill>
            <a:srgbClr val="FEFDFB"/>
          </a:solidFill>
          <a:ln w="6350">
            <a:solidFill>
              <a:srgbClr val="D5DEE9"/>
            </a:solidFill>
            <a:prstDash val="solid"/>
          </a:ln>
        </p:spPr>
      </p:sp>
      <p:pic>
        <p:nvPicPr>
          <p:cNvPr id="5" name="Image 0" descr="Line charts of test QWK over 10 rounds for FedAvg, FedProx and OrdinalFed under the IID, Dirichlet alpha 0.1 and real-site partitions">    </p:cNvPr>
          <p:cNvPicPr>
            <a:picLocks noChangeAspect="1"/>
          </p:cNvPicPr>
          <p:nvPr/>
        </p:nvPicPr>
        <p:blipFill>
          <a:blip r:embed="rId1"/>
          <a:srcRect l="-55" r="-55" t="0" b="0"/>
          <a:stretch/>
        </p:blipFill>
        <p:spPr>
          <a:xfrm>
            <a:off x="1651000" y="1936651"/>
            <a:ext cx="8890000" cy="2901950"/>
          </a:xfrm>
          <a:prstGeom prst="rect">
            <a:avLst/>
          </a:prstGeom>
        </p:spPr>
      </p:pic>
      <p:sp>
        <p:nvSpPr>
          <p:cNvPr id="6" name="Text 3"/>
          <p:cNvSpPr/>
          <p:nvPr/>
        </p:nvSpPr>
        <p:spPr>
          <a:xfrm>
            <a:off x="812800" y="522595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Arial" pitchFamily="34" charset="0"/>
                <a:ea typeface="Arial" pitchFamily="34" charset="-122"/>
                <a:cs typeface="Arial" pitchFamily="34" charset="-120"/>
              </a:rPr>
              <a:t>Hard case (middle):</a:t>
            </a:r>
            <a:r>
              <a:rPr lang="en-US" sz="1400" dirty="0">
                <a:solidFill>
                  <a:srgbClr val="3D4A5C"/>
                </a:solidFill>
                <a:latin typeface="Arial" pitchFamily="34" charset="0"/>
                <a:ea typeface="Arial" pitchFamily="34" charset="-122"/>
                <a:cs typeface="Arial" pitchFamily="34" charset="-120"/>
              </a:rPr>
              <a:t> FedAvg crashes after round 5. Our method does not crash, but goes up and down. FedProx stays steady.</a:t>
            </a:r>
            <a:endParaRPr lang="en-US" sz="1400" dirty="0"/>
          </a:p>
        </p:txBody>
      </p:sp>
      <p:sp>
        <p:nvSpPr>
          <p:cNvPr id="7" name="Text 4"/>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Arial" pitchFamily="34" charset="0"/>
                <a:ea typeface="Arial" pitchFamily="34" charset="-122"/>
                <a:cs typeface="Arial" pitchFamily="34" charset="-120"/>
              </a:rPr>
              <a:t>OrdinalFed · IEEE WIECON-ECE 2026</a:t>
            </a:r>
            <a:endParaRPr lang="en-US" sz="1200" dirty="0"/>
          </a:p>
        </p:txBody>
      </p:sp>
      <p:sp>
        <p:nvSpPr>
          <p:cNvPr id="8" name="Text 5"/>
          <p:cNvSpPr/>
          <p:nvPr/>
        </p:nvSpPr>
        <p:spPr>
          <a:xfrm>
            <a:off x="11170146" y="6238280"/>
            <a:ext cx="2090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Worst score in the hard case</a:t>
            </a:r>
            <a:endParaRPr lang="en-US" sz="3200" dirty="0"/>
          </a:p>
        </p:txBody>
      </p:sp>
      <p:sp>
        <p:nvSpPr>
          <p:cNvPr id="4" name="Text 2"/>
          <p:cNvSpPr/>
          <p:nvPr/>
        </p:nvSpPr>
        <p:spPr>
          <a:xfrm>
            <a:off x="812800" y="18033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5"/>
                </a:solidFill>
                <a:latin typeface="Arial" pitchFamily="34" charset="0"/>
                <a:ea typeface="Arial" pitchFamily="34" charset="-122"/>
                <a:cs typeface="Arial" pitchFamily="34" charset="-120"/>
              </a:rPr>
              <a:t>The lowest score of each method over the 10 rounds. Higher is better.</a:t>
            </a:r>
            <a:endParaRPr lang="en-US" sz="1400" dirty="0"/>
          </a:p>
        </p:txBody>
      </p:sp>
      <p:sp>
        <p:nvSpPr>
          <p:cNvPr id="5" name="Text 3"/>
          <p:cNvSpPr/>
          <p:nvPr/>
        </p:nvSpPr>
        <p:spPr>
          <a:xfrm>
            <a:off x="812800" y="23505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FedAvg</a:t>
            </a:r>
            <a:endParaRPr lang="en-US" sz="1500" dirty="0"/>
          </a:p>
        </p:txBody>
      </p:sp>
      <p:sp>
        <p:nvSpPr>
          <p:cNvPr id="6" name="Shape 4"/>
          <p:cNvSpPr/>
          <p:nvPr/>
        </p:nvSpPr>
        <p:spPr>
          <a:xfrm>
            <a:off x="3124200" y="2306141"/>
            <a:ext cx="3962400" cy="355600"/>
          </a:xfrm>
          <a:custGeom>
            <a:avLst/>
            <a:gdLst/>
            <a:ahLst/>
            <a:cxnLst/>
            <a:rect l="l" t="t" r="r" b="b"/>
            <a:pathLst>
              <a:path w="3962400" h="355600">
                <a:moveTo>
                  <a:pt x="0" y="0"/>
                </a:moveTo>
                <a:lnTo>
                  <a:pt x="3886200" y="0"/>
                </a:lnTo>
                <a:arcTo hR="76200" wR="76200" stAng="16200000" swAng="5400000"/>
                <a:lnTo>
                  <a:pt x="3962400" y="279400"/>
                </a:lnTo>
                <a:arcTo hR="76200" wR="76200" stAng="0" swAng="5400000"/>
                <a:lnTo>
                  <a:pt x="0" y="355600"/>
                </a:lnTo>
                <a:lnTo>
                  <a:pt x="0" y="0"/>
                </a:lnTo>
                <a:close/>
              </a:path>
            </a:pathLst>
          </a:custGeom>
          <a:solidFill>
            <a:srgbClr val="D9622B"/>
          </a:solidFill>
          <a:ln/>
        </p:spPr>
      </p:sp>
      <p:sp>
        <p:nvSpPr>
          <p:cNvPr id="7" name="Text 5"/>
          <p:cNvSpPr/>
          <p:nvPr/>
        </p:nvSpPr>
        <p:spPr>
          <a:xfrm>
            <a:off x="7239000" y="2323902"/>
            <a:ext cx="68651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0.378</a:t>
            </a:r>
            <a:endParaRPr lang="en-US" sz="1800" dirty="0"/>
          </a:p>
        </p:txBody>
      </p:sp>
      <p:sp>
        <p:nvSpPr>
          <p:cNvPr id="8" name="Text 6"/>
          <p:cNvSpPr/>
          <p:nvPr/>
        </p:nvSpPr>
        <p:spPr>
          <a:xfrm>
            <a:off x="812800" y="28839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OrdinalFed (ours)</a:t>
            </a:r>
            <a:endParaRPr lang="en-US" sz="1500" dirty="0"/>
          </a:p>
        </p:txBody>
      </p:sp>
      <p:sp>
        <p:nvSpPr>
          <p:cNvPr id="9" name="Shape 7"/>
          <p:cNvSpPr/>
          <p:nvPr/>
        </p:nvSpPr>
        <p:spPr>
          <a:xfrm>
            <a:off x="3124200" y="2839541"/>
            <a:ext cx="5391150" cy="355600"/>
          </a:xfrm>
          <a:custGeom>
            <a:avLst/>
            <a:gdLst/>
            <a:ahLst/>
            <a:cxnLst/>
            <a:rect l="l" t="t" r="r" b="b"/>
            <a:pathLst>
              <a:path w="5391150" h="355600">
                <a:moveTo>
                  <a:pt x="0" y="0"/>
                </a:moveTo>
                <a:lnTo>
                  <a:pt x="5314950" y="0"/>
                </a:lnTo>
                <a:arcTo hR="76200" wR="76200" stAng="16200000" swAng="5400000"/>
                <a:lnTo>
                  <a:pt x="5391150" y="279400"/>
                </a:lnTo>
                <a:arcTo hR="76200" wR="76200" stAng="0" swAng="5400000"/>
                <a:lnTo>
                  <a:pt x="0" y="355600"/>
                </a:lnTo>
                <a:lnTo>
                  <a:pt x="0" y="0"/>
                </a:lnTo>
                <a:close/>
              </a:path>
            </a:pathLst>
          </a:custGeom>
          <a:solidFill>
            <a:srgbClr val="2F6FB3"/>
          </a:solidFill>
          <a:ln/>
        </p:spPr>
      </p:sp>
      <p:sp>
        <p:nvSpPr>
          <p:cNvPr id="10" name="Text 8"/>
          <p:cNvSpPr/>
          <p:nvPr/>
        </p:nvSpPr>
        <p:spPr>
          <a:xfrm>
            <a:off x="8667750" y="2857302"/>
            <a:ext cx="68651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0.514</a:t>
            </a:r>
            <a:endParaRPr lang="en-US" sz="1800" dirty="0"/>
          </a:p>
        </p:txBody>
      </p:sp>
      <p:sp>
        <p:nvSpPr>
          <p:cNvPr id="11" name="Text 9"/>
          <p:cNvSpPr/>
          <p:nvPr/>
        </p:nvSpPr>
        <p:spPr>
          <a:xfrm>
            <a:off x="812800" y="34173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OrdinalFed + Prox</a:t>
            </a:r>
            <a:endParaRPr lang="en-US" sz="1500" dirty="0"/>
          </a:p>
        </p:txBody>
      </p:sp>
      <p:sp>
        <p:nvSpPr>
          <p:cNvPr id="12" name="Shape 10"/>
          <p:cNvSpPr/>
          <p:nvPr/>
        </p:nvSpPr>
        <p:spPr>
          <a:xfrm>
            <a:off x="3124200" y="3372941"/>
            <a:ext cx="6572250" cy="355600"/>
          </a:xfrm>
          <a:custGeom>
            <a:avLst/>
            <a:gdLst/>
            <a:ahLst/>
            <a:cxnLst/>
            <a:rect l="l" t="t" r="r" b="b"/>
            <a:pathLst>
              <a:path w="6572250" h="355600">
                <a:moveTo>
                  <a:pt x="0" y="0"/>
                </a:moveTo>
                <a:lnTo>
                  <a:pt x="6496050" y="0"/>
                </a:lnTo>
                <a:arcTo hR="76200" wR="76200" stAng="16200000" swAng="5400000"/>
                <a:lnTo>
                  <a:pt x="6572250" y="279400"/>
                </a:lnTo>
                <a:arcTo hR="76200" wR="76200" stAng="0" swAng="5400000"/>
                <a:lnTo>
                  <a:pt x="0" y="355600"/>
                </a:lnTo>
                <a:lnTo>
                  <a:pt x="0" y="0"/>
                </a:lnTo>
                <a:close/>
              </a:path>
            </a:pathLst>
          </a:custGeom>
          <a:solidFill>
            <a:srgbClr val="8DB3DE"/>
          </a:solidFill>
          <a:ln/>
        </p:spPr>
      </p:sp>
      <p:sp>
        <p:nvSpPr>
          <p:cNvPr id="13" name="Text 11"/>
          <p:cNvSpPr/>
          <p:nvPr/>
        </p:nvSpPr>
        <p:spPr>
          <a:xfrm>
            <a:off x="9848850" y="3390702"/>
            <a:ext cx="68651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0.627</a:t>
            </a:r>
            <a:endParaRPr lang="en-US" sz="1800" dirty="0"/>
          </a:p>
        </p:txBody>
      </p:sp>
      <p:sp>
        <p:nvSpPr>
          <p:cNvPr id="14" name="Text 12"/>
          <p:cNvSpPr/>
          <p:nvPr/>
        </p:nvSpPr>
        <p:spPr>
          <a:xfrm>
            <a:off x="812800" y="39507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FedProx</a:t>
            </a:r>
            <a:endParaRPr lang="en-US" sz="1500" dirty="0"/>
          </a:p>
        </p:txBody>
      </p:sp>
      <p:sp>
        <p:nvSpPr>
          <p:cNvPr id="15" name="Shape 13"/>
          <p:cNvSpPr/>
          <p:nvPr/>
        </p:nvSpPr>
        <p:spPr>
          <a:xfrm>
            <a:off x="3124200" y="3906341"/>
            <a:ext cx="6718300" cy="355600"/>
          </a:xfrm>
          <a:custGeom>
            <a:avLst/>
            <a:gdLst/>
            <a:ahLst/>
            <a:cxnLst/>
            <a:rect l="l" t="t" r="r" b="b"/>
            <a:pathLst>
              <a:path w="6718300" h="355600">
                <a:moveTo>
                  <a:pt x="0" y="0"/>
                </a:moveTo>
                <a:lnTo>
                  <a:pt x="6642100" y="0"/>
                </a:lnTo>
                <a:arcTo hR="76200" wR="76200" stAng="16200000" swAng="5400000"/>
                <a:lnTo>
                  <a:pt x="6718300" y="279400"/>
                </a:lnTo>
                <a:arcTo hR="76200" wR="76200" stAng="0" swAng="5400000"/>
                <a:lnTo>
                  <a:pt x="0" y="355600"/>
                </a:lnTo>
                <a:lnTo>
                  <a:pt x="0" y="0"/>
                </a:lnTo>
                <a:close/>
              </a:path>
            </a:pathLst>
          </a:custGeom>
          <a:solidFill>
            <a:srgbClr val="2E9B5F"/>
          </a:solidFill>
          <a:ln/>
        </p:spPr>
      </p:sp>
      <p:sp>
        <p:nvSpPr>
          <p:cNvPr id="16" name="Text 14"/>
          <p:cNvSpPr/>
          <p:nvPr/>
        </p:nvSpPr>
        <p:spPr>
          <a:xfrm>
            <a:off x="9994900" y="3924102"/>
            <a:ext cx="68651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Arial" pitchFamily="34" charset="0"/>
                <a:ea typeface="Arial" pitchFamily="34" charset="-122"/>
                <a:cs typeface="Arial" pitchFamily="34" charset="-120"/>
              </a:rPr>
              <a:t>0.641</a:t>
            </a:r>
            <a:endParaRPr lang="en-US" sz="1800" dirty="0"/>
          </a:p>
        </p:txBody>
      </p:sp>
      <p:sp>
        <p:nvSpPr>
          <p:cNvPr id="17" name="Text 15"/>
          <p:cNvSpPr/>
          <p:nvPr/>
        </p:nvSpPr>
        <p:spPr>
          <a:xfrm>
            <a:off x="812800" y="451594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Arial" pitchFamily="34" charset="0"/>
                <a:ea typeface="Arial" pitchFamily="34" charset="-122"/>
                <a:cs typeface="Arial" pitchFamily="34" charset="-120"/>
              </a:rPr>
              <a:t>Our method lifts the worst score from </a:t>
            </a:r>
            <a:r>
              <a:rPr lang="en-US" sz="1500" b="1" dirty="0">
                <a:solidFill>
                  <a:srgbClr val="14213D"/>
                </a:solidFill>
                <a:latin typeface="Arial" pitchFamily="34" charset="0"/>
                <a:ea typeface="Arial" pitchFamily="34" charset="-122"/>
                <a:cs typeface="Arial" pitchFamily="34" charset="-120"/>
              </a:rPr>
              <a:t>0.378 to 0.514</a:t>
            </a:r>
            <a:r>
              <a:rPr lang="en-US" sz="1500" dirty="0">
                <a:solidFill>
                  <a:srgbClr val="14213D"/>
                </a:solidFill>
                <a:latin typeface="Arial" pitchFamily="34" charset="0"/>
                <a:ea typeface="Arial" pitchFamily="34" charset="-122"/>
                <a:cs typeface="Arial" pitchFamily="34" charset="-120"/>
              </a:rPr>
              <a:t>, and the hospitals change nothing. </a:t>
            </a:r>
            <a:r>
              <a:rPr lang="en-US" sz="1500" b="1" dirty="0">
                <a:solidFill>
                  <a:srgbClr val="14213D"/>
                </a:solidFill>
                <a:latin typeface="Arial" pitchFamily="34" charset="0"/>
                <a:ea typeface="Arial" pitchFamily="34" charset="-122"/>
                <a:cs typeface="Arial" pitchFamily="34" charset="-120"/>
              </a:rPr>
              <a:t>FedProx is the most steady.</a:t>
            </a:r>
            <a:endParaRPr lang="en-US" sz="1500" dirty="0"/>
          </a:p>
        </p:txBody>
      </p:sp>
      <p:sp>
        <p:nvSpPr>
          <p:cNvPr id="18" name="Text 16"/>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19" name="Text 17"/>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TESTING EACH PART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Why does it work?</a:t>
            </a:r>
            <a:endParaRPr lang="en-US" sz="3200" dirty="0"/>
          </a:p>
        </p:txBody>
      </p:sp>
      <p:sp>
        <p:nvSpPr>
          <p:cNvPr id="4" name="Shape 2"/>
          <p:cNvSpPr/>
          <p:nvPr/>
        </p:nvSpPr>
        <p:spPr>
          <a:xfrm>
            <a:off x="812800" y="1854101"/>
            <a:ext cx="5659934" cy="2432050"/>
          </a:xfrm>
          <a:custGeom>
            <a:avLst/>
            <a:gdLst/>
            <a:ahLst/>
            <a:cxnLst/>
            <a:rect l="l" t="t" r="r" b="b"/>
            <a:pathLst>
              <a:path w="5659934" h="2432050">
                <a:moveTo>
                  <a:pt x="5558334" y="0"/>
                </a:moveTo>
                <a:lnTo>
                  <a:pt x="5558334" y="0"/>
                </a:lnTo>
                <a:arcTo hR="101600" wR="101600" stAng="16200000" swAng="5400000"/>
                <a:lnTo>
                  <a:pt x="5659934" y="2330450"/>
                </a:lnTo>
                <a:arcTo hR="101600" wR="101600" stAng="0" swAng="5400000"/>
                <a:lnTo>
                  <a:pt x="101600" y="2432050"/>
                </a:lnTo>
                <a:arcTo hR="101600" wR="101600" stAng="5400000" swAng="5400000"/>
                <a:lnTo>
                  <a:pt x="0" y="2330450"/>
                </a:lnTo>
                <a:arcTo hR="95250" wR="101600" stAng="10800000" swAng="-5400000"/>
                <a:lnTo>
                  <a:pt x="5558334" y="2425700"/>
                </a:lnTo>
                <a:arcTo hR="95250" wR="95250" stAng="5400000" swAng="-5400000"/>
                <a:lnTo>
                  <a:pt x="5653584" y="101600"/>
                </a:lnTo>
                <a:arcTo hR="101600" wR="95250" stAng="0" swAng="-5400000"/>
                <a:close/>
              </a:path>
            </a:pathLst>
          </a:custGeom>
          <a:solidFill>
            <a:srgbClr val="E2E0D8"/>
          </a:solidFill>
          <a:ln/>
        </p:spPr>
      </p:sp>
      <p:sp>
        <p:nvSpPr>
          <p:cNvPr id="5" name="Shape 3"/>
          <p:cNvSpPr/>
          <p:nvPr/>
        </p:nvSpPr>
        <p:spPr>
          <a:xfrm>
            <a:off x="812800" y="1854101"/>
            <a:ext cx="5659934" cy="2432050"/>
          </a:xfrm>
          <a:custGeom>
            <a:avLst/>
            <a:gdLst/>
            <a:ahLst/>
            <a:cxnLst/>
            <a:rect l="l" t="t" r="r" b="b"/>
            <a:pathLst>
              <a:path w="5659934" h="2432050">
                <a:moveTo>
                  <a:pt x="101600" y="2432050"/>
                </a:moveTo>
                <a:lnTo>
                  <a:pt x="101600" y="2432050"/>
                </a:lnTo>
                <a:arcTo hR="101600" wR="101600" stAng="5400000" swAng="5400000"/>
                <a:lnTo>
                  <a:pt x="0" y="101600"/>
                </a:lnTo>
                <a:arcTo hR="101600" wR="101600" stAng="10800000" swAng="5400000"/>
                <a:lnTo>
                  <a:pt x="5558334" y="0"/>
                </a:lnTo>
                <a:arcTo hR="101600" wR="101600" stAng="16200000" swAng="5400000"/>
                <a:lnTo>
                  <a:pt x="5659934" y="101600"/>
                </a:lnTo>
                <a:arcTo hR="88900" wR="101600" stAng="0" swAng="-5400000"/>
                <a:lnTo>
                  <a:pt x="101600" y="12700"/>
                </a:lnTo>
                <a:arcTo hR="88900" wR="88900" stAng="16200000" swAng="-5400000"/>
                <a:lnTo>
                  <a:pt x="12700" y="2330450"/>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5640884" cy="2413000"/>
        </p:xfrm>
        <a:graphic>
          <a:graphicData uri="http://schemas.openxmlformats.org/drawingml/2006/table">
            <a:tbl>
              <a:tblPr/>
              <a:tblGrid>
                <a:gridCol w="3835801"/>
                <a:gridCol w="1805083"/>
              </a:tblGrid>
              <a:tr h="482600">
                <a:tc>
                  <a:txBody>
                    <a:bodyPr/>
                    <a:lstStyle/>
                    <a:p>
                      <a:pPr indent="0" marL="0">
                        <a:lnSpc>
                          <a:spcPts val="2100"/>
                        </a:lnSpc>
                        <a:buNone/>
                      </a:pPr>
                      <a:r>
                        <a:rPr lang="en-US" sz="1500" b="1" dirty="0">
                          <a:solidFill>
                            <a:srgbClr val="14213D"/>
                          </a:solidFill>
                          <a:latin typeface="Arial" pitchFamily="34" charset="0"/>
                          <a:ea typeface="Arial" pitchFamily="34" charset="-122"/>
                          <a:cs typeface="Arial" pitchFamily="34" charset="-120"/>
                        </a:rPr>
                        <a:t>What we tested (hard case)</a:t>
                      </a:r>
                      <a:endParaRPr lang="en-US" sz="1500" dirty="0">
                        <a:latin typeface="Arial" charset="0"/>
                        <a:ea typeface="Arial" charset="0"/>
                        <a:cs typeface="Arial" charset="0"/>
                      </a:endParaRPr>
                    </a:p>
                  </a:txBody>
                  <a:tcPr marL="152400" marR="152400" marT="101600" marB="101600" anchor="t">
                    <a:lnL w="0" cap="flat" cmpd="sng" algn="ctr">
                      <a:noFill/>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algn="r" indent="0" marL="0">
                        <a:lnSpc>
                          <a:spcPts val="2100"/>
                        </a:lnSpc>
                        <a:buNone/>
                      </a:pPr>
                      <a:r>
                        <a:rPr lang="en-US" sz="1500" b="1" dirty="0">
                          <a:solidFill>
                            <a:srgbClr val="14213D"/>
                          </a:solidFill>
                          <a:latin typeface="Arial" pitchFamily="34" charset="0"/>
                          <a:ea typeface="Arial" pitchFamily="34" charset="-122"/>
                          <a:cs typeface="Arial" pitchFamily="34" charset="-120"/>
                        </a:rPr>
                        <a:t>Worst score</a:t>
                      </a:r>
                      <a:endParaRPr lang="en-US" sz="1500" dirty="0">
                        <a:latin typeface="Arial" charset="0"/>
                        <a:ea typeface="Arial" charset="0"/>
                        <a:cs typeface="Arial" charset="0"/>
                      </a:endParaRPr>
                    </a:p>
                  </a:txBody>
                  <a:tcPr marL="152400" marR="152400" marT="101600" marB="1016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r>
              <a:tr h="48260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Votes by image count (FedAvg)</a:t>
                      </a:r>
                      <a:endParaRPr lang="en-US" sz="1500" dirty="0">
                        <a:latin typeface="Arial" charset="0"/>
                        <a:ea typeface="Arial" charset="0"/>
                        <a:cs typeface="Arial" charset="0"/>
                      </a:endParaRPr>
                    </a:p>
                  </a:txBody>
                  <a:tcPr marL="152400" marR="1524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algn="r" indent="0" marL="0">
                        <a:lnSpc>
                          <a:spcPts val="2100"/>
                        </a:lnSpc>
                        <a:buNone/>
                      </a:pPr>
                      <a:r>
                        <a:rPr lang="en-US" sz="1500" dirty="0">
                          <a:solidFill>
                            <a:srgbClr val="14213D"/>
                          </a:solidFill>
                          <a:latin typeface="Arial" pitchFamily="34" charset="0"/>
                          <a:ea typeface="Arial" pitchFamily="34" charset="-122"/>
                          <a:cs typeface="Arial" pitchFamily="34" charset="-120"/>
                        </a:rPr>
                        <a:t>0.378</a:t>
                      </a:r>
                      <a:endParaRPr lang="en-US" sz="1500" dirty="0">
                        <a:latin typeface="Arial" charset="0"/>
                        <a:ea typeface="Arial" charset="0"/>
                        <a:cs typeface="Arial" charset="0"/>
                      </a:endParaRPr>
                    </a:p>
                  </a:txBody>
                  <a:tcPr marL="152400" marR="1524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48260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Distance penalty only</a:t>
                      </a:r>
                      <a:endParaRPr lang="en-US" sz="1500" dirty="0">
                        <a:latin typeface="Arial" charset="0"/>
                        <a:ea typeface="Arial" charset="0"/>
                        <a:cs typeface="Arial" charset="0"/>
                      </a:endParaRPr>
                    </a:p>
                  </a:txBody>
                  <a:tcPr marL="152400" marR="152400" marT="101600" marB="1016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algn="r" indent="0" marL="0">
                        <a:lnSpc>
                          <a:spcPts val="2100"/>
                        </a:lnSpc>
                        <a:buNone/>
                      </a:pPr>
                      <a:r>
                        <a:rPr lang="en-US" sz="1500" dirty="0">
                          <a:solidFill>
                            <a:srgbClr val="14213D"/>
                          </a:solidFill>
                          <a:latin typeface="Arial" pitchFamily="34" charset="0"/>
                          <a:ea typeface="Arial" pitchFamily="34" charset="-122"/>
                          <a:cs typeface="Arial" pitchFamily="34" charset="-120"/>
                        </a:rPr>
                        <a:t>0.380</a:t>
                      </a:r>
                      <a:endParaRPr lang="en-US" sz="1500" dirty="0">
                        <a:latin typeface="Arial" charset="0"/>
                        <a:ea typeface="Arial" charset="0"/>
                        <a:cs typeface="Arial" charset="0"/>
                      </a:endParaRPr>
                    </a:p>
                  </a:txBody>
                  <a:tcPr marL="152400" marR="1524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8260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Votes by test score</a:t>
                      </a:r>
                      <a:endParaRPr lang="en-US" sz="1500" dirty="0">
                        <a:latin typeface="Arial" charset="0"/>
                        <a:ea typeface="Arial" charset="0"/>
                        <a:cs typeface="Arial" charset="0"/>
                      </a:endParaRPr>
                    </a:p>
                  </a:txBody>
                  <a:tcPr marL="152400" marR="1524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algn="r" indent="0" marL="0">
                        <a:lnSpc>
                          <a:spcPts val="2100"/>
                        </a:lnSpc>
                        <a:buNone/>
                      </a:pPr>
                      <a:r>
                        <a:rPr lang="en-US" sz="1500" dirty="0">
                          <a:solidFill>
                            <a:srgbClr val="14213D"/>
                          </a:solidFill>
                          <a:latin typeface="Arial" pitchFamily="34" charset="0"/>
                          <a:ea typeface="Arial" pitchFamily="34" charset="-122"/>
                          <a:cs typeface="Arial" pitchFamily="34" charset="-120"/>
                        </a:rPr>
                        <a:t>0.586</a:t>
                      </a:r>
                      <a:endParaRPr lang="en-US" sz="1500" dirty="0">
                        <a:latin typeface="Arial" charset="0"/>
                        <a:ea typeface="Arial" charset="0"/>
                        <a:cs typeface="Arial" charset="0"/>
                      </a:endParaRPr>
                    </a:p>
                  </a:txBody>
                  <a:tcPr marL="152400" marR="1524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482600">
                <a:tc>
                  <a:txBody>
                    <a:bodyPr/>
                    <a:lstStyle/>
                    <a:p>
                      <a:pPr indent="0" marL="0">
                        <a:lnSpc>
                          <a:spcPts val="2100"/>
                        </a:lnSpc>
                        <a:buNone/>
                      </a:pPr>
                      <a:r>
                        <a:rPr lang="en-US" sz="1500" dirty="0">
                          <a:solidFill>
                            <a:srgbClr val="14213D"/>
                          </a:solidFill>
                          <a:latin typeface="Arial" pitchFamily="34" charset="0"/>
                          <a:ea typeface="Arial" pitchFamily="34" charset="-122"/>
                          <a:cs typeface="Arial" pitchFamily="34" charset="-120"/>
                        </a:rPr>
                        <a:t>Equal votes for all</a:t>
                      </a:r>
                      <a:endParaRPr lang="en-US" sz="1500" dirty="0">
                        <a:latin typeface="Arial" charset="0"/>
                        <a:ea typeface="Arial" charset="0"/>
                        <a:cs typeface="Arial" charset="0"/>
                      </a:endParaRPr>
                    </a:p>
                  </a:txBody>
                  <a:tcPr marL="152400" marR="152400" marT="101600" marB="101600" anchor="t">
                    <a:lnL w="0" cap="flat" cmpd="sng" algn="ctr">
                      <a:noFill/>
                    </a:lnL>
                    <a:lnR w="12700" cap="flat" cmpd="sng" algn="ctr">
                      <a:solidFill>
                        <a:srgbClr val="B0B9C3"/>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algn="r" indent="0" marL="0">
                        <a:lnSpc>
                          <a:spcPts val="2100"/>
                        </a:lnSpc>
                        <a:buNone/>
                      </a:pPr>
                      <a:r>
                        <a:rPr lang="en-US" sz="1500" dirty="0">
                          <a:solidFill>
                            <a:srgbClr val="14213D"/>
                          </a:solidFill>
                          <a:latin typeface="Arial" pitchFamily="34" charset="0"/>
                          <a:ea typeface="Arial" pitchFamily="34" charset="-122"/>
                          <a:cs typeface="Arial" pitchFamily="34" charset="-120"/>
                        </a:rPr>
                        <a:t>0.630 (best)</a:t>
                      </a:r>
                      <a:endParaRPr lang="en-US" sz="1500" dirty="0">
                        <a:latin typeface="Arial" charset="0"/>
                        <a:ea typeface="Arial" charset="0"/>
                        <a:cs typeface="Arial" charset="0"/>
                      </a:endParaRPr>
                    </a:p>
                  </a:txBody>
                  <a:tcPr marL="152400" marR="152400" marT="101600" marB="10160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7" name="Text 4"/>
          <p:cNvSpPr/>
          <p:nvPr/>
        </p:nvSpPr>
        <p:spPr>
          <a:xfrm>
            <a:off x="812800" y="4463951"/>
            <a:ext cx="58297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Arial" pitchFamily="34" charset="0"/>
                <a:ea typeface="Arial" pitchFamily="34" charset="-122"/>
                <a:cs typeface="Arial" pitchFamily="34" charset="-120"/>
              </a:rPr>
              <a:t>The penalty alone does not help. With only 50 test images, the scores are too noisy to rank hospitals.</a:t>
            </a:r>
            <a:endParaRPr lang="en-US" sz="1400" dirty="0"/>
          </a:p>
        </p:txBody>
      </p:sp>
      <p:sp>
        <p:nvSpPr>
          <p:cNvPr id="8" name="Shape 5"/>
          <p:cNvSpPr/>
          <p:nvPr/>
        </p:nvSpPr>
        <p:spPr>
          <a:xfrm>
            <a:off x="6726734" y="1854101"/>
            <a:ext cx="4652466" cy="3107531"/>
          </a:xfrm>
          <a:prstGeom prst="roundRect">
            <a:avLst>
              <a:gd name="adj" fmla="val 4087"/>
            </a:avLst>
          </a:prstGeom>
          <a:solidFill>
            <a:srgbClr val="14213D"/>
          </a:solidFill>
          <a:ln/>
        </p:spPr>
      </p:sp>
      <p:sp>
        <p:nvSpPr>
          <p:cNvPr id="9" name="Text 6"/>
          <p:cNvSpPr/>
          <p:nvPr/>
        </p:nvSpPr>
        <p:spPr>
          <a:xfrm>
            <a:off x="7031534" y="2158901"/>
            <a:ext cx="4164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C1E8"/>
                </a:solidFill>
                <a:latin typeface="Arial" pitchFamily="34" charset="0"/>
                <a:ea typeface="Arial" pitchFamily="34" charset="-122"/>
                <a:cs typeface="Arial" pitchFamily="34" charset="-120"/>
              </a:rPr>
              <a:t>KEY INSIGHT</a:t>
            </a:r>
            <a:endParaRPr lang="en-US" sz="1200" dirty="0"/>
          </a:p>
        </p:txBody>
      </p:sp>
      <p:sp>
        <p:nvSpPr>
          <p:cNvPr id="10" name="Text 7"/>
          <p:cNvSpPr/>
          <p:nvPr/>
        </p:nvSpPr>
        <p:spPr>
          <a:xfrm>
            <a:off x="7031534" y="2499221"/>
            <a:ext cx="416415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Arial" pitchFamily="34" charset="0"/>
                <a:ea typeface="Arial" pitchFamily="34" charset="-122"/>
                <a:cs typeface="Arial" pitchFamily="34" charset="-120"/>
              </a:rPr>
              <a:t>Small hospitals get a bigger voice</a:t>
            </a:r>
            <a:endParaRPr lang="en-US" sz="2000" dirty="0"/>
          </a:p>
        </p:txBody>
      </p:sp>
      <p:sp>
        <p:nvSpPr>
          <p:cNvPr id="11" name="Text 8"/>
          <p:cNvSpPr/>
          <p:nvPr/>
        </p:nvSpPr>
        <p:spPr>
          <a:xfrm>
            <a:off x="7031534" y="3235821"/>
            <a:ext cx="416415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6F2"/>
                </a:solidFill>
                <a:latin typeface="Arial" pitchFamily="34" charset="0"/>
                <a:ea typeface="Arial" pitchFamily="34" charset="-122"/>
                <a:cs typeface="Arial" pitchFamily="34" charset="-120"/>
              </a:rPr>
              <a:t>Vote of the two smallest hospitals:</a:t>
            </a:r>
            <a:endParaRPr lang="en-US" sz="1400" dirty="0"/>
          </a:p>
        </p:txBody>
      </p:sp>
      <p:sp>
        <p:nvSpPr>
          <p:cNvPr id="12" name="Text 9"/>
          <p:cNvSpPr/>
          <p:nvPr/>
        </p:nvSpPr>
        <p:spPr>
          <a:xfrm>
            <a:off x="7031534" y="3611662"/>
            <a:ext cx="1078706"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6F2"/>
                </a:solidFill>
                <a:latin typeface="Arial" pitchFamily="34" charset="0"/>
                <a:ea typeface="Arial" pitchFamily="34" charset="-122"/>
                <a:cs typeface="Arial" pitchFamily="34" charset="-120"/>
              </a:rPr>
              <a:t>5.9%</a:t>
            </a:r>
            <a:endParaRPr lang="en-US" sz="3200" dirty="0"/>
          </a:p>
        </p:txBody>
      </p:sp>
      <p:sp>
        <p:nvSpPr>
          <p:cNvPr id="13" name="Text 10"/>
          <p:cNvSpPr/>
          <p:nvPr/>
        </p:nvSpPr>
        <p:spPr>
          <a:xfrm>
            <a:off x="7031534" y="4084042"/>
            <a:ext cx="9771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Arial" pitchFamily="34" charset="0"/>
                <a:ea typeface="Arial" pitchFamily="34" charset="-122"/>
                <a:cs typeface="Arial" pitchFamily="34" charset="-120"/>
              </a:rPr>
              <a:t>FedAvg</a:t>
            </a:r>
            <a:endParaRPr lang="en-US" sz="1200" dirty="0"/>
          </a:p>
        </p:txBody>
      </p:sp>
      <p:pic>
        <p:nvPicPr>
          <p:cNvPr id="14" name="Image 0" descr="arrow-right">    </p:cNvPr>
          <p:cNvPicPr>
            <a:picLocks noChangeAspect="1"/>
          </p:cNvPicPr>
          <p:nvPr/>
        </p:nvPicPr>
        <p:blipFill>
          <a:blip r:embed="rId1"/>
          <a:srcRect l="0" r="0" t="0" b="0"/>
          <a:stretch/>
        </p:blipFill>
        <p:spPr>
          <a:xfrm>
            <a:off x="8110240" y="3852863"/>
            <a:ext cx="406400" cy="203200"/>
          </a:xfrm>
          <a:prstGeom prst="rect">
            <a:avLst/>
          </a:prstGeom>
        </p:spPr>
      </p:pic>
      <p:sp>
        <p:nvSpPr>
          <p:cNvPr id="15" name="Text 11"/>
          <p:cNvSpPr/>
          <p:nvPr/>
        </p:nvSpPr>
        <p:spPr>
          <a:xfrm>
            <a:off x="8669040" y="3611662"/>
            <a:ext cx="13827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EC1E8"/>
                </a:solidFill>
                <a:latin typeface="Arial" pitchFamily="34" charset="0"/>
                <a:ea typeface="Arial" pitchFamily="34" charset="-122"/>
                <a:cs typeface="Arial" pitchFamily="34" charset="-120"/>
              </a:rPr>
              <a:t>40.8%</a:t>
            </a:r>
            <a:endParaRPr lang="en-US" sz="3200" dirty="0"/>
          </a:p>
        </p:txBody>
      </p:sp>
      <p:sp>
        <p:nvSpPr>
          <p:cNvPr id="16" name="Text 12"/>
          <p:cNvSpPr/>
          <p:nvPr/>
        </p:nvSpPr>
        <p:spPr>
          <a:xfrm>
            <a:off x="8669040" y="4084042"/>
            <a:ext cx="1203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Arial" pitchFamily="34" charset="0"/>
                <a:ea typeface="Arial" pitchFamily="34" charset="-122"/>
                <a:cs typeface="Arial" pitchFamily="34" charset="-120"/>
              </a:rPr>
              <a:t>Ours, round 10</a:t>
            </a:r>
            <a:endParaRPr lang="en-US" sz="1200" dirty="0"/>
          </a:p>
        </p:txBody>
      </p:sp>
      <p:sp>
        <p:nvSpPr>
          <p:cNvPr id="17" name="Text 13"/>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18" name="Text 14"/>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CHOOSING A 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OrdinalFed or FedProx?</a:t>
            </a:r>
            <a:endParaRPr lang="en-US" sz="3200" dirty="0"/>
          </a:p>
        </p:txBody>
      </p:sp>
      <p:sp>
        <p:nvSpPr>
          <p:cNvPr id="4" name="Shape 2"/>
          <p:cNvSpPr/>
          <p:nvPr/>
        </p:nvSpPr>
        <p:spPr>
          <a:xfrm>
            <a:off x="812800" y="1854101"/>
            <a:ext cx="5573911" cy="3625255"/>
          </a:xfrm>
          <a:custGeom>
            <a:avLst/>
            <a:gdLst/>
            <a:ahLst/>
            <a:cxnLst/>
            <a:rect l="l" t="t" r="r" b="b"/>
            <a:pathLst>
              <a:path w="5573911" h="3625255">
                <a:moveTo>
                  <a:pt x="5472311" y="0"/>
                </a:moveTo>
                <a:lnTo>
                  <a:pt x="5472311" y="0"/>
                </a:lnTo>
                <a:arcTo hR="101600" wR="101600" stAng="16200000" swAng="5400000"/>
                <a:lnTo>
                  <a:pt x="5573911" y="3523655"/>
                </a:lnTo>
                <a:arcTo hR="101600" wR="101600" stAng="0" swAng="5400000"/>
                <a:lnTo>
                  <a:pt x="101600" y="3625255"/>
                </a:lnTo>
                <a:arcTo hR="101600" wR="101600" stAng="5400000" swAng="5400000"/>
                <a:lnTo>
                  <a:pt x="0" y="3523655"/>
                </a:lnTo>
                <a:arcTo hR="95250" wR="101600" stAng="10800000" swAng="-5400000"/>
                <a:lnTo>
                  <a:pt x="5472311" y="3618905"/>
                </a:lnTo>
                <a:arcTo hR="95250" wR="95250" stAng="5400000" swAng="-5400000"/>
                <a:lnTo>
                  <a:pt x="5567561" y="101600"/>
                </a:lnTo>
                <a:arcTo hR="101600" wR="95250" stAng="0" swAng="-5400000"/>
                <a:close/>
              </a:path>
            </a:pathLst>
          </a:custGeom>
          <a:solidFill>
            <a:srgbClr val="E2E0D8"/>
          </a:solidFill>
          <a:ln/>
        </p:spPr>
      </p:sp>
      <p:sp>
        <p:nvSpPr>
          <p:cNvPr id="5" name="Shape 3"/>
          <p:cNvSpPr/>
          <p:nvPr/>
        </p:nvSpPr>
        <p:spPr>
          <a:xfrm>
            <a:off x="812800" y="1854101"/>
            <a:ext cx="5573911" cy="3625255"/>
          </a:xfrm>
          <a:custGeom>
            <a:avLst/>
            <a:gdLst/>
            <a:ahLst/>
            <a:cxnLst/>
            <a:rect l="l" t="t" r="r" b="b"/>
            <a:pathLst>
              <a:path w="5573911" h="3625255">
                <a:moveTo>
                  <a:pt x="101600" y="3625255"/>
                </a:moveTo>
                <a:lnTo>
                  <a:pt x="101600" y="3625255"/>
                </a:lnTo>
                <a:arcTo hR="101600" wR="101600" stAng="5400000" swAng="5400000"/>
                <a:lnTo>
                  <a:pt x="0" y="101600"/>
                </a:lnTo>
                <a:arcTo hR="101600" wR="101600" stAng="10800000" swAng="5400000"/>
                <a:lnTo>
                  <a:pt x="5472311" y="0"/>
                </a:lnTo>
                <a:arcTo hR="101600" wR="101600" stAng="16200000" swAng="5400000"/>
                <a:lnTo>
                  <a:pt x="5573911" y="101600"/>
                </a:lnTo>
                <a:arcTo hR="88900" wR="101600" stAng="0" swAng="-5400000"/>
                <a:lnTo>
                  <a:pt x="101600" y="12700"/>
                </a:lnTo>
                <a:arcTo hR="88900" wR="88900" stAng="16200000" swAng="-5400000"/>
                <a:lnTo>
                  <a:pt x="12700" y="3523655"/>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5554861" cy="3606205"/>
        </p:xfrm>
        <a:graphic>
          <a:graphicData uri="http://schemas.openxmlformats.org/drawingml/2006/table">
            <a:tbl>
              <a:tblPr/>
              <a:tblGrid>
                <a:gridCol w="1777556"/>
                <a:gridCol w="1888653"/>
                <a:gridCol w="1888653"/>
              </a:tblGrid>
              <a:tr h="446980">
                <a:tc>
                  <a:txBody>
                    <a:bodyPr/>
                    <a:lstStyle/>
                    <a:p>
                      <a:pPr indent="0" marL="0">
                        <a:lnSpc>
                          <a:spcPts val="1820"/>
                        </a:lnSpc>
                        <a:buNone/>
                      </a:pP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FedProx</a:t>
                      </a:r>
                      <a:endParaRPr lang="en-US" sz="1300" dirty="0">
                        <a:latin typeface="Arial" charset="0"/>
                        <a:ea typeface="Arial" charset="0"/>
                        <a:cs typeface="Arial" charset="0"/>
                      </a:endParaRPr>
                    </a:p>
                  </a:txBody>
                  <a:tcPr marL="127000" marR="127000" marT="101600" marB="1016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OrdinalFed (ours)</a:t>
                      </a:r>
                      <a:endParaRPr lang="en-US" sz="1300" dirty="0">
                        <a:latin typeface="Arial" charset="0"/>
                        <a:ea typeface="Arial" charset="0"/>
                        <a:cs typeface="Arial" charset="0"/>
                      </a:endParaRPr>
                    </a:p>
                  </a:txBody>
                  <a:tcPr marL="127000" marR="127000" marT="101600" marB="1016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r>
              <a:tr h="67806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What changes</a:t>
                      </a: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Training at every hospital</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Only the server</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67806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Work for hospitals</a:t>
                      </a: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Change code, tune a setting</a:t>
                      </a:r>
                      <a:endParaRPr lang="en-US" sz="1300" dirty="0">
                        <a:latin typeface="Arial" charset="0"/>
                        <a:ea typeface="Arial" charset="0"/>
                        <a:cs typeface="Arial" charset="0"/>
                      </a:endParaRPr>
                    </a:p>
                  </a:txBody>
                  <a:tcPr marL="127000" marR="1270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Nothing</a:t>
                      </a:r>
                      <a:endParaRPr lang="en-US" sz="1300" dirty="0">
                        <a:latin typeface="Arial" charset="0"/>
                        <a:ea typeface="Arial" charset="0"/>
                        <a:cs typeface="Arial" charset="0"/>
                      </a:endParaRPr>
                    </a:p>
                  </a:txBody>
                  <a:tcPr marL="127000" marR="1270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4698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Small hospitals</a:t>
                      </a: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Vote by size</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Fair vote</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67806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Grade 3 cases found</a:t>
                      </a: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0.31</a:t>
                      </a:r>
                      <a:endParaRPr lang="en-US" sz="1300" dirty="0">
                        <a:latin typeface="Arial" charset="0"/>
                        <a:ea typeface="Arial" charset="0"/>
                        <a:cs typeface="Arial" charset="0"/>
                      </a:endParaRPr>
                    </a:p>
                  </a:txBody>
                  <a:tcPr marL="127000" marR="1270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0.36 (better)</a:t>
                      </a:r>
                      <a:endParaRPr lang="en-US" sz="1300" dirty="0">
                        <a:latin typeface="Arial" charset="0"/>
                        <a:ea typeface="Arial" charset="0"/>
                        <a:cs typeface="Arial" charset="0"/>
                      </a:endParaRPr>
                    </a:p>
                  </a:txBody>
                  <a:tcPr marL="127000" marR="1270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67806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Worst score (steadiness)</a:t>
                      </a:r>
                      <a:endParaRPr lang="en-US" sz="1300" dirty="0">
                        <a:latin typeface="Arial" charset="0"/>
                        <a:ea typeface="Arial" charset="0"/>
                        <a:cs typeface="Arial" charset="0"/>
                      </a:endParaRPr>
                    </a:p>
                  </a:txBody>
                  <a:tcPr marL="127000" marR="1270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0.641 (better)</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0.514</a:t>
                      </a:r>
                      <a:endParaRPr lang="en-US" sz="1300" dirty="0">
                        <a:latin typeface="Arial" charset="0"/>
                        <a:ea typeface="Arial" charset="0"/>
                        <a:cs typeface="Arial" charset="0"/>
                      </a:endParaRPr>
                    </a:p>
                  </a:txBody>
                  <a:tcPr marL="127000" marR="1270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bl>
          </a:graphicData>
        </a:graphic>
      </p:graphicFrame>
      <p:sp>
        <p:nvSpPr>
          <p:cNvPr id="7" name="Shape 4"/>
          <p:cNvSpPr/>
          <p:nvPr/>
        </p:nvSpPr>
        <p:spPr>
          <a:xfrm>
            <a:off x="6640711" y="1854101"/>
            <a:ext cx="4738489" cy="3625255"/>
          </a:xfrm>
          <a:prstGeom prst="roundRect">
            <a:avLst>
              <a:gd name="adj" fmla="val 3503"/>
            </a:avLst>
          </a:prstGeom>
          <a:solidFill>
            <a:srgbClr val="14213D"/>
          </a:solidFill>
          <a:ln/>
        </p:spPr>
      </p:sp>
      <p:sp>
        <p:nvSpPr>
          <p:cNvPr id="8" name="Text 5"/>
          <p:cNvSpPr/>
          <p:nvPr/>
        </p:nvSpPr>
        <p:spPr>
          <a:xfrm>
            <a:off x="6945511" y="2158901"/>
            <a:ext cx="42527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C1E8"/>
                </a:solidFill>
                <a:latin typeface="Arial" pitchFamily="34" charset="0"/>
                <a:ea typeface="Arial" pitchFamily="34" charset="-122"/>
                <a:cs typeface="Arial" pitchFamily="34" charset="-120"/>
              </a:rPr>
              <a:t>USE ORDINALFED WHEN…</a:t>
            </a:r>
            <a:endParaRPr lang="en-US" sz="1200" dirty="0"/>
          </a:p>
        </p:txBody>
      </p:sp>
      <p:pic>
        <p:nvPicPr>
          <p:cNvPr id="9" name="Image 0" descr="Check">    </p:cNvPr>
          <p:cNvPicPr>
            <a:picLocks noChangeAspect="1"/>
          </p:cNvPicPr>
          <p:nvPr/>
        </p:nvPicPr>
        <p:blipFill>
          <a:blip r:embed="rId1"/>
          <a:srcRect l="0" r="0" t="0" b="0"/>
          <a:stretch/>
        </p:blipFill>
        <p:spPr>
          <a:xfrm>
            <a:off x="6945511" y="2499221"/>
            <a:ext cx="228600" cy="228600"/>
          </a:xfrm>
          <a:prstGeom prst="rect">
            <a:avLst/>
          </a:prstGeom>
        </p:spPr>
      </p:pic>
      <p:sp>
        <p:nvSpPr>
          <p:cNvPr id="10" name="Text 6"/>
          <p:cNvSpPr/>
          <p:nvPr/>
        </p:nvSpPr>
        <p:spPr>
          <a:xfrm>
            <a:off x="7275711" y="2499221"/>
            <a:ext cx="39126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Arial" pitchFamily="34" charset="0"/>
                <a:ea typeface="Arial" pitchFamily="34" charset="-122"/>
                <a:cs typeface="Arial" pitchFamily="34" charset="-120"/>
              </a:rPr>
              <a:t>You can change only the server, not every hospital’s software</a:t>
            </a:r>
            <a:endParaRPr lang="en-US" sz="1400" dirty="0"/>
          </a:p>
        </p:txBody>
      </p:sp>
      <p:pic>
        <p:nvPicPr>
          <p:cNvPr id="11" name="Image 1" descr="Check">    </p:cNvPr>
          <p:cNvPicPr>
            <a:picLocks noChangeAspect="1"/>
          </p:cNvPicPr>
          <p:nvPr/>
        </p:nvPicPr>
        <p:blipFill>
          <a:blip r:embed="rId2"/>
          <a:srcRect l="0" r="0" t="0" b="0"/>
          <a:stretch/>
        </p:blipFill>
        <p:spPr>
          <a:xfrm>
            <a:off x="6945511" y="3106241"/>
            <a:ext cx="228600" cy="228600"/>
          </a:xfrm>
          <a:prstGeom prst="rect">
            <a:avLst/>
          </a:prstGeom>
        </p:spPr>
      </p:pic>
      <p:sp>
        <p:nvSpPr>
          <p:cNvPr id="12" name="Text 7"/>
          <p:cNvSpPr/>
          <p:nvPr/>
        </p:nvSpPr>
        <p:spPr>
          <a:xfrm>
            <a:off x="7275711" y="3106241"/>
            <a:ext cx="39126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Arial" pitchFamily="34" charset="0"/>
                <a:ea typeface="Arial" pitchFamily="34" charset="-122"/>
                <a:cs typeface="Arial" pitchFamily="34" charset="-120"/>
              </a:rPr>
              <a:t>Hospital sizes are very different, so small clinics get drowned out</a:t>
            </a:r>
            <a:endParaRPr lang="en-US" sz="1400" dirty="0"/>
          </a:p>
        </p:txBody>
      </p:sp>
      <p:pic>
        <p:nvPicPr>
          <p:cNvPr id="13" name="Image 2" descr="Check">    </p:cNvPr>
          <p:cNvPicPr>
            <a:picLocks noChangeAspect="1"/>
          </p:cNvPicPr>
          <p:nvPr/>
        </p:nvPicPr>
        <p:blipFill>
          <a:blip r:embed="rId3"/>
          <a:srcRect l="0" r="0" t="0" b="0"/>
          <a:stretch/>
        </p:blipFill>
        <p:spPr>
          <a:xfrm>
            <a:off x="6945511" y="3713262"/>
            <a:ext cx="228600" cy="228600"/>
          </a:xfrm>
          <a:prstGeom prst="rect">
            <a:avLst/>
          </a:prstGeom>
        </p:spPr>
      </p:pic>
      <p:sp>
        <p:nvSpPr>
          <p:cNvPr id="14" name="Text 8"/>
          <p:cNvSpPr/>
          <p:nvPr/>
        </p:nvSpPr>
        <p:spPr>
          <a:xfrm>
            <a:off x="7275711" y="3713262"/>
            <a:ext cx="39126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Arial" pitchFamily="34" charset="0"/>
                <a:ea typeface="Arial" pitchFamily="34" charset="-122"/>
                <a:cs typeface="Arial" pitchFamily="34" charset="-120"/>
              </a:rPr>
              <a:t>Finding rare, serious cases (Grade 3) matters</a:t>
            </a:r>
            <a:endParaRPr lang="en-US" sz="1400" dirty="0"/>
          </a:p>
        </p:txBody>
      </p:sp>
      <p:pic>
        <p:nvPicPr>
          <p:cNvPr id="15" name="Image 3" descr="line">    </p:cNvPr>
          <p:cNvPicPr>
            <a:picLocks noChangeAspect="1"/>
          </p:cNvPicPr>
          <p:nvPr/>
        </p:nvPicPr>
        <p:blipFill>
          <a:blip r:embed="rId4"/>
          <a:srcRect l="-16" r="-16" t="0" b="0"/>
          <a:stretch/>
        </p:blipFill>
        <p:spPr>
          <a:xfrm>
            <a:off x="6945511" y="4080272"/>
            <a:ext cx="4128889" cy="12700"/>
          </a:xfrm>
          <a:prstGeom prst="rect">
            <a:avLst/>
          </a:prstGeom>
        </p:spPr>
      </p:pic>
      <p:sp>
        <p:nvSpPr>
          <p:cNvPr id="16" name="Text 9"/>
          <p:cNvSpPr/>
          <p:nvPr/>
        </p:nvSpPr>
        <p:spPr>
          <a:xfrm>
            <a:off x="6945511" y="4219972"/>
            <a:ext cx="42527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FD0E4"/>
                </a:solidFill>
                <a:latin typeface="Arial" pitchFamily="34" charset="0"/>
                <a:ea typeface="Arial" pitchFamily="34" charset="-122"/>
                <a:cs typeface="Arial" pitchFamily="34" charset="-120"/>
              </a:rPr>
              <a:t>Best of both:</a:t>
            </a:r>
            <a:r>
              <a:rPr lang="en-US" sz="1300" dirty="0">
                <a:solidFill>
                  <a:srgbClr val="BFD0E4"/>
                </a:solidFill>
                <a:latin typeface="Arial" pitchFamily="34" charset="0"/>
                <a:ea typeface="Arial" pitchFamily="34" charset="-122"/>
                <a:cs typeface="Arial" pitchFamily="34" charset="-120"/>
              </a:rPr>
              <a:t> use them together. That reached 0.627.</a:t>
            </a:r>
            <a:endParaRPr lang="en-US" sz="1300" dirty="0"/>
          </a:p>
        </p:txBody>
      </p:sp>
      <p:sp>
        <p:nvSpPr>
          <p:cNvPr id="17" name="Text 10"/>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Arial" pitchFamily="34" charset="0"/>
                <a:ea typeface="Arial" pitchFamily="34" charset="-122"/>
                <a:cs typeface="Arial" pitchFamily="34" charset="-120"/>
              </a:rPr>
              <a:t>OrdinalFed · IEEE WIECON-ECE 2026</a:t>
            </a:r>
            <a:endParaRPr lang="en-US" sz="1200" dirty="0"/>
          </a:p>
        </p:txBody>
      </p:sp>
      <p:sp>
        <p:nvSpPr>
          <p:cNvPr id="18" name="Text 11"/>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Arial" pitchFamily="34" charset="0"/>
                <a:ea typeface="Arial" pitchFamily="34" charset="-122"/>
                <a:cs typeface="Arial"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More results</a:t>
            </a:r>
            <a:endParaRPr lang="en-US" sz="3200" dirty="0"/>
          </a:p>
        </p:txBody>
      </p:sp>
      <p:sp>
        <p:nvSpPr>
          <p:cNvPr id="4" name="Shape 2"/>
          <p:cNvSpPr/>
          <p:nvPr/>
        </p:nvSpPr>
        <p:spPr>
          <a:xfrm>
            <a:off x="815975" y="1831876"/>
            <a:ext cx="5175250" cy="1817191"/>
          </a:xfrm>
          <a:prstGeom prst="roundRect">
            <a:avLst>
              <a:gd name="adj" fmla="val 6814"/>
            </a:avLst>
          </a:prstGeom>
          <a:solidFill>
            <a:srgbClr val="FEFDFB"/>
          </a:solidFill>
          <a:ln w="6350">
            <a:solidFill>
              <a:srgbClr val="D5DEE9"/>
            </a:solidFill>
            <a:prstDash val="solid"/>
          </a:ln>
        </p:spPr>
      </p:sp>
      <p:sp>
        <p:nvSpPr>
          <p:cNvPr id="5" name="Text 3"/>
          <p:cNvSpPr/>
          <p:nvPr/>
        </p:nvSpPr>
        <p:spPr>
          <a:xfrm>
            <a:off x="1073150" y="2089051"/>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 0.01</a:t>
            </a:r>
            <a:endParaRPr lang="en-US" sz="3200" dirty="0"/>
          </a:p>
        </p:txBody>
      </p:sp>
      <p:sp>
        <p:nvSpPr>
          <p:cNvPr id="6" name="Text 4"/>
          <p:cNvSpPr/>
          <p:nvPr/>
        </p:nvSpPr>
        <p:spPr>
          <a:xfrm>
            <a:off x="1073150" y="2599531"/>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Difference on the easy splits</a:t>
            </a:r>
            <a:endParaRPr lang="en-US" sz="1500" dirty="0"/>
          </a:p>
        </p:txBody>
      </p:sp>
      <p:sp>
        <p:nvSpPr>
          <p:cNvPr id="7" name="Text 5"/>
          <p:cNvSpPr/>
          <p:nvPr/>
        </p:nvSpPr>
        <p:spPr>
          <a:xfrm>
            <a:off x="1073150" y="292973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All methods score about the same when the data are not very uneven.</a:t>
            </a:r>
            <a:endParaRPr lang="en-US" sz="1300" dirty="0"/>
          </a:p>
        </p:txBody>
      </p:sp>
      <p:sp>
        <p:nvSpPr>
          <p:cNvPr id="8" name="Shape 6"/>
          <p:cNvSpPr/>
          <p:nvPr/>
        </p:nvSpPr>
        <p:spPr>
          <a:xfrm>
            <a:off x="6200775" y="1831876"/>
            <a:ext cx="5175250" cy="1817191"/>
          </a:xfrm>
          <a:prstGeom prst="roundRect">
            <a:avLst>
              <a:gd name="adj" fmla="val 6814"/>
            </a:avLst>
          </a:prstGeom>
          <a:solidFill>
            <a:srgbClr val="FEFDFB"/>
          </a:solidFill>
          <a:ln w="6350">
            <a:solidFill>
              <a:srgbClr val="D5DEE9"/>
            </a:solidFill>
            <a:prstDash val="solid"/>
          </a:ln>
        </p:spPr>
      </p:sp>
      <p:sp>
        <p:nvSpPr>
          <p:cNvPr id="9" name="Text 7"/>
          <p:cNvSpPr/>
          <p:nvPr/>
        </p:nvSpPr>
        <p:spPr>
          <a:xfrm>
            <a:off x="6457950" y="2089051"/>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0.36</a:t>
            </a:r>
            <a:endParaRPr lang="en-US" sz="3200" dirty="0"/>
          </a:p>
        </p:txBody>
      </p:sp>
      <p:sp>
        <p:nvSpPr>
          <p:cNvPr id="10" name="Text 8"/>
          <p:cNvSpPr/>
          <p:nvPr/>
        </p:nvSpPr>
        <p:spPr>
          <a:xfrm>
            <a:off x="6457950" y="2599531"/>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Most Grade 3 cases found (ours)</a:t>
            </a:r>
            <a:endParaRPr lang="en-US" sz="1500" dirty="0"/>
          </a:p>
        </p:txBody>
      </p:sp>
      <p:sp>
        <p:nvSpPr>
          <p:cNvPr id="11" name="Text 9"/>
          <p:cNvSpPr/>
          <p:nvPr/>
        </p:nvSpPr>
        <p:spPr>
          <a:xfrm>
            <a:off x="6457950" y="2929731"/>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Others: 0.27–0.31. Grade 3 is the rarest serious grade.</a:t>
            </a:r>
            <a:endParaRPr lang="en-US" sz="1300" dirty="0"/>
          </a:p>
        </p:txBody>
      </p:sp>
      <p:sp>
        <p:nvSpPr>
          <p:cNvPr id="12" name="Shape 10"/>
          <p:cNvSpPr/>
          <p:nvPr/>
        </p:nvSpPr>
        <p:spPr>
          <a:xfrm>
            <a:off x="815975" y="3858617"/>
            <a:ext cx="5175250" cy="1586111"/>
          </a:xfrm>
          <a:prstGeom prst="roundRect">
            <a:avLst>
              <a:gd name="adj" fmla="val 7807"/>
            </a:avLst>
          </a:prstGeom>
          <a:solidFill>
            <a:srgbClr val="FEFDFB"/>
          </a:solidFill>
          <a:ln w="6350">
            <a:solidFill>
              <a:srgbClr val="D5DEE9"/>
            </a:solidFill>
            <a:prstDash val="solid"/>
          </a:ln>
        </p:spPr>
      </p:sp>
      <p:sp>
        <p:nvSpPr>
          <p:cNvPr id="13" name="Text 11"/>
          <p:cNvSpPr/>
          <p:nvPr/>
        </p:nvSpPr>
        <p:spPr>
          <a:xfrm>
            <a:off x="1073150" y="4115792"/>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0.60–0.66</a:t>
            </a:r>
            <a:endParaRPr lang="en-US" sz="3200" dirty="0"/>
          </a:p>
        </p:txBody>
      </p:sp>
      <p:sp>
        <p:nvSpPr>
          <p:cNvPr id="14" name="Text 12"/>
          <p:cNvSpPr/>
          <p:nvPr/>
        </p:nvSpPr>
        <p:spPr>
          <a:xfrm>
            <a:off x="1073150" y="4626273"/>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Score on a second dataset (APTOS 2019)</a:t>
            </a:r>
            <a:endParaRPr lang="en-US" sz="1500" dirty="0"/>
          </a:p>
        </p:txBody>
      </p:sp>
      <p:sp>
        <p:nvSpPr>
          <p:cNvPr id="15" name="Text 13"/>
          <p:cNvSpPr/>
          <p:nvPr/>
        </p:nvSpPr>
        <p:spPr>
          <a:xfrm>
            <a:off x="1073150" y="495647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Close to a model trained on all the data (0.641).</a:t>
            </a:r>
            <a:endParaRPr lang="en-US" sz="1300" dirty="0"/>
          </a:p>
        </p:txBody>
      </p:sp>
      <p:sp>
        <p:nvSpPr>
          <p:cNvPr id="16" name="Shape 14"/>
          <p:cNvSpPr/>
          <p:nvPr/>
        </p:nvSpPr>
        <p:spPr>
          <a:xfrm>
            <a:off x="6200775" y="3858617"/>
            <a:ext cx="5175250" cy="1586111"/>
          </a:xfrm>
          <a:prstGeom prst="roundRect">
            <a:avLst>
              <a:gd name="adj" fmla="val 7807"/>
            </a:avLst>
          </a:prstGeom>
          <a:solidFill>
            <a:srgbClr val="FEFDFB"/>
          </a:solidFill>
          <a:ln w="6350">
            <a:solidFill>
              <a:srgbClr val="D5DEE9"/>
            </a:solidFill>
            <a:prstDash val="solid"/>
          </a:ln>
        </p:spPr>
      </p:sp>
      <p:sp>
        <p:nvSpPr>
          <p:cNvPr id="17" name="Text 15"/>
          <p:cNvSpPr/>
          <p:nvPr/>
        </p:nvSpPr>
        <p:spPr>
          <a:xfrm>
            <a:off x="6457950" y="4115792"/>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Arial" pitchFamily="34" charset="0"/>
                <a:ea typeface="Arial" pitchFamily="34" charset="-122"/>
                <a:cs typeface="Arial" pitchFamily="34" charset="-120"/>
              </a:rPr>
              <a:t>1.2 s</a:t>
            </a:r>
            <a:endParaRPr lang="en-US" sz="3200" dirty="0"/>
          </a:p>
        </p:txBody>
      </p:sp>
      <p:sp>
        <p:nvSpPr>
          <p:cNvPr id="18" name="Text 16"/>
          <p:cNvSpPr/>
          <p:nvPr/>
        </p:nvSpPr>
        <p:spPr>
          <a:xfrm>
            <a:off x="6457950" y="4626273"/>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Extra server time per round</a:t>
            </a:r>
            <a:endParaRPr lang="en-US" sz="1500" dirty="0"/>
          </a:p>
        </p:txBody>
      </p:sp>
      <p:sp>
        <p:nvSpPr>
          <p:cNvPr id="19" name="Text 17"/>
          <p:cNvSpPr/>
          <p:nvPr/>
        </p:nvSpPr>
        <p:spPr>
          <a:xfrm>
            <a:off x="6457950" y="495647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Arial" pitchFamily="34" charset="0"/>
                <a:ea typeface="Arial" pitchFamily="34" charset="-122"/>
                <a:cs typeface="Arial" pitchFamily="34" charset="-120"/>
              </a:rPr>
              <a:t>Hospitals send nothing extra.</a:t>
            </a:r>
            <a:endParaRPr lang="en-US" sz="1300" dirty="0"/>
          </a:p>
        </p:txBody>
      </p:sp>
      <p:sp>
        <p:nvSpPr>
          <p:cNvPr id="20" name="Text 18"/>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Arial" pitchFamily="34" charset="0"/>
                <a:ea typeface="Arial" pitchFamily="34" charset="-122"/>
                <a:cs typeface="Arial" pitchFamily="34" charset="-120"/>
              </a:rPr>
              <a:t>OrdinalFed · IEEE WIECON-ECE 2026</a:t>
            </a:r>
            <a:endParaRPr lang="en-US" sz="1200" dirty="0"/>
          </a:p>
        </p:txBody>
      </p:sp>
      <p:sp>
        <p:nvSpPr>
          <p:cNvPr id="21" name="Text 19"/>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EC1E8"/>
                </a:solidFill>
                <a:latin typeface="Arial" pitchFamily="34" charset="0"/>
                <a:ea typeface="Arial" pitchFamily="34" charset="-122"/>
                <a:cs typeface="Arial" pitchFamily="34" charset="-120"/>
              </a:rPr>
              <a:t>CONCLUSION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Arial" pitchFamily="34" charset="0"/>
                <a:ea typeface="Arial" pitchFamily="34" charset="-122"/>
                <a:cs typeface="Arial" pitchFamily="34" charset="-120"/>
              </a:rPr>
              <a:t>Takeaways</a:t>
            </a:r>
            <a:endParaRPr lang="en-US" sz="3200" dirty="0"/>
          </a:p>
        </p:txBody>
      </p:sp>
      <p:sp>
        <p:nvSpPr>
          <p:cNvPr id="4" name="Text 2"/>
          <p:cNvSpPr/>
          <p:nvPr/>
        </p:nvSpPr>
        <p:spPr>
          <a:xfrm>
            <a:off x="812800" y="1946771"/>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Arial" pitchFamily="34" charset="0"/>
                <a:ea typeface="Arial" pitchFamily="34" charset="-122"/>
                <a:cs typeface="Arial" pitchFamily="34" charset="-120"/>
              </a:rPr>
              <a:t>1</a:t>
            </a:r>
            <a:endParaRPr lang="en-US" sz="1500" dirty="0"/>
          </a:p>
        </p:txBody>
      </p:sp>
      <p:sp>
        <p:nvSpPr>
          <p:cNvPr id="5" name="Text 3"/>
          <p:cNvSpPr/>
          <p:nvPr/>
        </p:nvSpPr>
        <p:spPr>
          <a:xfrm>
            <a:off x="1422400" y="1854101"/>
            <a:ext cx="61420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Arial" pitchFamily="34" charset="0"/>
                <a:ea typeface="Arial" pitchFamily="34" charset="-122"/>
                <a:cs typeface="Arial" pitchFamily="34" charset="-120"/>
              </a:rPr>
              <a:t>Our method stops most of FedAvg’s crash</a:t>
            </a:r>
            <a:endParaRPr lang="en-US" sz="2000" dirty="0"/>
          </a:p>
        </p:txBody>
      </p:sp>
      <p:sp>
        <p:nvSpPr>
          <p:cNvPr id="6" name="Text 4"/>
          <p:cNvSpPr/>
          <p:nvPr/>
        </p:nvSpPr>
        <p:spPr>
          <a:xfrm>
            <a:off x="1422400" y="2197001"/>
            <a:ext cx="52719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Arial" pitchFamily="34" charset="0"/>
                <a:ea typeface="Arial" pitchFamily="34" charset="-122"/>
                <a:cs typeface="Arial" pitchFamily="34" charset="-120"/>
              </a:rPr>
              <a:t>Worst score 0.378 → 0.514, and the hospitals change nothing</a:t>
            </a:r>
            <a:endParaRPr lang="en-US" sz="1400" dirty="0"/>
          </a:p>
        </p:txBody>
      </p:sp>
      <p:sp>
        <p:nvSpPr>
          <p:cNvPr id="7" name="Text 5"/>
          <p:cNvSpPr/>
          <p:nvPr/>
        </p:nvSpPr>
        <p:spPr>
          <a:xfrm>
            <a:off x="812800" y="2767112"/>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Arial" pitchFamily="34" charset="0"/>
                <a:ea typeface="Arial" pitchFamily="34" charset="-122"/>
                <a:cs typeface="Arial" pitchFamily="34" charset="-120"/>
              </a:rPr>
              <a:t>2</a:t>
            </a:r>
            <a:endParaRPr lang="en-US" sz="1500" dirty="0"/>
          </a:p>
        </p:txBody>
      </p:sp>
      <p:sp>
        <p:nvSpPr>
          <p:cNvPr id="8" name="Text 6"/>
          <p:cNvSpPr/>
          <p:nvPr/>
        </p:nvSpPr>
        <p:spPr>
          <a:xfrm>
            <a:off x="1422400" y="2674441"/>
            <a:ext cx="74193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Arial" pitchFamily="34" charset="0"/>
                <a:ea typeface="Arial" pitchFamily="34" charset="-122"/>
                <a:cs typeface="Arial" pitchFamily="34" charset="-120"/>
              </a:rPr>
              <a:t>It works because small hospitals get a bigger voice</a:t>
            </a:r>
            <a:endParaRPr lang="en-US" sz="2000" dirty="0"/>
          </a:p>
        </p:txBody>
      </p:sp>
      <p:sp>
        <p:nvSpPr>
          <p:cNvPr id="9" name="Text 7"/>
          <p:cNvSpPr/>
          <p:nvPr/>
        </p:nvSpPr>
        <p:spPr>
          <a:xfrm>
            <a:off x="1422400" y="3017341"/>
            <a:ext cx="636830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Arial" pitchFamily="34" charset="0"/>
                <a:ea typeface="Arial" pitchFamily="34" charset="-122"/>
                <a:cs typeface="Arial" pitchFamily="34" charset="-120"/>
              </a:rPr>
              <a:t>Equal votes work even better (0.630)</a:t>
            </a:r>
            <a:endParaRPr lang="en-US" sz="1400" dirty="0"/>
          </a:p>
        </p:txBody>
      </p:sp>
      <p:sp>
        <p:nvSpPr>
          <p:cNvPr id="10" name="Text 8"/>
          <p:cNvSpPr/>
          <p:nvPr/>
        </p:nvSpPr>
        <p:spPr>
          <a:xfrm>
            <a:off x="812800" y="3587452"/>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Arial" pitchFamily="34" charset="0"/>
                <a:ea typeface="Arial" pitchFamily="34" charset="-122"/>
                <a:cs typeface="Arial" pitchFamily="34" charset="-120"/>
              </a:rPr>
              <a:t>3</a:t>
            </a:r>
            <a:endParaRPr lang="en-US" sz="1500" dirty="0"/>
          </a:p>
        </p:txBody>
      </p:sp>
      <p:sp>
        <p:nvSpPr>
          <p:cNvPr id="11" name="Text 9"/>
          <p:cNvSpPr/>
          <p:nvPr/>
        </p:nvSpPr>
        <p:spPr>
          <a:xfrm>
            <a:off x="1422400" y="3494782"/>
            <a:ext cx="575869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Arial" pitchFamily="34" charset="0"/>
                <a:ea typeface="Arial" pitchFamily="34" charset="-122"/>
                <a:cs typeface="Arial" pitchFamily="34" charset="-120"/>
              </a:rPr>
              <a:t>FedProx is still the most steady method</a:t>
            </a:r>
            <a:endParaRPr lang="en-US" sz="2000" dirty="0"/>
          </a:p>
        </p:txBody>
      </p:sp>
      <p:sp>
        <p:nvSpPr>
          <p:cNvPr id="12" name="Text 10"/>
          <p:cNvSpPr/>
          <p:nvPr/>
        </p:nvSpPr>
        <p:spPr>
          <a:xfrm>
            <a:off x="1422400" y="3837682"/>
            <a:ext cx="49428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Arial" pitchFamily="34" charset="0"/>
                <a:ea typeface="Arial" pitchFamily="34" charset="-122"/>
                <a:cs typeface="Arial" pitchFamily="34" charset="-120"/>
              </a:rPr>
              <a:t>Worst score 0.641</a:t>
            </a:r>
            <a:endParaRPr lang="en-US" sz="1400" dirty="0"/>
          </a:p>
        </p:txBody>
      </p:sp>
      <p:sp>
        <p:nvSpPr>
          <p:cNvPr id="13" name="Text 11"/>
          <p:cNvSpPr/>
          <p:nvPr/>
        </p:nvSpPr>
        <p:spPr>
          <a:xfrm>
            <a:off x="812800" y="439132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FD0E4"/>
                </a:solidFill>
                <a:latin typeface="Arial" pitchFamily="34" charset="0"/>
                <a:ea typeface="Arial" pitchFamily="34" charset="-122"/>
                <a:cs typeface="Arial" pitchFamily="34" charset="-120"/>
              </a:rPr>
              <a:t>Next:</a:t>
            </a:r>
            <a:r>
              <a:rPr lang="en-US" sz="1300" dirty="0">
                <a:solidFill>
                  <a:srgbClr val="BFD0E4"/>
                </a:solidFill>
                <a:latin typeface="Arial" pitchFamily="34" charset="0"/>
                <a:ea typeface="Arial" pitchFamily="34" charset="-122"/>
                <a:cs typeface="Arial" pitchFamily="34" charset="-120"/>
              </a:rPr>
              <a:t> more test images, bigger images and more datasets.</a:t>
            </a:r>
            <a:endParaRPr lang="en-US" sz="1300" dirty="0"/>
          </a:p>
        </p:txBody>
      </p:sp>
      <p:sp>
        <p:nvSpPr>
          <p:cNvPr id="14" name="Text 12"/>
          <p:cNvSpPr/>
          <p:nvPr/>
        </p:nvSpPr>
        <p:spPr>
          <a:xfrm>
            <a:off x="812800" y="6238280"/>
            <a:ext cx="31811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Arial" pitchFamily="34" charset="0"/>
                <a:ea typeface="Arial" pitchFamily="34" charset="-122"/>
                <a:cs typeface="Arial" pitchFamily="34" charset="-120"/>
              </a:rPr>
              <a:t>OrdinalFed · IEEE WIECON-ECE 2026</a:t>
            </a:r>
            <a:endParaRPr lang="en-US" sz="1200" dirty="0"/>
          </a:p>
        </p:txBody>
      </p:sp>
      <p:sp>
        <p:nvSpPr>
          <p:cNvPr id="15" name="Text 13"/>
          <p:cNvSpPr/>
          <p:nvPr/>
        </p:nvSpPr>
        <p:spPr>
          <a:xfrm>
            <a:off x="11158835" y="6238280"/>
            <a:ext cx="220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BF"/>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3809762" y="2082800"/>
            <a:ext cx="4572476" cy="825500"/>
          </a:xfrm>
          <a:prstGeom prst="rect">
            <a:avLst/>
          </a:prstGeom>
          <a:noFill/>
          <a:ln/>
        </p:spPr>
        <p:txBody>
          <a:bodyPr wrap="square" lIns="0" tIns="0" rIns="0" bIns="0" rtlCol="0" anchor="t">
            <a:normAutofit/>
          </a:bodyPr>
          <a:lstStyle/>
          <a:p>
            <a:pPr algn="ctr" indent="0" marL="0">
              <a:lnSpc>
                <a:spcPts val="6300"/>
              </a:lnSpc>
              <a:buNone/>
            </a:pPr>
            <a:r>
              <a:rPr lang="en-US" sz="6000" b="1" i="0" dirty="0">
                <a:solidFill>
                  <a:srgbClr val="F7F6F2"/>
                </a:solidFill>
                <a:latin typeface="Arial" pitchFamily="34" charset="0"/>
                <a:ea typeface="Arial" pitchFamily="34" charset="-122"/>
                <a:cs typeface="Arial" pitchFamily="34" charset="-120"/>
              </a:rPr>
              <a:t>Thank you</a:t>
            </a:r>
            <a:endParaRPr lang="en-US" sz="6000" dirty="0"/>
          </a:p>
        </p:txBody>
      </p:sp>
      <p:sp>
        <p:nvSpPr>
          <p:cNvPr id="3" name="Text 1"/>
          <p:cNvSpPr/>
          <p:nvPr/>
        </p:nvSpPr>
        <p:spPr>
          <a:xfrm>
            <a:off x="4754761" y="3060700"/>
            <a:ext cx="2682478" cy="472380"/>
          </a:xfrm>
          <a:prstGeom prst="rect">
            <a:avLst/>
          </a:prstGeom>
          <a:noFill/>
          <a:ln/>
        </p:spPr>
        <p:txBody>
          <a:bodyPr wrap="square" lIns="0" tIns="0" rIns="0" bIns="0" rtlCol="0" anchor="t">
            <a:normAutofit/>
          </a:bodyPr>
          <a:lstStyle/>
          <a:p>
            <a:pPr algn="ctr" indent="0" marL="0">
              <a:lnSpc>
                <a:spcPts val="3520"/>
              </a:lnSpc>
              <a:buNone/>
            </a:pPr>
            <a:r>
              <a:rPr lang="en-US" sz="3200" b="1" dirty="0">
                <a:solidFill>
                  <a:srgbClr val="9EC1E8"/>
                </a:solidFill>
                <a:latin typeface="Arial" pitchFamily="34" charset="0"/>
                <a:ea typeface="Arial" pitchFamily="34" charset="-122"/>
                <a:cs typeface="Arial" pitchFamily="34" charset="-120"/>
              </a:rPr>
              <a:t>Questions?</a:t>
            </a:r>
            <a:endParaRPr lang="en-US" sz="3200" dirty="0"/>
          </a:p>
        </p:txBody>
      </p:sp>
      <p:sp>
        <p:nvSpPr>
          <p:cNvPr id="4" name="Shape 2"/>
          <p:cNvSpPr/>
          <p:nvPr/>
        </p:nvSpPr>
        <p:spPr>
          <a:xfrm>
            <a:off x="5308600" y="3685480"/>
            <a:ext cx="254000" cy="254000"/>
          </a:xfrm>
          <a:prstGeom prst="roundRect">
            <a:avLst>
              <a:gd name="adj" fmla="val 20000"/>
            </a:avLst>
          </a:prstGeom>
          <a:solidFill>
            <a:srgbClr val="DCE8F5"/>
          </a:solidFill>
          <a:ln/>
        </p:spPr>
      </p:sp>
      <p:sp>
        <p:nvSpPr>
          <p:cNvPr id="5" name="Shape 3"/>
          <p:cNvSpPr/>
          <p:nvPr/>
        </p:nvSpPr>
        <p:spPr>
          <a:xfrm>
            <a:off x="5638800" y="3685480"/>
            <a:ext cx="254000" cy="254000"/>
          </a:xfrm>
          <a:prstGeom prst="roundRect">
            <a:avLst>
              <a:gd name="adj" fmla="val 20000"/>
            </a:avLst>
          </a:prstGeom>
          <a:solidFill>
            <a:srgbClr val="A9C8EA"/>
          </a:solidFill>
          <a:ln/>
        </p:spPr>
      </p:sp>
      <p:sp>
        <p:nvSpPr>
          <p:cNvPr id="6" name="Shape 4"/>
          <p:cNvSpPr/>
          <p:nvPr/>
        </p:nvSpPr>
        <p:spPr>
          <a:xfrm>
            <a:off x="5969000" y="3685480"/>
            <a:ext cx="254000" cy="254000"/>
          </a:xfrm>
          <a:prstGeom prst="roundRect">
            <a:avLst>
              <a:gd name="adj" fmla="val 20000"/>
            </a:avLst>
          </a:prstGeom>
          <a:solidFill>
            <a:srgbClr val="6FA3D9"/>
          </a:solidFill>
          <a:ln/>
        </p:spPr>
      </p:sp>
      <p:sp>
        <p:nvSpPr>
          <p:cNvPr id="7" name="Shape 5"/>
          <p:cNvSpPr/>
          <p:nvPr/>
        </p:nvSpPr>
        <p:spPr>
          <a:xfrm>
            <a:off x="6299200" y="3685480"/>
            <a:ext cx="254000" cy="254000"/>
          </a:xfrm>
          <a:prstGeom prst="roundRect">
            <a:avLst>
              <a:gd name="adj" fmla="val 20000"/>
            </a:avLst>
          </a:prstGeom>
          <a:solidFill>
            <a:srgbClr val="3A78BF"/>
          </a:solidFill>
          <a:ln/>
        </p:spPr>
      </p:sp>
      <p:sp>
        <p:nvSpPr>
          <p:cNvPr id="8" name="Shape 6"/>
          <p:cNvSpPr/>
          <p:nvPr/>
        </p:nvSpPr>
        <p:spPr>
          <a:xfrm>
            <a:off x="6635750" y="3691830"/>
            <a:ext cx="241300" cy="241300"/>
          </a:xfrm>
          <a:prstGeom prst="roundRect">
            <a:avLst>
              <a:gd name="adj" fmla="val 18421"/>
            </a:avLst>
          </a:prstGeom>
          <a:solidFill>
            <a:srgbClr val="1F4E8C"/>
          </a:solidFill>
          <a:ln w="12700">
            <a:solidFill>
              <a:srgbClr val="6FA3D9"/>
            </a:solidFill>
            <a:prstDash val="solid"/>
          </a:ln>
        </p:spPr>
      </p:sp>
      <p:sp>
        <p:nvSpPr>
          <p:cNvPr id="9" name="Text 7"/>
          <p:cNvSpPr/>
          <p:nvPr/>
        </p:nvSpPr>
        <p:spPr>
          <a:xfrm>
            <a:off x="3631654" y="4117280"/>
            <a:ext cx="4928592"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F7F6F2"/>
                </a:solidFill>
                <a:latin typeface="Arial" pitchFamily="34" charset="0"/>
                <a:ea typeface="Arial" pitchFamily="34" charset="-122"/>
                <a:cs typeface="Arial" pitchFamily="34" charset="-120"/>
              </a:rPr>
              <a:t>Md Tamim Hossain · tamim0072276@gmail.com</a:t>
            </a:r>
            <a:endParaRPr lang="en-US" sz="1500" dirty="0"/>
          </a:p>
        </p:txBody>
      </p:sp>
      <p:sp>
        <p:nvSpPr>
          <p:cNvPr id="10" name="Text 8"/>
          <p:cNvSpPr/>
          <p:nvPr/>
        </p:nvSpPr>
        <p:spPr>
          <a:xfrm>
            <a:off x="2939534" y="4561780"/>
            <a:ext cx="63129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D0E4"/>
                </a:solidFill>
                <a:latin typeface="Arial" pitchFamily="34" charset="0"/>
                <a:ea typeface="Arial" pitchFamily="34" charset="-122"/>
                <a:cs typeface="Arial" pitchFamily="34" charset="-120"/>
              </a:rPr>
              <a:t>Department of Computer Science and Engineering, MIST, Dhaka, Bangladesh</a:t>
            </a:r>
            <a:endParaRPr lang="en-US" sz="1200" dirty="0"/>
          </a:p>
        </p:txBody>
      </p:sp>
    </p:spTree>
  </p:cSld>
  <p:clrMapOvr>
    <a:masterClrMapping/>
  </p:clrMapOvr>
</p:sld>
</file>

<file path=ppt/theme/theme1.xml><?xml version="1.0" encoding="utf-8"?>
<a:theme xmlns:a="http://schemas.openxmlformats.org/drawingml/2006/main" name="OrdinalFed – IEEE WIECON-ECE 2026">
  <a:themeElements>
    <a:clrScheme name="OrdinalFed – IEEE WIECON-ECE 2026">
      <a:dk1>
        <a:srgbClr val="14213D"/>
      </a:dk1>
      <a:lt1>
        <a:srgbClr val="F7F6F2"/>
      </a:lt1>
      <a:dk2>
        <a:srgbClr val="4D566A"/>
      </a:dk2>
      <a:lt2>
        <a:srgbClr val="E0E1E0"/>
      </a:lt2>
      <a:accent1>
        <a:srgbClr val="2F6FB3"/>
      </a:accent1>
      <a:accent2>
        <a:srgbClr val="9EC1E8"/>
      </a:accent2>
      <a:accent3>
        <a:srgbClr val="A9C8EA"/>
      </a:accent3>
      <a:accent4>
        <a:srgbClr val="1F4E8C"/>
      </a:accent4>
      <a:accent5>
        <a:srgbClr val="D9622B"/>
      </a:accent5>
      <a:accent6>
        <a:srgbClr val="B4501F"/>
      </a:accent6>
      <a:hlink>
        <a:srgbClr val="0563C1"/>
      </a:hlink>
      <a:folHlink>
        <a:srgbClr val="954F72"/>
      </a:folHlink>
    </a:clrScheme>
    <a:fontScheme name="OrdinalFed – IEEE WIECON-ECE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OrdinalFed – IEEE WIECON-ECE 2026</dc:title>
  <dc:subject/>
  <dc:creator/>
  <cp:lastModifiedBy/>
  <cp:revision>1</cp:revision>
  <dcterms:created xsi:type="dcterms:W3CDTF">2026-10-30T01:04:45Z</dcterms:created>
  <dcterms:modified xsi:type="dcterms:W3CDTF">2026-10-30T01:04:45Z</dcterms:modified>
</cp:coreProperties>
</file>