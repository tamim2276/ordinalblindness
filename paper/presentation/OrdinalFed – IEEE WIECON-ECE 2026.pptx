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I am Md Tamim Hossain from the Department of Computer Science and Engineering, MIST. Today I will present our paper, “OrdinalFed: Federated Learning with Ordinal-Aware Aggregation for Diabetic Retinopathy Grading.” This is joint work with Najifa Raksanda, M. M. Tamim Sharif and Aria Nawshin Ashka.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Diabetic retinopathy, or DR, is damage to the small blood vessels of the retina caused by diabetes. It is one of the main causes of preventable blindness. In Bangladesh alone, more than 13 million people have diabetes, and outside the big cities there are very few eye specialists. Doctors grade DR on five levels, from Grade 0, no disease, to Grade 4, the most severe. Finding Grade 2 and above early can prevent vision loss. So an automatic grading model would be very useful.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 learning models grade DR well when all images are collected in one place. But privacy rules make it hard for hospitals to share patient images. Federated learning solves this. Each hospital trains the model on its own images. Then it sends only the model weights to a server, never the images. The server combines them into one global model and sends it back. This repeats for several rounds. The standard way to combine the models is called FedAvg. It weights each hospital by how many images it has.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problems. First, hospitals see very different patients. A screening clinic sees mostly healthy eyes, while a referral hospital sees many severe cases. When the data are this uneven, FedAvg can collapse. In our experiments under extreme skew, its test QWK dropped from 0.647 in its best round to 0.378 in its worst. QWK is the standard score for ordered grades: 1 means perfect, and far-off mistakes cost more. Second, the usual loss, cross-entropy, ignores the order of the grades. For cross-entropy, calling a Grade 4 image Grade 0 is no worse than calling it Grade 3. But clinically, the first mistake is much worse.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method, OrdinalFed, has two parts. The first part works at each hospital. We add a distance penalty to cross-entropy. The model predicts an expected grade, and we penalise the squared distance from the true grade. So predicting Grade 0 for a Grade 4 image costs 16 times more than predicting Grade 3. The second part works at the server. The server keeps a small, balanced set of 50 images, 10 from each grade. After each round, it scores every hospital’s model on these images using QWK, and gives better models more weight. The hospitals do not need to change anything, and no extra data is 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the server sets the weights. First, it scores each model on its 50 images. Second, a softmax turns these scores into quality weights. Third, it mixes two things: each hospital’s share of the images, and its quality weight. A factor called beta controls the mix. In round 1, beta is 0.5, so image counts and quality count equally. Beta then falls smoothly to zero, so in the last round only quality is used. We never drop a hospital, because a score from only 50 images is noisy.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tested on the DDR dataset, which has 12,522 gradable fundus images, split into training, validation and test sets. We used five hospital clients and an EfficientNet-B3 model at 224 by 224 pixels. Each method ran for 10 rounds with 5 local epochs, and every experiment was repeated with three random seeds. We compared OrdinalFed with FedAvg, FedProx, an accuracy-weighted baseline called AccWt, and OrdinalFed combined with FedProx. We also tested every trained model, without retraining, on a second dataset, APTOS 2019.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split the data across the five clients in three ways. Each bar is one client, and the colours show its mix of grades. In the IID split, on the left, every client gets a random, similar mix. The middle panel is the hard case, a Dirichlet split with alpha 0.1. Here each client sees mostly one grade. Client 0 has only 32 images, all Grade 0, and Client 4 has 2,087 images, almost all Grade 2. The right panel models five real types of clinic, from screening clinics to specialist hospitals.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figure shows the test QWK after each round. Orange is FedAvg, green is FedProx, blue is OrdinalFed, and the dashed line is the centralised model trained on all the data. On the IID and real-site splits, on the left and right, all methods stay close to the centralised model. The middle panel is the extreme skew. FedAvg collapses from round 5 onwards. OrdinalFed avoids the collapse, but it goes up and down. FedProx stays flat.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numbers for the worst round under extreme skew, averaged over three seeds. FedAvg drops to 0.378. OrdinalFed raises the worst round to 0.514, and the mean over all rounds from 0.535 to 0.604. But FedProx, which changes local training, is the most stable method, at 0.641. Adding FedProx’s term to OrdinalFed brings it close, at 0.627, but it does not beat FedProx.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OrdinalFed help? We removed one part at a time. The OrdinalLoss alone does not stop the collapse: 0.380, the same as FedAvg. QWK weighting raises the worst round to 0.586. But simply giving every hospital the same weight does even better, at 0.630. The logged weights explain this. The two smallest clients hold 5.9% of the images, so FedAvg gives them 5.9% of the weight. OrdinalFed raises their weight to 40.8% by round 10. So the real gain comes from giving small hospitals a bigger voice. With only 50 server images, the QWK scores themselves are too noisy to rank the hospitals.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more results. On the IID and realistic multi-site splits, all methods were within 0.01 QWK of each other, so they perform about the same when the skew is mild. OrdinalFed had the best recall on Grade 3, the rarest severe grade: 0.36, against 0.27 to 0.31 for the others. On the external APTOS dataset, all models scored between about 0.60 and 0.66, close to the centralised model’s 0.641, so they transfer well. And the server cost is small: 1.2 seconds per round, with no extra communication.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there are three takeaways. First, OrdinalFed’s server-side weighting prevents most of FedAvg’s collapse under extreme skew, with no change at the hospitals and no extra communication. Second, the gain comes from giving small hospitals more weight; equal weights work even better. Third, FedProx is still the most stable method. Our study also has limits: the 50-image server set is small, no method detects Grade 1 well, and we trained on one dataset at low resolution. In future work, we will test larger server sets, higher resolution, more datasets, and formal privacy guarantees.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listening. I am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46980"/>
          </a:xfrm>
          <a:prstGeom prst="rect">
            <a:avLst/>
          </a:prstGeom>
          <a:noFill/>
          <a:ln/>
        </p:spPr>
        <p:txBody>
          <a:bodyPr wrap="square" lIns="0" tIns="0" rIns="0" bIns="0" rtlCol="0" anchor="t"/>
          <a:lstStyle>
            <a:lvl1pPr algn="l" indent="0" marL="0">
              <a:lnSpc>
                <a:spcPct val="115000"/>
              </a:lnSpc>
              <a:buNone/>
              <a:defRPr lang="en-US" sz="3200" dirty="0">
                <a:solidFill>
                  <a:srgbClr val="14213D"/>
                </a:solidFill>
                <a:latin typeface="DM Sans" pitchFamily="34" charset="0"/>
                <a:ea typeface="DM Sans" pitchFamily="34" charset="-122"/>
                <a:cs typeface="DM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01"/>
            <a:ext cx="10566400" cy="4191099"/>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46980"/>
          </a:xfrm>
          <a:prstGeom prst="rect">
            <a:avLst/>
          </a:prstGeom>
          <a:noFill/>
          <a:ln/>
        </p:spPr>
        <p:txBody>
          <a:bodyPr wrap="square" lIns="0" tIns="0" rIns="0" bIns="0" rtlCol="0" anchor="t"/>
          <a:lstStyle>
            <a:lvl1pPr algn="l" indent="0" marL="0">
              <a:lnSpc>
                <a:spcPct val="115000"/>
              </a:lnSpc>
              <a:buNone/>
              <a:defRPr lang="en-US" sz="3200" dirty="0">
                <a:solidFill>
                  <a:srgbClr val="14213D"/>
                </a:solidFill>
                <a:latin typeface="DM Sans" pitchFamily="34" charset="0"/>
                <a:ea typeface="DM Sans" pitchFamily="34" charset="-122"/>
                <a:cs typeface="DM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01"/>
            <a:ext cx="10566400" cy="4191099"/>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9550400" y="812800"/>
            <a:ext cx="304800" cy="304800"/>
          </a:xfrm>
          <a:prstGeom prst="roundRect">
            <a:avLst>
              <a:gd name="adj" fmla="val 20833"/>
            </a:avLst>
          </a:prstGeom>
          <a:solidFill>
            <a:srgbClr val="DCE8F5"/>
          </a:solidFill>
          <a:ln/>
        </p:spPr>
      </p:sp>
      <p:sp>
        <p:nvSpPr>
          <p:cNvPr id="3" name="Shape 1"/>
          <p:cNvSpPr/>
          <p:nvPr/>
        </p:nvSpPr>
        <p:spPr>
          <a:xfrm>
            <a:off x="9931400" y="812800"/>
            <a:ext cx="304800" cy="304800"/>
          </a:xfrm>
          <a:prstGeom prst="roundRect">
            <a:avLst>
              <a:gd name="adj" fmla="val 20833"/>
            </a:avLst>
          </a:prstGeom>
          <a:solidFill>
            <a:srgbClr val="A9C8EA"/>
          </a:solidFill>
          <a:ln/>
        </p:spPr>
      </p:sp>
      <p:sp>
        <p:nvSpPr>
          <p:cNvPr id="4" name="Shape 2"/>
          <p:cNvSpPr/>
          <p:nvPr/>
        </p:nvSpPr>
        <p:spPr>
          <a:xfrm>
            <a:off x="10312400" y="812800"/>
            <a:ext cx="304800" cy="304800"/>
          </a:xfrm>
          <a:prstGeom prst="roundRect">
            <a:avLst>
              <a:gd name="adj" fmla="val 20833"/>
            </a:avLst>
          </a:prstGeom>
          <a:solidFill>
            <a:srgbClr val="6FA3D9"/>
          </a:solidFill>
          <a:ln/>
        </p:spPr>
      </p:sp>
      <p:sp>
        <p:nvSpPr>
          <p:cNvPr id="5" name="Shape 3"/>
          <p:cNvSpPr/>
          <p:nvPr/>
        </p:nvSpPr>
        <p:spPr>
          <a:xfrm>
            <a:off x="10693400" y="812800"/>
            <a:ext cx="304800" cy="304800"/>
          </a:xfrm>
          <a:prstGeom prst="roundRect">
            <a:avLst>
              <a:gd name="adj" fmla="val 20833"/>
            </a:avLst>
          </a:prstGeom>
          <a:solidFill>
            <a:srgbClr val="3A78BF"/>
          </a:solidFill>
          <a:ln/>
        </p:spPr>
      </p:sp>
      <p:sp>
        <p:nvSpPr>
          <p:cNvPr id="6" name="Shape 4"/>
          <p:cNvSpPr/>
          <p:nvPr/>
        </p:nvSpPr>
        <p:spPr>
          <a:xfrm>
            <a:off x="11080750" y="819150"/>
            <a:ext cx="292100" cy="292100"/>
          </a:xfrm>
          <a:prstGeom prst="roundRect">
            <a:avLst>
              <a:gd name="adj" fmla="val 19565"/>
            </a:avLst>
          </a:prstGeom>
          <a:solidFill>
            <a:srgbClr val="1F4E8C"/>
          </a:solidFill>
          <a:ln w="12700">
            <a:solidFill>
              <a:srgbClr val="6FA3D9"/>
            </a:solidFill>
            <a:prstDash val="solid"/>
          </a:ln>
        </p:spPr>
      </p:sp>
      <p:sp>
        <p:nvSpPr>
          <p:cNvPr id="7" name="Text 5"/>
          <p:cNvSpPr/>
          <p:nvPr/>
        </p:nvSpPr>
        <p:spPr>
          <a:xfrm>
            <a:off x="812800" y="812800"/>
            <a:ext cx="3079750" cy="340320"/>
          </a:xfrm>
          <a:prstGeom prst="roundRect">
            <a:avLst>
              <a:gd name="adj" fmla="val 50000"/>
            </a:avLst>
          </a:prstGeom>
          <a:solidFill>
            <a:srgbClr val="9EC1E8"/>
          </a:solidFill>
          <a:ln/>
        </p:spPr>
        <p:txBody>
          <a:bodyPr wrap="none" lIns="0" tIns="0" rIns="0" bIns="0" rtlCol="0" anchor="ctr">
            <a:normAutofit/>
          </a:bodyPr>
          <a:lstStyle/>
          <a:p>
            <a:pPr algn="ctr" indent="0" marL="0">
              <a:lnSpc>
                <a:spcPts val="1680"/>
              </a:lnSpc>
              <a:buNone/>
            </a:pPr>
            <a:r>
              <a:rPr lang="en-US" sz="1200" b="1" dirty="0">
                <a:solidFill>
                  <a:srgbClr val="14213D"/>
                </a:solidFill>
                <a:latin typeface="DM Sans" pitchFamily="34" charset="0"/>
                <a:ea typeface="DM Sans" pitchFamily="34" charset="-122"/>
                <a:cs typeface="DM Sans" pitchFamily="34" charset="-120"/>
              </a:rPr>
              <a:t>IEEE WIECON-ECE 2026 · Paper ID 518</a:t>
            </a:r>
            <a:endParaRPr lang="en-US" sz="1200" dirty="0"/>
          </a:p>
        </p:txBody>
      </p:sp>
      <p:sp>
        <p:nvSpPr>
          <p:cNvPr id="8" name="Text 6"/>
          <p:cNvSpPr/>
          <p:nvPr>
            <p:ph type="title"/>
          </p:nvPr>
        </p:nvSpPr>
        <p:spPr>
          <a:xfrm>
            <a:off x="812800" y="2493070"/>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7F6F2"/>
                </a:solidFill>
                <a:latin typeface="DM Sans" pitchFamily="34" charset="0"/>
                <a:ea typeface="DM Sans" pitchFamily="34" charset="-122"/>
                <a:cs typeface="DM Sans" pitchFamily="34" charset="-120"/>
              </a:rPr>
              <a:t>OrdinalFed</a:t>
            </a:r>
            <a:endParaRPr lang="en-US" sz="6000" dirty="0"/>
          </a:p>
        </p:txBody>
      </p:sp>
      <p:sp>
        <p:nvSpPr>
          <p:cNvPr id="9" name="Text 7"/>
          <p:cNvSpPr/>
          <p:nvPr/>
        </p:nvSpPr>
        <p:spPr>
          <a:xfrm>
            <a:off x="812800" y="3445570"/>
            <a:ext cx="9156700" cy="723900"/>
          </a:xfrm>
          <a:prstGeom prst="rect">
            <a:avLst/>
          </a:prstGeom>
          <a:noFill/>
          <a:ln/>
        </p:spPr>
        <p:txBody>
          <a:bodyPr wrap="square" lIns="0" tIns="0" rIns="0" bIns="0" rtlCol="0" anchor="t">
            <a:normAutofit/>
          </a:bodyPr>
          <a:lstStyle/>
          <a:p>
            <a:pPr algn="l" indent="0" marL="0">
              <a:lnSpc>
                <a:spcPts val="2750"/>
              </a:lnSpc>
              <a:buNone/>
            </a:pPr>
            <a:r>
              <a:rPr lang="en-US" sz="2200" dirty="0">
                <a:solidFill>
                  <a:srgbClr val="DCE6F2"/>
                </a:solidFill>
                <a:latin typeface="DM Sans" pitchFamily="34" charset="0"/>
                <a:ea typeface="DM Sans" pitchFamily="34" charset="-122"/>
                <a:cs typeface="DM Sans" pitchFamily="34" charset="-120"/>
              </a:rPr>
              <a:t>Federated Learning with Ordinal-Aware Aggregation for Diabetic Retinopathy Grading</a:t>
            </a:r>
            <a:endParaRPr lang="en-US" sz="2200" dirty="0"/>
          </a:p>
        </p:txBody>
      </p:sp>
      <p:sp>
        <p:nvSpPr>
          <p:cNvPr id="10" name="Text 8"/>
          <p:cNvSpPr/>
          <p:nvPr/>
        </p:nvSpPr>
        <p:spPr>
          <a:xfrm>
            <a:off x="812800" y="548392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7F6F2"/>
                </a:solidFill>
                <a:latin typeface="DM Sans" pitchFamily="34" charset="0"/>
                <a:ea typeface="DM Sans" pitchFamily="34" charset="-122"/>
                <a:cs typeface="DM Sans" pitchFamily="34" charset="-120"/>
              </a:rPr>
              <a:t>Md Tamim Hossain, Najifa Raksanda, M. M. Tamim Sharif, Aria Nawshin Ashka</a:t>
            </a:r>
            <a:endParaRPr lang="en-US" sz="1600" dirty="0"/>
          </a:p>
        </p:txBody>
      </p:sp>
      <p:sp>
        <p:nvSpPr>
          <p:cNvPr id="11" name="Text 9"/>
          <p:cNvSpPr/>
          <p:nvPr/>
        </p:nvSpPr>
        <p:spPr>
          <a:xfrm>
            <a:off x="812800" y="58318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D0E4"/>
                </a:solidFill>
                <a:latin typeface="DM Sans" pitchFamily="34" charset="0"/>
                <a:ea typeface="DM Sans" pitchFamily="34" charset="-122"/>
                <a:cs typeface="DM Sans" pitchFamily="34" charset="-120"/>
              </a:rPr>
              <a:t>Department of Computer Science and Engineering · Military Institute of Science and Technology (MIST), Dhaka, Bangladesh</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B3"/>
                </a:solidFill>
                <a:latin typeface="DM Sans" pitchFamily="34" charset="0"/>
                <a:ea typeface="DM Sans" pitchFamily="34" charset="-122"/>
                <a:cs typeface="DM Sans" pitchFamily="34" charset="-120"/>
              </a:rPr>
              <a:t>THE PROBLEM</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DM Sans" pitchFamily="34" charset="0"/>
                <a:ea typeface="DM Sans" pitchFamily="34" charset="-122"/>
                <a:cs typeface="DM Sans" pitchFamily="34" charset="-120"/>
              </a:rPr>
              <a:t>Diabetic retinopathy</a:t>
            </a:r>
            <a:endParaRPr lang="en-US" sz="3200" dirty="0"/>
          </a:p>
        </p:txBody>
      </p:sp>
      <p:sp>
        <p:nvSpPr>
          <p:cNvPr id="4" name="Shape 2"/>
          <p:cNvSpPr/>
          <p:nvPr/>
        </p:nvSpPr>
        <p:spPr>
          <a:xfrm>
            <a:off x="815975" y="1857276"/>
            <a:ext cx="5052913" cy="3166070"/>
          </a:xfrm>
          <a:prstGeom prst="roundRect">
            <a:avLst>
              <a:gd name="adj" fmla="val 3911"/>
            </a:avLst>
          </a:prstGeom>
          <a:solidFill>
            <a:srgbClr val="FEFDFB"/>
          </a:solidFill>
          <a:ln w="6350">
            <a:solidFill>
              <a:srgbClr val="E2E0D8"/>
            </a:solidFill>
            <a:prstDash val="solid"/>
          </a:ln>
        </p:spPr>
      </p:sp>
      <p:sp>
        <p:nvSpPr>
          <p:cNvPr id="5" name="Text 3"/>
          <p:cNvSpPr/>
          <p:nvPr/>
        </p:nvSpPr>
        <p:spPr>
          <a:xfrm>
            <a:off x="1174750" y="2216051"/>
            <a:ext cx="4465424"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2F6FB3"/>
                </a:solidFill>
                <a:latin typeface="DM Sans" pitchFamily="34" charset="0"/>
                <a:ea typeface="DM Sans" pitchFamily="34" charset="-122"/>
                <a:cs typeface="DM Sans" pitchFamily="34" charset="-120"/>
              </a:rPr>
              <a:t>13.1M</a:t>
            </a:r>
            <a:endParaRPr lang="en-US" sz="6000" dirty="0"/>
          </a:p>
        </p:txBody>
      </p:sp>
      <p:sp>
        <p:nvSpPr>
          <p:cNvPr id="6" name="Text 4"/>
          <p:cNvSpPr/>
          <p:nvPr/>
        </p:nvSpPr>
        <p:spPr>
          <a:xfrm>
            <a:off x="1174750" y="3105051"/>
            <a:ext cx="4465424"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3D4A5C"/>
                </a:solidFill>
                <a:latin typeface="DM Sans" pitchFamily="34" charset="0"/>
                <a:ea typeface="DM Sans" pitchFamily="34" charset="-122"/>
                <a:cs typeface="DM Sans" pitchFamily="34" charset="-120"/>
              </a:rPr>
              <a:t>people with diabetes in Bangladesh</a:t>
            </a:r>
            <a:endParaRPr lang="en-US" sz="1500" dirty="0"/>
          </a:p>
        </p:txBody>
      </p:sp>
      <p:pic>
        <p:nvPicPr>
          <p:cNvPr id="7" name="Image 0" descr="line">    </p:cNvPr>
          <p:cNvPicPr>
            <a:picLocks noChangeAspect="1"/>
          </p:cNvPicPr>
          <p:nvPr/>
        </p:nvPicPr>
        <p:blipFill>
          <a:blip r:embed="rId1"/>
          <a:srcRect l="0" r="0" t="-20" b="-20"/>
          <a:stretch/>
        </p:blipFill>
        <p:spPr>
          <a:xfrm>
            <a:off x="1174750" y="3489226"/>
            <a:ext cx="4335363" cy="12700"/>
          </a:xfrm>
          <a:prstGeom prst="rect">
            <a:avLst/>
          </a:prstGeom>
        </p:spPr>
      </p:pic>
      <p:sp>
        <p:nvSpPr>
          <p:cNvPr id="8" name="Text 5"/>
          <p:cNvSpPr/>
          <p:nvPr/>
        </p:nvSpPr>
        <p:spPr>
          <a:xfrm>
            <a:off x="1174750" y="3628926"/>
            <a:ext cx="4465424"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3D4A5C"/>
                </a:solidFill>
                <a:latin typeface="DM Sans" pitchFamily="34" charset="0"/>
                <a:ea typeface="DM Sans" pitchFamily="34" charset="-122"/>
                <a:cs typeface="DM Sans" pitchFamily="34" charset="-120"/>
              </a:rPr>
              <a:t>A leading cause of preventable blindness, and few eye specialists outside the big cities</a:t>
            </a:r>
            <a:endParaRPr lang="en-US" sz="1500" dirty="0"/>
          </a:p>
        </p:txBody>
      </p:sp>
      <p:sp>
        <p:nvSpPr>
          <p:cNvPr id="9" name="Text 6"/>
          <p:cNvSpPr/>
          <p:nvPr/>
        </p:nvSpPr>
        <p:spPr>
          <a:xfrm>
            <a:off x="6176863" y="1854101"/>
            <a:ext cx="535840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DM Sans" pitchFamily="34" charset="0"/>
                <a:ea typeface="DM Sans" pitchFamily="34" charset="-122"/>
                <a:cs typeface="DM Sans" pitchFamily="34" charset="-120"/>
              </a:rPr>
              <a:t>Five grades of DR</a:t>
            </a:r>
            <a:endParaRPr lang="en-US" sz="2000" dirty="0"/>
          </a:p>
        </p:txBody>
      </p:sp>
      <p:sp>
        <p:nvSpPr>
          <p:cNvPr id="10" name="Text 7"/>
          <p:cNvSpPr/>
          <p:nvPr/>
        </p:nvSpPr>
        <p:spPr>
          <a:xfrm>
            <a:off x="6176863" y="2260501"/>
            <a:ext cx="355600" cy="355600"/>
          </a:xfrm>
          <a:prstGeom prst="roundRect">
            <a:avLst>
              <a:gd name="adj" fmla="val 21429"/>
            </a:avLst>
          </a:prstGeom>
          <a:solidFill>
            <a:srgbClr val="DCE8F5"/>
          </a:solidFill>
          <a:ln/>
        </p:spPr>
        <p:txBody>
          <a:bodyPr wrap="square" lIns="0" tIns="0" rIns="0" bIns="0" rtlCol="0" anchor="ctr">
            <a:normAutofit/>
          </a:bodyPr>
          <a:lstStyle/>
          <a:p>
            <a:pPr algn="ctr" indent="0" marL="0">
              <a:lnSpc>
                <a:spcPts val="1960"/>
              </a:lnSpc>
              <a:buNone/>
            </a:pPr>
            <a:r>
              <a:rPr lang="en-US" sz="1400" b="1" dirty="0">
                <a:solidFill>
                  <a:srgbClr val="14213D"/>
                </a:solidFill>
                <a:latin typeface="DM Sans" pitchFamily="34" charset="0"/>
                <a:ea typeface="DM Sans" pitchFamily="34" charset="-122"/>
                <a:cs typeface="DM Sans" pitchFamily="34" charset="-120"/>
              </a:rPr>
              <a:t>0</a:t>
            </a:r>
            <a:endParaRPr lang="en-US" sz="1400" dirty="0"/>
          </a:p>
        </p:txBody>
      </p:sp>
      <p:sp>
        <p:nvSpPr>
          <p:cNvPr id="11" name="Text 8"/>
          <p:cNvSpPr/>
          <p:nvPr/>
        </p:nvSpPr>
        <p:spPr>
          <a:xfrm>
            <a:off x="6659463" y="2304951"/>
            <a:ext cx="64746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DM Sans" pitchFamily="34" charset="0"/>
                <a:ea typeface="DM Sans" pitchFamily="34" charset="-122"/>
                <a:cs typeface="DM Sans" pitchFamily="34" charset="-120"/>
              </a:rPr>
              <a:t>No DR</a:t>
            </a:r>
            <a:endParaRPr lang="en-US" sz="1500" dirty="0"/>
          </a:p>
        </p:txBody>
      </p:sp>
      <p:sp>
        <p:nvSpPr>
          <p:cNvPr id="12" name="Text 9"/>
          <p:cNvSpPr/>
          <p:nvPr/>
        </p:nvSpPr>
        <p:spPr>
          <a:xfrm>
            <a:off x="6176863" y="2717701"/>
            <a:ext cx="355600" cy="355600"/>
          </a:xfrm>
          <a:prstGeom prst="roundRect">
            <a:avLst>
              <a:gd name="adj" fmla="val 21429"/>
            </a:avLst>
          </a:prstGeom>
          <a:solidFill>
            <a:srgbClr val="A9C8EA"/>
          </a:solidFill>
          <a:ln/>
        </p:spPr>
        <p:txBody>
          <a:bodyPr wrap="square" lIns="0" tIns="0" rIns="0" bIns="0" rtlCol="0" anchor="ctr">
            <a:normAutofit/>
          </a:bodyPr>
          <a:lstStyle/>
          <a:p>
            <a:pPr algn="ctr" indent="0" marL="0">
              <a:lnSpc>
                <a:spcPts val="1960"/>
              </a:lnSpc>
              <a:buNone/>
            </a:pPr>
            <a:r>
              <a:rPr lang="en-US" sz="1400" b="1" dirty="0">
                <a:solidFill>
                  <a:srgbClr val="14213D"/>
                </a:solidFill>
                <a:latin typeface="DM Sans" pitchFamily="34" charset="0"/>
                <a:ea typeface="DM Sans" pitchFamily="34" charset="-122"/>
                <a:cs typeface="DM Sans" pitchFamily="34" charset="-120"/>
              </a:rPr>
              <a:t>1</a:t>
            </a:r>
            <a:endParaRPr lang="en-US" sz="1400" dirty="0"/>
          </a:p>
        </p:txBody>
      </p:sp>
      <p:sp>
        <p:nvSpPr>
          <p:cNvPr id="13" name="Text 10"/>
          <p:cNvSpPr/>
          <p:nvPr/>
        </p:nvSpPr>
        <p:spPr>
          <a:xfrm>
            <a:off x="6659463" y="2762151"/>
            <a:ext cx="44148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DM Sans" pitchFamily="34" charset="0"/>
                <a:ea typeface="DM Sans" pitchFamily="34" charset="-122"/>
                <a:cs typeface="DM Sans" pitchFamily="34" charset="-120"/>
              </a:rPr>
              <a:t>Mild</a:t>
            </a:r>
            <a:endParaRPr lang="en-US" sz="1500" dirty="0"/>
          </a:p>
        </p:txBody>
      </p:sp>
      <p:sp>
        <p:nvSpPr>
          <p:cNvPr id="14" name="Text 11"/>
          <p:cNvSpPr/>
          <p:nvPr/>
        </p:nvSpPr>
        <p:spPr>
          <a:xfrm>
            <a:off x="6176863" y="3174901"/>
            <a:ext cx="355600" cy="355600"/>
          </a:xfrm>
          <a:prstGeom prst="roundRect">
            <a:avLst>
              <a:gd name="adj" fmla="val 21429"/>
            </a:avLst>
          </a:prstGeom>
          <a:solidFill>
            <a:srgbClr val="6FA3D9"/>
          </a:solidFill>
          <a:ln/>
        </p:spPr>
        <p:txBody>
          <a:bodyPr wrap="square" lIns="0" tIns="0" rIns="0" bIns="0" rtlCol="0" anchor="ctr">
            <a:normAutofit/>
          </a:bodyPr>
          <a:lstStyle/>
          <a:p>
            <a:pPr algn="ctr" indent="0" marL="0">
              <a:lnSpc>
                <a:spcPts val="1960"/>
              </a:lnSpc>
              <a:buNone/>
            </a:pPr>
            <a:r>
              <a:rPr lang="en-US" sz="1400" b="1" dirty="0">
                <a:solidFill>
                  <a:srgbClr val="14213D"/>
                </a:solidFill>
                <a:latin typeface="DM Sans" pitchFamily="34" charset="0"/>
                <a:ea typeface="DM Sans" pitchFamily="34" charset="-122"/>
                <a:cs typeface="DM Sans" pitchFamily="34" charset="-120"/>
              </a:rPr>
              <a:t>2</a:t>
            </a:r>
            <a:endParaRPr lang="en-US" sz="1400" dirty="0"/>
          </a:p>
        </p:txBody>
      </p:sp>
      <p:sp>
        <p:nvSpPr>
          <p:cNvPr id="15" name="Text 12"/>
          <p:cNvSpPr/>
          <p:nvPr/>
        </p:nvSpPr>
        <p:spPr>
          <a:xfrm>
            <a:off x="6659463" y="3219351"/>
            <a:ext cx="102298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DM Sans" pitchFamily="34" charset="0"/>
                <a:ea typeface="DM Sans" pitchFamily="34" charset="-122"/>
                <a:cs typeface="DM Sans" pitchFamily="34" charset="-120"/>
              </a:rPr>
              <a:t>Moderate</a:t>
            </a:r>
            <a:endParaRPr lang="en-US" sz="1500" dirty="0"/>
          </a:p>
        </p:txBody>
      </p:sp>
      <p:sp>
        <p:nvSpPr>
          <p:cNvPr id="16" name="Text 13"/>
          <p:cNvSpPr/>
          <p:nvPr/>
        </p:nvSpPr>
        <p:spPr>
          <a:xfrm>
            <a:off x="6176863" y="3632101"/>
            <a:ext cx="355600" cy="355600"/>
          </a:xfrm>
          <a:prstGeom prst="roundRect">
            <a:avLst>
              <a:gd name="adj" fmla="val 21429"/>
            </a:avLst>
          </a:prstGeom>
          <a:solidFill>
            <a:srgbClr val="3A78BF"/>
          </a:solidFill>
          <a:ln/>
        </p:spPr>
        <p:txBody>
          <a:bodyPr wrap="square" lIns="0" tIns="0" rIns="0" bIns="0" rtlCol="0" anchor="ctr">
            <a:normAutofit/>
          </a:bodyPr>
          <a:lstStyle/>
          <a:p>
            <a:pPr algn="ctr" indent="0" marL="0">
              <a:lnSpc>
                <a:spcPts val="1960"/>
              </a:lnSpc>
              <a:buNone/>
            </a:pPr>
            <a:r>
              <a:rPr lang="en-US" sz="1400" b="1" dirty="0">
                <a:solidFill>
                  <a:srgbClr val="F7F6F2"/>
                </a:solidFill>
                <a:latin typeface="DM Sans" pitchFamily="34" charset="0"/>
                <a:ea typeface="DM Sans" pitchFamily="34" charset="-122"/>
                <a:cs typeface="DM Sans" pitchFamily="34" charset="-120"/>
              </a:rPr>
              <a:t>3</a:t>
            </a:r>
            <a:endParaRPr lang="en-US" sz="1400" dirty="0"/>
          </a:p>
        </p:txBody>
      </p:sp>
      <p:sp>
        <p:nvSpPr>
          <p:cNvPr id="17" name="Text 14"/>
          <p:cNvSpPr/>
          <p:nvPr/>
        </p:nvSpPr>
        <p:spPr>
          <a:xfrm>
            <a:off x="6659463" y="3676551"/>
            <a:ext cx="71258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DM Sans" pitchFamily="34" charset="0"/>
                <a:ea typeface="DM Sans" pitchFamily="34" charset="-122"/>
                <a:cs typeface="DM Sans" pitchFamily="34" charset="-120"/>
              </a:rPr>
              <a:t>Severe</a:t>
            </a:r>
            <a:endParaRPr lang="en-US" sz="1500" dirty="0"/>
          </a:p>
        </p:txBody>
      </p:sp>
      <p:sp>
        <p:nvSpPr>
          <p:cNvPr id="18" name="Text 15"/>
          <p:cNvSpPr/>
          <p:nvPr/>
        </p:nvSpPr>
        <p:spPr>
          <a:xfrm>
            <a:off x="6176863" y="4089301"/>
            <a:ext cx="355600" cy="355600"/>
          </a:xfrm>
          <a:prstGeom prst="roundRect">
            <a:avLst>
              <a:gd name="adj" fmla="val 21429"/>
            </a:avLst>
          </a:prstGeom>
          <a:solidFill>
            <a:srgbClr val="1F4E8C"/>
          </a:solidFill>
          <a:ln/>
        </p:spPr>
        <p:txBody>
          <a:bodyPr wrap="square" lIns="0" tIns="0" rIns="0" bIns="0" rtlCol="0" anchor="ctr">
            <a:normAutofit/>
          </a:bodyPr>
          <a:lstStyle/>
          <a:p>
            <a:pPr algn="ctr" indent="0" marL="0">
              <a:lnSpc>
                <a:spcPts val="1960"/>
              </a:lnSpc>
              <a:buNone/>
            </a:pPr>
            <a:r>
              <a:rPr lang="en-US" sz="1400" b="1" dirty="0">
                <a:solidFill>
                  <a:srgbClr val="F7F6F2"/>
                </a:solidFill>
                <a:latin typeface="DM Sans" pitchFamily="34" charset="0"/>
                <a:ea typeface="DM Sans" pitchFamily="34" charset="-122"/>
                <a:cs typeface="DM Sans" pitchFamily="34" charset="-120"/>
              </a:rPr>
              <a:t>4</a:t>
            </a:r>
            <a:endParaRPr lang="en-US" sz="1400" dirty="0"/>
          </a:p>
        </p:txBody>
      </p:sp>
      <p:sp>
        <p:nvSpPr>
          <p:cNvPr id="19" name="Text 16"/>
          <p:cNvSpPr/>
          <p:nvPr/>
        </p:nvSpPr>
        <p:spPr>
          <a:xfrm>
            <a:off x="6659463" y="4133751"/>
            <a:ext cx="125206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DM Sans" pitchFamily="34" charset="0"/>
                <a:ea typeface="DM Sans" pitchFamily="34" charset="-122"/>
                <a:cs typeface="DM Sans" pitchFamily="34" charset="-120"/>
              </a:rPr>
              <a:t>Proliferative</a:t>
            </a:r>
            <a:endParaRPr lang="en-US" sz="1500" dirty="0"/>
          </a:p>
        </p:txBody>
      </p:sp>
      <p:sp>
        <p:nvSpPr>
          <p:cNvPr id="20" name="Text 17"/>
          <p:cNvSpPr/>
          <p:nvPr/>
        </p:nvSpPr>
        <p:spPr>
          <a:xfrm>
            <a:off x="6176863" y="4546501"/>
            <a:ext cx="5358407" cy="50542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B4501F"/>
                </a:solidFill>
                <a:latin typeface="DM Sans" pitchFamily="34" charset="0"/>
                <a:ea typeface="DM Sans" pitchFamily="34" charset="-122"/>
                <a:cs typeface="DM Sans" pitchFamily="34" charset="-120"/>
              </a:rPr>
              <a:t>Grades 2–4 need referral. Finding them early prevents vision loss.</a:t>
            </a:r>
            <a:endParaRPr lang="en-US" sz="1400" dirty="0"/>
          </a:p>
        </p:txBody>
      </p:sp>
      <p:sp>
        <p:nvSpPr>
          <p:cNvPr id="21" name="Text 18"/>
          <p:cNvSpPr/>
          <p:nvPr/>
        </p:nvSpPr>
        <p:spPr>
          <a:xfrm>
            <a:off x="812800" y="6238280"/>
            <a:ext cx="311157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5"/>
                </a:solidFill>
                <a:latin typeface="DM Sans" pitchFamily="34" charset="0"/>
                <a:ea typeface="DM Sans" pitchFamily="34" charset="-122"/>
                <a:cs typeface="DM Sans" pitchFamily="34" charset="-120"/>
              </a:rPr>
              <a:t>OrdinalFed · IEEE WIECON-ECE 2026</a:t>
            </a:r>
            <a:endParaRPr lang="en-US" sz="1200" dirty="0"/>
          </a:p>
        </p:txBody>
      </p:sp>
      <p:sp>
        <p:nvSpPr>
          <p:cNvPr id="22" name="Text 19"/>
          <p:cNvSpPr/>
          <p:nvPr/>
        </p:nvSpPr>
        <p:spPr>
          <a:xfrm>
            <a:off x="11240591" y="6238280"/>
            <a:ext cx="13860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5"/>
                </a:solidFill>
                <a:latin typeface="DM Sans" pitchFamily="34" charset="0"/>
                <a:ea typeface="DM Sans" pitchFamily="34" charset="-122"/>
                <a:cs typeface="DM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B3"/>
                </a:solidFill>
                <a:latin typeface="DM Sans" pitchFamily="34" charset="0"/>
                <a:ea typeface="DM Sans" pitchFamily="34" charset="-122"/>
                <a:cs typeface="DM Sans" pitchFamily="34" charset="-120"/>
              </a:rPr>
              <a:t>BACKGROUND</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DM Sans" pitchFamily="34" charset="0"/>
                <a:ea typeface="DM Sans" pitchFamily="34" charset="-122"/>
                <a:cs typeface="DM Sans" pitchFamily="34" charset="-120"/>
              </a:rPr>
              <a:t>Why federated learning?</a:t>
            </a:r>
            <a:endParaRPr lang="en-US" sz="3200" dirty="0"/>
          </a:p>
        </p:txBody>
      </p:sp>
      <p:sp>
        <p:nvSpPr>
          <p:cNvPr id="4" name="Text 2"/>
          <p:cNvSpPr/>
          <p:nvPr/>
        </p:nvSpPr>
        <p:spPr>
          <a:xfrm>
            <a:off x="812800" y="1803301"/>
            <a:ext cx="1088339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DM Sans" pitchFamily="34" charset="0"/>
                <a:ea typeface="DM Sans" pitchFamily="34" charset="-122"/>
                <a:cs typeface="DM Sans" pitchFamily="34" charset="-120"/>
              </a:rPr>
              <a:t>Hospitals cannot easily share patient images because of privacy rules. Federated learning trains one shared model without moving the images.</a:t>
            </a:r>
            <a:endParaRPr lang="en-US" sz="1600" dirty="0"/>
          </a:p>
        </p:txBody>
      </p:sp>
      <p:sp>
        <p:nvSpPr>
          <p:cNvPr id="5" name="Shape 3"/>
          <p:cNvSpPr/>
          <p:nvPr/>
        </p:nvSpPr>
        <p:spPr>
          <a:xfrm>
            <a:off x="815975" y="2753816"/>
            <a:ext cx="3007717" cy="1875631"/>
          </a:xfrm>
          <a:prstGeom prst="roundRect">
            <a:avLst>
              <a:gd name="adj" fmla="val 6602"/>
            </a:avLst>
          </a:prstGeom>
          <a:solidFill>
            <a:srgbClr val="FEFDFB"/>
          </a:solidFill>
          <a:ln w="6350">
            <a:solidFill>
              <a:srgbClr val="E2E0D8"/>
            </a:solidFill>
            <a:prstDash val="solid"/>
          </a:ln>
        </p:spPr>
      </p:sp>
      <p:sp>
        <p:nvSpPr>
          <p:cNvPr id="6" name="Text 4"/>
          <p:cNvSpPr/>
          <p:nvPr/>
        </p:nvSpPr>
        <p:spPr>
          <a:xfrm>
            <a:off x="1073150" y="3010991"/>
            <a:ext cx="355600" cy="355600"/>
          </a:xfrm>
          <a:prstGeom prst="roundRect">
            <a:avLst>
              <a:gd name="adj" fmla="val 50000"/>
            </a:avLst>
          </a:prstGeom>
          <a:solidFill>
            <a:srgbClr val="2F6FB3"/>
          </a:solidFill>
          <a:ln/>
        </p:spPr>
        <p:txBody>
          <a:bodyPr wrap="square" lIns="0" tIns="0" rIns="0" bIns="0" rtlCol="0" anchor="ctr">
            <a:normAutofit/>
          </a:bodyPr>
          <a:lstStyle/>
          <a:p>
            <a:pPr algn="ctr" indent="0" marL="0">
              <a:lnSpc>
                <a:spcPts val="1960"/>
              </a:lnSpc>
              <a:buNone/>
            </a:pPr>
            <a:r>
              <a:rPr lang="en-US" sz="1400" b="1" dirty="0">
                <a:solidFill>
                  <a:srgbClr val="F7F6F2"/>
                </a:solidFill>
                <a:latin typeface="DM Sans" pitchFamily="34" charset="0"/>
                <a:ea typeface="DM Sans" pitchFamily="34" charset="-122"/>
                <a:cs typeface="DM Sans" pitchFamily="34" charset="-120"/>
              </a:rPr>
              <a:t>1</a:t>
            </a:r>
            <a:endParaRPr lang="en-US" sz="1400" dirty="0"/>
          </a:p>
        </p:txBody>
      </p:sp>
      <p:sp>
        <p:nvSpPr>
          <p:cNvPr id="7" name="Text 5"/>
          <p:cNvSpPr/>
          <p:nvPr/>
        </p:nvSpPr>
        <p:spPr>
          <a:xfrm>
            <a:off x="1073150" y="3468191"/>
            <a:ext cx="256816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DM Sans" pitchFamily="34" charset="0"/>
                <a:ea typeface="DM Sans" pitchFamily="34" charset="-122"/>
                <a:cs typeface="DM Sans" pitchFamily="34" charset="-120"/>
              </a:rPr>
              <a:t>Train locally</a:t>
            </a:r>
            <a:endParaRPr lang="en-US" sz="2000" dirty="0"/>
          </a:p>
        </p:txBody>
      </p:sp>
      <p:sp>
        <p:nvSpPr>
          <p:cNvPr id="8" name="Text 6"/>
          <p:cNvSpPr/>
          <p:nvPr/>
        </p:nvSpPr>
        <p:spPr>
          <a:xfrm>
            <a:off x="1073150" y="3874591"/>
            <a:ext cx="2568168"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DM Sans" pitchFamily="34" charset="0"/>
                <a:ea typeface="DM Sans" pitchFamily="34" charset="-122"/>
                <a:cs typeface="DM Sans" pitchFamily="34" charset="-120"/>
              </a:rPr>
              <a:t>Each hospital trains the model on its own images</a:t>
            </a:r>
            <a:endParaRPr lang="en-US" sz="1400" dirty="0"/>
          </a:p>
        </p:txBody>
      </p:sp>
      <p:pic>
        <p:nvPicPr>
          <p:cNvPr id="9" name="Image 0" descr="arrow-right">    </p:cNvPr>
          <p:cNvPicPr>
            <a:picLocks noChangeAspect="1"/>
          </p:cNvPicPr>
          <p:nvPr/>
        </p:nvPicPr>
        <p:blipFill>
          <a:blip r:embed="rId1"/>
          <a:srcRect l="0" r="0" t="0" b="0"/>
          <a:stretch/>
        </p:blipFill>
        <p:spPr>
          <a:xfrm>
            <a:off x="3979267" y="3577332"/>
            <a:ext cx="457200" cy="228600"/>
          </a:xfrm>
          <a:prstGeom prst="rect">
            <a:avLst/>
          </a:prstGeom>
        </p:spPr>
      </p:pic>
      <p:sp>
        <p:nvSpPr>
          <p:cNvPr id="10" name="Shape 7"/>
          <p:cNvSpPr/>
          <p:nvPr/>
        </p:nvSpPr>
        <p:spPr>
          <a:xfrm>
            <a:off x="4592042" y="2753816"/>
            <a:ext cx="3007816" cy="1875631"/>
          </a:xfrm>
          <a:prstGeom prst="roundRect">
            <a:avLst>
              <a:gd name="adj" fmla="val 6602"/>
            </a:avLst>
          </a:prstGeom>
          <a:solidFill>
            <a:srgbClr val="FEFDFB"/>
          </a:solidFill>
          <a:ln w="6350">
            <a:solidFill>
              <a:srgbClr val="E2E0D8"/>
            </a:solidFill>
            <a:prstDash val="solid"/>
          </a:ln>
        </p:spPr>
      </p:sp>
      <p:sp>
        <p:nvSpPr>
          <p:cNvPr id="11" name="Text 8"/>
          <p:cNvSpPr/>
          <p:nvPr/>
        </p:nvSpPr>
        <p:spPr>
          <a:xfrm>
            <a:off x="4849217" y="3010991"/>
            <a:ext cx="355600" cy="355600"/>
          </a:xfrm>
          <a:prstGeom prst="roundRect">
            <a:avLst>
              <a:gd name="adj" fmla="val 50000"/>
            </a:avLst>
          </a:prstGeom>
          <a:solidFill>
            <a:srgbClr val="2F6FB3"/>
          </a:solidFill>
          <a:ln/>
        </p:spPr>
        <p:txBody>
          <a:bodyPr wrap="square" lIns="0" tIns="0" rIns="0" bIns="0" rtlCol="0" anchor="ctr">
            <a:normAutofit/>
          </a:bodyPr>
          <a:lstStyle/>
          <a:p>
            <a:pPr algn="ctr" indent="0" marL="0">
              <a:lnSpc>
                <a:spcPts val="1960"/>
              </a:lnSpc>
              <a:buNone/>
            </a:pPr>
            <a:r>
              <a:rPr lang="en-US" sz="1400" b="1" dirty="0">
                <a:solidFill>
                  <a:srgbClr val="F7F6F2"/>
                </a:solidFill>
                <a:latin typeface="DM Sans" pitchFamily="34" charset="0"/>
                <a:ea typeface="DM Sans" pitchFamily="34" charset="-122"/>
                <a:cs typeface="DM Sans" pitchFamily="34" charset="-120"/>
              </a:rPr>
              <a:t>2</a:t>
            </a:r>
            <a:endParaRPr lang="en-US" sz="1400" dirty="0"/>
          </a:p>
        </p:txBody>
      </p:sp>
      <p:sp>
        <p:nvSpPr>
          <p:cNvPr id="12" name="Text 9"/>
          <p:cNvSpPr/>
          <p:nvPr/>
        </p:nvSpPr>
        <p:spPr>
          <a:xfrm>
            <a:off x="4849217" y="3468191"/>
            <a:ext cx="256827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DM Sans" pitchFamily="34" charset="0"/>
                <a:ea typeface="DM Sans" pitchFamily="34" charset="-122"/>
                <a:cs typeface="DM Sans" pitchFamily="34" charset="-120"/>
              </a:rPr>
              <a:t>Send weights</a:t>
            </a:r>
            <a:endParaRPr lang="en-US" sz="2000" dirty="0"/>
          </a:p>
        </p:txBody>
      </p:sp>
      <p:sp>
        <p:nvSpPr>
          <p:cNvPr id="13" name="Text 10"/>
          <p:cNvSpPr/>
          <p:nvPr/>
        </p:nvSpPr>
        <p:spPr>
          <a:xfrm>
            <a:off x="4849217" y="3874591"/>
            <a:ext cx="256827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DM Sans" pitchFamily="34" charset="0"/>
                <a:ea typeface="DM Sans" pitchFamily="34" charset="-122"/>
                <a:cs typeface="DM Sans" pitchFamily="34" charset="-120"/>
              </a:rPr>
              <a:t>Only model weights go to the server, never the images</a:t>
            </a:r>
            <a:endParaRPr lang="en-US" sz="1400" dirty="0"/>
          </a:p>
        </p:txBody>
      </p:sp>
      <p:pic>
        <p:nvPicPr>
          <p:cNvPr id="14" name="Image 1" descr="arrow-right">    </p:cNvPr>
          <p:cNvPicPr>
            <a:picLocks noChangeAspect="1"/>
          </p:cNvPicPr>
          <p:nvPr/>
        </p:nvPicPr>
        <p:blipFill>
          <a:blip r:embed="rId2"/>
          <a:srcRect l="0" r="0" t="0" b="0"/>
          <a:stretch/>
        </p:blipFill>
        <p:spPr>
          <a:xfrm>
            <a:off x="7755434" y="3577332"/>
            <a:ext cx="457200" cy="228600"/>
          </a:xfrm>
          <a:prstGeom prst="rect">
            <a:avLst/>
          </a:prstGeom>
        </p:spPr>
      </p:pic>
      <p:sp>
        <p:nvSpPr>
          <p:cNvPr id="15" name="Shape 11"/>
          <p:cNvSpPr/>
          <p:nvPr/>
        </p:nvSpPr>
        <p:spPr>
          <a:xfrm>
            <a:off x="8368209" y="2629396"/>
            <a:ext cx="3007816" cy="2124472"/>
          </a:xfrm>
          <a:prstGeom prst="roundRect">
            <a:avLst>
              <a:gd name="adj" fmla="val 5829"/>
            </a:avLst>
          </a:prstGeom>
          <a:solidFill>
            <a:srgbClr val="FEFDFB"/>
          </a:solidFill>
          <a:ln w="6350">
            <a:solidFill>
              <a:srgbClr val="E2E0D8"/>
            </a:solidFill>
            <a:prstDash val="solid"/>
          </a:ln>
        </p:spPr>
      </p:sp>
      <p:sp>
        <p:nvSpPr>
          <p:cNvPr id="16" name="Text 12"/>
          <p:cNvSpPr/>
          <p:nvPr/>
        </p:nvSpPr>
        <p:spPr>
          <a:xfrm>
            <a:off x="8625384" y="2886571"/>
            <a:ext cx="355600" cy="355600"/>
          </a:xfrm>
          <a:prstGeom prst="roundRect">
            <a:avLst>
              <a:gd name="adj" fmla="val 50000"/>
            </a:avLst>
          </a:prstGeom>
          <a:solidFill>
            <a:srgbClr val="2F6FB3"/>
          </a:solidFill>
          <a:ln/>
        </p:spPr>
        <p:txBody>
          <a:bodyPr wrap="square" lIns="0" tIns="0" rIns="0" bIns="0" rtlCol="0" anchor="ctr">
            <a:normAutofit/>
          </a:bodyPr>
          <a:lstStyle/>
          <a:p>
            <a:pPr algn="ctr" indent="0" marL="0">
              <a:lnSpc>
                <a:spcPts val="1960"/>
              </a:lnSpc>
              <a:buNone/>
            </a:pPr>
            <a:r>
              <a:rPr lang="en-US" sz="1400" b="1" dirty="0">
                <a:solidFill>
                  <a:srgbClr val="F7F6F2"/>
                </a:solidFill>
                <a:latin typeface="DM Sans" pitchFamily="34" charset="0"/>
                <a:ea typeface="DM Sans" pitchFamily="34" charset="-122"/>
                <a:cs typeface="DM Sans" pitchFamily="34" charset="-120"/>
              </a:rPr>
              <a:t>3</a:t>
            </a:r>
            <a:endParaRPr lang="en-US" sz="1400" dirty="0"/>
          </a:p>
        </p:txBody>
      </p:sp>
      <p:sp>
        <p:nvSpPr>
          <p:cNvPr id="17" name="Text 13"/>
          <p:cNvSpPr/>
          <p:nvPr/>
        </p:nvSpPr>
        <p:spPr>
          <a:xfrm>
            <a:off x="8625384" y="3343771"/>
            <a:ext cx="256827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DM Sans" pitchFamily="34" charset="0"/>
                <a:ea typeface="DM Sans" pitchFamily="34" charset="-122"/>
                <a:cs typeface="DM Sans" pitchFamily="34" charset="-120"/>
              </a:rPr>
              <a:t>Combine</a:t>
            </a:r>
            <a:endParaRPr lang="en-US" sz="2000" dirty="0"/>
          </a:p>
        </p:txBody>
      </p:sp>
      <p:sp>
        <p:nvSpPr>
          <p:cNvPr id="18" name="Text 14"/>
          <p:cNvSpPr/>
          <p:nvPr/>
        </p:nvSpPr>
        <p:spPr>
          <a:xfrm>
            <a:off x="8625384" y="3750171"/>
            <a:ext cx="2568270"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DM Sans" pitchFamily="34" charset="0"/>
                <a:ea typeface="DM Sans" pitchFamily="34" charset="-122"/>
                <a:cs typeface="DM Sans" pitchFamily="34" charset="-120"/>
              </a:rPr>
              <a:t>The server merges them into one global model and sends it back</a:t>
            </a:r>
            <a:endParaRPr lang="en-US" sz="1400" dirty="0"/>
          </a:p>
        </p:txBody>
      </p:sp>
      <p:sp>
        <p:nvSpPr>
          <p:cNvPr id="19" name="Text 15"/>
          <p:cNvSpPr/>
          <p:nvPr/>
        </p:nvSpPr>
        <p:spPr>
          <a:xfrm>
            <a:off x="812800" y="5011043"/>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DM Sans" pitchFamily="34" charset="0"/>
                <a:ea typeface="DM Sans" pitchFamily="34" charset="-122"/>
                <a:cs typeface="DM Sans" pitchFamily="34" charset="-120"/>
              </a:rPr>
              <a:t>This repeats for several rounds. </a:t>
            </a:r>
            <a:r>
              <a:rPr lang="en-US" sz="1400" b="1" dirty="0">
                <a:solidFill>
                  <a:srgbClr val="3D4A5C"/>
                </a:solidFill>
                <a:latin typeface="DM Sans" pitchFamily="34" charset="0"/>
                <a:ea typeface="DM Sans" pitchFamily="34" charset="-122"/>
                <a:cs typeface="DM Sans" pitchFamily="34" charset="-120"/>
              </a:rPr>
              <a:t>FedAvg</a:t>
            </a:r>
            <a:r>
              <a:rPr lang="en-US" sz="1400" dirty="0">
                <a:solidFill>
                  <a:srgbClr val="3D4A5C"/>
                </a:solidFill>
                <a:latin typeface="DM Sans" pitchFamily="34" charset="0"/>
                <a:ea typeface="DM Sans" pitchFamily="34" charset="-122"/>
                <a:cs typeface="DM Sans" pitchFamily="34" charset="-120"/>
              </a:rPr>
              <a:t>, the standard method, weights each hospital by its number of images.</a:t>
            </a:r>
            <a:endParaRPr lang="en-US" sz="1400" dirty="0"/>
          </a:p>
        </p:txBody>
      </p:sp>
      <p:sp>
        <p:nvSpPr>
          <p:cNvPr id="20" name="Text 16"/>
          <p:cNvSpPr/>
          <p:nvPr/>
        </p:nvSpPr>
        <p:spPr>
          <a:xfrm>
            <a:off x="812800" y="6238280"/>
            <a:ext cx="311157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5"/>
                </a:solidFill>
                <a:latin typeface="DM Sans" pitchFamily="34" charset="0"/>
                <a:ea typeface="DM Sans" pitchFamily="34" charset="-122"/>
                <a:cs typeface="DM Sans" pitchFamily="34" charset="-120"/>
              </a:rPr>
              <a:t>OrdinalFed · IEEE WIECON-ECE 2026</a:t>
            </a:r>
            <a:endParaRPr lang="en-US" sz="1200" dirty="0"/>
          </a:p>
        </p:txBody>
      </p:sp>
      <p:sp>
        <p:nvSpPr>
          <p:cNvPr id="21" name="Text 17"/>
          <p:cNvSpPr/>
          <p:nvPr/>
        </p:nvSpPr>
        <p:spPr>
          <a:xfrm>
            <a:off x="11238309" y="6238280"/>
            <a:ext cx="1408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5"/>
                </a:solidFill>
                <a:latin typeface="DM Sans" pitchFamily="34" charset="0"/>
                <a:ea typeface="DM Sans" pitchFamily="34" charset="-122"/>
                <a:cs typeface="DM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B3"/>
                </a:solidFill>
                <a:latin typeface="DM Sans" pitchFamily="34" charset="0"/>
                <a:ea typeface="DM Sans" pitchFamily="34" charset="-122"/>
                <a:cs typeface="DM Sans" pitchFamily="34" charset="-120"/>
              </a:rPr>
              <a:t>THE CHALLENGE</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DM Sans" pitchFamily="34" charset="0"/>
                <a:ea typeface="DM Sans" pitchFamily="34" charset="-122"/>
                <a:cs typeface="DM Sans" pitchFamily="34" charset="-120"/>
              </a:rPr>
              <a:t>Two problems</a:t>
            </a:r>
            <a:endParaRPr lang="en-US" sz="3200" dirty="0"/>
          </a:p>
        </p:txBody>
      </p:sp>
      <p:sp>
        <p:nvSpPr>
          <p:cNvPr id="4" name="Shape 2"/>
          <p:cNvSpPr/>
          <p:nvPr/>
        </p:nvSpPr>
        <p:spPr>
          <a:xfrm>
            <a:off x="815975" y="1857276"/>
            <a:ext cx="5149850" cy="2966541"/>
          </a:xfrm>
          <a:prstGeom prst="roundRect">
            <a:avLst>
              <a:gd name="adj" fmla="val 4174"/>
            </a:avLst>
          </a:prstGeom>
          <a:solidFill>
            <a:srgbClr val="FEFDFB"/>
          </a:solidFill>
          <a:ln w="6350">
            <a:solidFill>
              <a:srgbClr val="E2E0D8"/>
            </a:solidFill>
            <a:prstDash val="solid"/>
          </a:ln>
        </p:spPr>
      </p:sp>
      <p:sp>
        <p:nvSpPr>
          <p:cNvPr id="5" name="Text 3"/>
          <p:cNvSpPr/>
          <p:nvPr/>
        </p:nvSpPr>
        <p:spPr>
          <a:xfrm>
            <a:off x="1123950" y="2165251"/>
            <a:ext cx="466991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01F"/>
                </a:solidFill>
                <a:latin typeface="DM Sans" pitchFamily="34" charset="0"/>
                <a:ea typeface="DM Sans" pitchFamily="34" charset="-122"/>
                <a:cs typeface="DM Sans" pitchFamily="34" charset="-120"/>
              </a:rPr>
              <a:t>PROBLEM 1</a:t>
            </a:r>
            <a:endParaRPr lang="en-US" sz="1200" dirty="0"/>
          </a:p>
        </p:txBody>
      </p:sp>
      <p:sp>
        <p:nvSpPr>
          <p:cNvPr id="6" name="Text 4"/>
          <p:cNvSpPr/>
          <p:nvPr/>
        </p:nvSpPr>
        <p:spPr>
          <a:xfrm>
            <a:off x="1123950" y="2480171"/>
            <a:ext cx="466991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DM Sans" pitchFamily="34" charset="0"/>
                <a:ea typeface="DM Sans" pitchFamily="34" charset="-122"/>
                <a:cs typeface="DM Sans" pitchFamily="34" charset="-120"/>
              </a:rPr>
              <a:t>Hospitals see different patients</a:t>
            </a:r>
            <a:endParaRPr lang="en-US" sz="2000" dirty="0"/>
          </a:p>
        </p:txBody>
      </p:sp>
      <p:sp>
        <p:nvSpPr>
          <p:cNvPr id="7" name="Text 5"/>
          <p:cNvSpPr/>
          <p:nvPr/>
        </p:nvSpPr>
        <p:spPr>
          <a:xfrm>
            <a:off x="1123950" y="2886571"/>
            <a:ext cx="466991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A5C"/>
                </a:solidFill>
                <a:latin typeface="DM Sans" pitchFamily="34" charset="0"/>
                <a:ea typeface="DM Sans" pitchFamily="34" charset="-122"/>
                <a:cs typeface="DM Sans" pitchFamily="34" charset="-120"/>
              </a:rPr>
              <a:t>Screening clinics see mostly healthy eyes. Referral hospitals see many severe cases.</a:t>
            </a:r>
            <a:endParaRPr lang="en-US" sz="1500" dirty="0"/>
          </a:p>
        </p:txBody>
      </p:sp>
      <p:sp>
        <p:nvSpPr>
          <p:cNvPr id="8" name="Text 6"/>
          <p:cNvSpPr/>
          <p:nvPr/>
        </p:nvSpPr>
        <p:spPr>
          <a:xfrm>
            <a:off x="1123950" y="3521571"/>
            <a:ext cx="4669917"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B4501F"/>
                </a:solidFill>
                <a:latin typeface="DM Sans" pitchFamily="34" charset="0"/>
                <a:ea typeface="DM Sans" pitchFamily="34" charset="-122"/>
                <a:cs typeface="DM Sans" pitchFamily="34" charset="-120"/>
              </a:rPr>
              <a:t>0.647 → 0.378</a:t>
            </a:r>
            <a:endParaRPr lang="en-US" sz="3200" dirty="0"/>
          </a:p>
        </p:txBody>
      </p:sp>
      <p:sp>
        <p:nvSpPr>
          <p:cNvPr id="9" name="Text 7"/>
          <p:cNvSpPr/>
          <p:nvPr/>
        </p:nvSpPr>
        <p:spPr>
          <a:xfrm>
            <a:off x="1123950" y="4070152"/>
            <a:ext cx="4669917"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5B6575"/>
                </a:solidFill>
                <a:latin typeface="DM Sans" pitchFamily="34" charset="0"/>
                <a:ea typeface="DM Sans" pitchFamily="34" charset="-122"/>
                <a:cs typeface="DM Sans" pitchFamily="34" charset="-120"/>
              </a:rPr>
              <a:t>FedAvg test QWK, best round → worst round, under extreme skew</a:t>
            </a:r>
            <a:endParaRPr lang="en-US" sz="1300" dirty="0"/>
          </a:p>
        </p:txBody>
      </p:sp>
      <p:sp>
        <p:nvSpPr>
          <p:cNvPr id="10" name="Shape 8"/>
          <p:cNvSpPr/>
          <p:nvPr/>
        </p:nvSpPr>
        <p:spPr>
          <a:xfrm>
            <a:off x="6226175" y="1857276"/>
            <a:ext cx="5149850" cy="2966541"/>
          </a:xfrm>
          <a:prstGeom prst="roundRect">
            <a:avLst>
              <a:gd name="adj" fmla="val 4174"/>
            </a:avLst>
          </a:prstGeom>
          <a:solidFill>
            <a:srgbClr val="FEFDFB"/>
          </a:solidFill>
          <a:ln w="6350">
            <a:solidFill>
              <a:srgbClr val="E2E0D8"/>
            </a:solidFill>
            <a:prstDash val="solid"/>
          </a:ln>
        </p:spPr>
      </p:sp>
      <p:sp>
        <p:nvSpPr>
          <p:cNvPr id="11" name="Text 9"/>
          <p:cNvSpPr/>
          <p:nvPr/>
        </p:nvSpPr>
        <p:spPr>
          <a:xfrm>
            <a:off x="6534150" y="2165251"/>
            <a:ext cx="466991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B3"/>
                </a:solidFill>
                <a:latin typeface="DM Sans" pitchFamily="34" charset="0"/>
                <a:ea typeface="DM Sans" pitchFamily="34" charset="-122"/>
                <a:cs typeface="DM Sans" pitchFamily="34" charset="-120"/>
              </a:rPr>
              <a:t>PROBLEM 2</a:t>
            </a:r>
            <a:endParaRPr lang="en-US" sz="1200" dirty="0"/>
          </a:p>
        </p:txBody>
      </p:sp>
      <p:sp>
        <p:nvSpPr>
          <p:cNvPr id="12" name="Text 10"/>
          <p:cNvSpPr/>
          <p:nvPr/>
        </p:nvSpPr>
        <p:spPr>
          <a:xfrm>
            <a:off x="6534150" y="2480171"/>
            <a:ext cx="466991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DM Sans" pitchFamily="34" charset="0"/>
                <a:ea typeface="DM Sans" pitchFamily="34" charset="-122"/>
                <a:cs typeface="DM Sans" pitchFamily="34" charset="-120"/>
              </a:rPr>
              <a:t>Grades have an order</a:t>
            </a:r>
            <a:endParaRPr lang="en-US" sz="2000" dirty="0"/>
          </a:p>
        </p:txBody>
      </p:sp>
      <p:sp>
        <p:nvSpPr>
          <p:cNvPr id="13" name="Text 11"/>
          <p:cNvSpPr/>
          <p:nvPr/>
        </p:nvSpPr>
        <p:spPr>
          <a:xfrm>
            <a:off x="6534150" y="2886571"/>
            <a:ext cx="466991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A5C"/>
                </a:solidFill>
                <a:latin typeface="DM Sans" pitchFamily="34" charset="0"/>
                <a:ea typeface="DM Sans" pitchFamily="34" charset="-122"/>
                <a:cs typeface="DM Sans" pitchFamily="34" charset="-120"/>
              </a:rPr>
              <a:t>The usual loss, cross-entropy, treats every wrong grade the same.</a:t>
            </a:r>
            <a:endParaRPr lang="en-US" sz="1500" dirty="0"/>
          </a:p>
        </p:txBody>
      </p:sp>
      <p:sp>
        <p:nvSpPr>
          <p:cNvPr id="14" name="Text 12"/>
          <p:cNvSpPr/>
          <p:nvPr/>
        </p:nvSpPr>
        <p:spPr>
          <a:xfrm>
            <a:off x="6534150" y="3521571"/>
            <a:ext cx="466991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DM Sans" pitchFamily="34" charset="0"/>
                <a:ea typeface="DM Sans" pitchFamily="34" charset="-122"/>
                <a:cs typeface="DM Sans" pitchFamily="34" charset="-120"/>
              </a:rPr>
              <a:t>Grade 4 called Grade 3: </a:t>
            </a:r>
            <a:r>
              <a:rPr lang="en-US" sz="1500" b="1" dirty="0">
                <a:solidFill>
                  <a:srgbClr val="14213D"/>
                </a:solidFill>
                <a:latin typeface="DM Sans" pitchFamily="34" charset="0"/>
                <a:ea typeface="DM Sans" pitchFamily="34" charset="-122"/>
                <a:cs typeface="DM Sans" pitchFamily="34" charset="-120"/>
              </a:rPr>
              <a:t>small mistake</a:t>
            </a:r>
            <a:endParaRPr lang="en-US" sz="1500" dirty="0"/>
          </a:p>
        </p:txBody>
      </p:sp>
      <p:sp>
        <p:nvSpPr>
          <p:cNvPr id="15" name="Text 13"/>
          <p:cNvSpPr/>
          <p:nvPr/>
        </p:nvSpPr>
        <p:spPr>
          <a:xfrm>
            <a:off x="6534150" y="3889871"/>
            <a:ext cx="466991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DM Sans" pitchFamily="34" charset="0"/>
                <a:ea typeface="DM Sans" pitchFamily="34" charset="-122"/>
                <a:cs typeface="DM Sans" pitchFamily="34" charset="-120"/>
              </a:rPr>
              <a:t>Grade 4 called Grade 0: </a:t>
            </a:r>
            <a:r>
              <a:rPr lang="en-US" sz="1500" b="1" dirty="0">
                <a:solidFill>
                  <a:srgbClr val="B4501F"/>
                </a:solidFill>
                <a:latin typeface="DM Sans" pitchFamily="34" charset="0"/>
                <a:ea typeface="DM Sans" pitchFamily="34" charset="-122"/>
                <a:cs typeface="DM Sans" pitchFamily="34" charset="-120"/>
              </a:rPr>
              <a:t>big mistake</a:t>
            </a:r>
            <a:endParaRPr lang="en-US" sz="1500" dirty="0"/>
          </a:p>
        </p:txBody>
      </p:sp>
      <p:sp>
        <p:nvSpPr>
          <p:cNvPr id="16" name="Text 14"/>
          <p:cNvSpPr/>
          <p:nvPr/>
        </p:nvSpPr>
        <p:spPr>
          <a:xfrm>
            <a:off x="812800" y="5131792"/>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5"/>
                </a:solidFill>
                <a:latin typeface="DM Sans" pitchFamily="34" charset="0"/>
                <a:ea typeface="DM Sans" pitchFamily="34" charset="-122"/>
                <a:cs typeface="DM Sans" pitchFamily="34" charset="-120"/>
              </a:rPr>
              <a:t>QWK (quadratic weighted kappa): the standard score for ordered grades. 1 = perfect; far-off mistakes cost more.</a:t>
            </a:r>
            <a:endParaRPr lang="en-US" sz="1200" dirty="0"/>
          </a:p>
        </p:txBody>
      </p:sp>
      <p:sp>
        <p:nvSpPr>
          <p:cNvPr id="17" name="Text 15"/>
          <p:cNvSpPr/>
          <p:nvPr/>
        </p:nvSpPr>
        <p:spPr>
          <a:xfrm>
            <a:off x="812800" y="6238280"/>
            <a:ext cx="311157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5"/>
                </a:solidFill>
                <a:latin typeface="DM Sans" pitchFamily="34" charset="0"/>
                <a:ea typeface="DM Sans" pitchFamily="34" charset="-122"/>
                <a:cs typeface="DM Sans" pitchFamily="34" charset="-120"/>
              </a:rPr>
              <a:t>OrdinalFed · IEEE WIECON-ECE 2026</a:t>
            </a:r>
            <a:endParaRPr lang="en-US" sz="1200" dirty="0"/>
          </a:p>
        </p:txBody>
      </p:sp>
      <p:sp>
        <p:nvSpPr>
          <p:cNvPr id="18" name="Text 16"/>
          <p:cNvSpPr/>
          <p:nvPr/>
        </p:nvSpPr>
        <p:spPr>
          <a:xfrm>
            <a:off x="11235829" y="6238280"/>
            <a:ext cx="14337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5"/>
                </a:solidFill>
                <a:latin typeface="DM Sans" pitchFamily="34" charset="0"/>
                <a:ea typeface="DM Sans" pitchFamily="34" charset="-122"/>
                <a:cs typeface="DM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B3"/>
                </a:solidFill>
                <a:latin typeface="DM Sans" pitchFamily="34" charset="0"/>
                <a:ea typeface="DM Sans" pitchFamily="34" charset="-122"/>
                <a:cs typeface="DM Sans" pitchFamily="34" charset="-120"/>
              </a:rPr>
              <a:t>OUR METHOD</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DM Sans" pitchFamily="34" charset="0"/>
                <a:ea typeface="DM Sans" pitchFamily="34" charset="-122"/>
                <a:cs typeface="DM Sans" pitchFamily="34" charset="-120"/>
              </a:rPr>
              <a:t>OrdinalFed has two parts</a:t>
            </a:r>
            <a:endParaRPr lang="en-US" sz="3200" dirty="0"/>
          </a:p>
        </p:txBody>
      </p:sp>
      <p:sp>
        <p:nvSpPr>
          <p:cNvPr id="4" name="Shape 2"/>
          <p:cNvSpPr/>
          <p:nvPr/>
        </p:nvSpPr>
        <p:spPr>
          <a:xfrm>
            <a:off x="815975" y="1857276"/>
            <a:ext cx="5149850" cy="3140571"/>
          </a:xfrm>
          <a:prstGeom prst="roundRect">
            <a:avLst>
              <a:gd name="adj" fmla="val 3943"/>
            </a:avLst>
          </a:prstGeom>
          <a:solidFill>
            <a:srgbClr val="FEFDFB"/>
          </a:solidFill>
          <a:ln w="6350">
            <a:solidFill>
              <a:srgbClr val="E2E0D8"/>
            </a:solidFill>
            <a:prstDash val="solid"/>
          </a:ln>
        </p:spPr>
      </p:sp>
      <p:pic>
        <p:nvPicPr>
          <p:cNvPr id="5" name="Image 0" descr="Home">    </p:cNvPr>
          <p:cNvPicPr>
            <a:picLocks noChangeAspect="1"/>
          </p:cNvPicPr>
          <p:nvPr/>
        </p:nvPicPr>
        <p:blipFill>
          <a:blip r:embed="rId1"/>
          <a:srcRect l="0" r="0" t="0" b="0"/>
          <a:stretch/>
        </p:blipFill>
        <p:spPr>
          <a:xfrm>
            <a:off x="1123950" y="2165251"/>
            <a:ext cx="279400" cy="279400"/>
          </a:xfrm>
          <a:prstGeom prst="rect">
            <a:avLst/>
          </a:prstGeom>
        </p:spPr>
      </p:pic>
      <p:sp>
        <p:nvSpPr>
          <p:cNvPr id="6" name="Text 3"/>
          <p:cNvSpPr/>
          <p:nvPr/>
        </p:nvSpPr>
        <p:spPr>
          <a:xfrm>
            <a:off x="1504950" y="2198291"/>
            <a:ext cx="192416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B3"/>
                </a:solidFill>
                <a:latin typeface="DM Sans" pitchFamily="34" charset="0"/>
                <a:ea typeface="DM Sans" pitchFamily="34" charset="-122"/>
                <a:cs typeface="DM Sans" pitchFamily="34" charset="-120"/>
              </a:rPr>
              <a:t>AT EACH HOSPITAL</a:t>
            </a:r>
            <a:endParaRPr lang="en-US" sz="1200" dirty="0"/>
          </a:p>
        </p:txBody>
      </p:sp>
      <p:sp>
        <p:nvSpPr>
          <p:cNvPr id="7" name="Text 4"/>
          <p:cNvSpPr/>
          <p:nvPr/>
        </p:nvSpPr>
        <p:spPr>
          <a:xfrm>
            <a:off x="1123950" y="2558951"/>
            <a:ext cx="466991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DM Sans" pitchFamily="34" charset="0"/>
                <a:ea typeface="DM Sans" pitchFamily="34" charset="-122"/>
                <a:cs typeface="DM Sans" pitchFamily="34" charset="-120"/>
              </a:rPr>
              <a:t>1. OrdinalLoss</a:t>
            </a:r>
            <a:endParaRPr lang="en-US" sz="2000" dirty="0"/>
          </a:p>
        </p:txBody>
      </p:sp>
      <p:sp>
        <p:nvSpPr>
          <p:cNvPr id="8" name="Text 5"/>
          <p:cNvSpPr/>
          <p:nvPr/>
        </p:nvSpPr>
        <p:spPr>
          <a:xfrm>
            <a:off x="1123950" y="2978051"/>
            <a:ext cx="466991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A5C"/>
                </a:solidFill>
                <a:latin typeface="DM Sans" pitchFamily="34" charset="0"/>
                <a:ea typeface="DM Sans" pitchFamily="34" charset="-122"/>
                <a:cs typeface="DM Sans" pitchFamily="34" charset="-120"/>
              </a:rPr>
              <a:t>Cross-entropy plus a penalty for how far the predicted grade is from the true grade.</a:t>
            </a:r>
            <a:endParaRPr lang="en-US" sz="1500" dirty="0"/>
          </a:p>
        </p:txBody>
      </p:sp>
      <p:sp>
        <p:nvSpPr>
          <p:cNvPr id="9" name="Text 6"/>
          <p:cNvSpPr/>
          <p:nvPr/>
        </p:nvSpPr>
        <p:spPr>
          <a:xfrm>
            <a:off x="1123950" y="3625751"/>
            <a:ext cx="4533900" cy="487660"/>
          </a:xfrm>
          <a:prstGeom prst="roundRect">
            <a:avLst>
              <a:gd name="adj" fmla="val 15626"/>
            </a:avLst>
          </a:prstGeom>
          <a:solidFill>
            <a:srgbClr val="EAF0F7"/>
          </a:solidFill>
          <a:ln/>
        </p:spPr>
        <p:txBody>
          <a:bodyPr wrap="square" lIns="130082" tIns="79282" rIns="3209" bIns="53882" rtlCol="0" anchor="t">
            <a:normAutofit/>
          </a:bodyPr>
          <a:lstStyle/>
          <a:p>
            <a:pPr algn="l" indent="0" marL="0">
              <a:lnSpc>
                <a:spcPts val="2240"/>
              </a:lnSpc>
              <a:buNone/>
            </a:pPr>
            <a:r>
              <a:rPr lang="en-US" sz="1600" i="1" dirty="0">
                <a:solidFill>
                  <a:srgbClr val="14213D"/>
                </a:solidFill>
                <a:latin typeface="DM Sans" pitchFamily="34" charset="0"/>
                <a:ea typeface="DM Sans" pitchFamily="34" charset="-122"/>
                <a:cs typeface="DM Sans" pitchFamily="34" charset="-120"/>
              </a:rPr>
              <a:t>Loss = (1 − λ) · CE + λ · (ŷ − y)²</a:t>
            </a:r>
            <a:endParaRPr lang="en-US" sz="1600" dirty="0"/>
          </a:p>
        </p:txBody>
      </p:sp>
      <p:sp>
        <p:nvSpPr>
          <p:cNvPr id="10" name="Text 7"/>
          <p:cNvSpPr/>
          <p:nvPr/>
        </p:nvSpPr>
        <p:spPr>
          <a:xfrm>
            <a:off x="1123950" y="4227711"/>
            <a:ext cx="466991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B6575"/>
                </a:solidFill>
                <a:latin typeface="DM Sans" pitchFamily="34" charset="0"/>
                <a:ea typeface="DM Sans" pitchFamily="34" charset="-122"/>
                <a:cs typeface="DM Sans" pitchFamily="34" charset="-120"/>
              </a:rPr>
              <a:t>Calling a Grade 4 image “Grade 0” costs 16× more than calling it “Grade 3”.</a:t>
            </a:r>
            <a:endParaRPr lang="en-US" sz="1300" dirty="0"/>
          </a:p>
        </p:txBody>
      </p:sp>
      <p:sp>
        <p:nvSpPr>
          <p:cNvPr id="11" name="Shape 8"/>
          <p:cNvSpPr/>
          <p:nvPr/>
        </p:nvSpPr>
        <p:spPr>
          <a:xfrm>
            <a:off x="6226175" y="1857276"/>
            <a:ext cx="5149850" cy="3140571"/>
          </a:xfrm>
          <a:prstGeom prst="roundRect">
            <a:avLst>
              <a:gd name="adj" fmla="val 3943"/>
            </a:avLst>
          </a:prstGeom>
          <a:solidFill>
            <a:srgbClr val="FEFDFB"/>
          </a:solidFill>
          <a:ln w="6350">
            <a:solidFill>
              <a:srgbClr val="E2E0D8"/>
            </a:solidFill>
            <a:prstDash val="solid"/>
          </a:ln>
        </p:spPr>
      </p:sp>
      <p:pic>
        <p:nvPicPr>
          <p:cNvPr id="12" name="Image 1" descr="Database">    </p:cNvPr>
          <p:cNvPicPr>
            <a:picLocks noChangeAspect="1"/>
          </p:cNvPicPr>
          <p:nvPr/>
        </p:nvPicPr>
        <p:blipFill>
          <a:blip r:embed="rId2"/>
          <a:srcRect l="0" r="0" t="0" b="0"/>
          <a:stretch/>
        </p:blipFill>
        <p:spPr>
          <a:xfrm>
            <a:off x="6534150" y="2165251"/>
            <a:ext cx="279400" cy="279400"/>
          </a:xfrm>
          <a:prstGeom prst="rect">
            <a:avLst/>
          </a:prstGeom>
        </p:spPr>
      </p:pic>
      <p:sp>
        <p:nvSpPr>
          <p:cNvPr id="13" name="Text 9"/>
          <p:cNvSpPr/>
          <p:nvPr/>
        </p:nvSpPr>
        <p:spPr>
          <a:xfrm>
            <a:off x="6915150" y="2198291"/>
            <a:ext cx="153531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B3"/>
                </a:solidFill>
                <a:latin typeface="DM Sans" pitchFamily="34" charset="0"/>
                <a:ea typeface="DM Sans" pitchFamily="34" charset="-122"/>
                <a:cs typeface="DM Sans" pitchFamily="34" charset="-120"/>
              </a:rPr>
              <a:t>AT THE SERVER</a:t>
            </a:r>
            <a:endParaRPr lang="en-US" sz="1200" dirty="0"/>
          </a:p>
        </p:txBody>
      </p:sp>
      <p:sp>
        <p:nvSpPr>
          <p:cNvPr id="14" name="Text 10"/>
          <p:cNvSpPr/>
          <p:nvPr/>
        </p:nvSpPr>
        <p:spPr>
          <a:xfrm>
            <a:off x="6534150" y="2558951"/>
            <a:ext cx="466991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DM Sans" pitchFamily="34" charset="0"/>
                <a:ea typeface="DM Sans" pitchFamily="34" charset="-122"/>
                <a:cs typeface="DM Sans" pitchFamily="34" charset="-120"/>
              </a:rPr>
              <a:t>2. QWK-weighted aggregation</a:t>
            </a:r>
            <a:endParaRPr lang="en-US" sz="2000" dirty="0"/>
          </a:p>
        </p:txBody>
      </p:sp>
      <p:sp>
        <p:nvSpPr>
          <p:cNvPr id="15" name="Text 11"/>
          <p:cNvSpPr/>
          <p:nvPr/>
        </p:nvSpPr>
        <p:spPr>
          <a:xfrm>
            <a:off x="6534150" y="2978051"/>
            <a:ext cx="466991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A5C"/>
                </a:solidFill>
                <a:latin typeface="DM Sans" pitchFamily="34" charset="0"/>
                <a:ea typeface="DM Sans" pitchFamily="34" charset="-122"/>
                <a:cs typeface="DM Sans" pitchFamily="34" charset="-120"/>
              </a:rPr>
              <a:t>The server keeps 50 balanced images (10 per grade) and scores each hospital’s model with QWK.</a:t>
            </a:r>
            <a:endParaRPr lang="en-US" sz="1500" dirty="0"/>
          </a:p>
        </p:txBody>
      </p:sp>
      <p:sp>
        <p:nvSpPr>
          <p:cNvPr id="16" name="Text 12"/>
          <p:cNvSpPr/>
          <p:nvPr/>
        </p:nvSpPr>
        <p:spPr>
          <a:xfrm>
            <a:off x="6534150" y="3625751"/>
            <a:ext cx="466991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DM Sans" pitchFamily="34" charset="0"/>
                <a:ea typeface="DM Sans" pitchFamily="34" charset="-122"/>
                <a:cs typeface="DM Sans" pitchFamily="34" charset="-120"/>
              </a:rPr>
              <a:t>Better models get more weight.</a:t>
            </a:r>
            <a:endParaRPr lang="en-US" sz="1500" dirty="0"/>
          </a:p>
        </p:txBody>
      </p:sp>
      <p:sp>
        <p:nvSpPr>
          <p:cNvPr id="17" name="Text 13"/>
          <p:cNvSpPr/>
          <p:nvPr/>
        </p:nvSpPr>
        <p:spPr>
          <a:xfrm>
            <a:off x="6534150" y="4006751"/>
            <a:ext cx="466991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B6575"/>
                </a:solidFill>
                <a:latin typeface="DM Sans" pitchFamily="34" charset="0"/>
                <a:ea typeface="DM Sans" pitchFamily="34" charset="-122"/>
                <a:cs typeface="DM Sans" pitchFamily="34" charset="-120"/>
              </a:rPr>
              <a:t>No change at the hospitals. No extra communication.</a:t>
            </a:r>
            <a:endParaRPr lang="en-US" sz="1300" dirty="0"/>
          </a:p>
        </p:txBody>
      </p:sp>
      <p:sp>
        <p:nvSpPr>
          <p:cNvPr id="18" name="Text 14"/>
          <p:cNvSpPr/>
          <p:nvPr/>
        </p:nvSpPr>
        <p:spPr>
          <a:xfrm>
            <a:off x="812800" y="6238280"/>
            <a:ext cx="311157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5"/>
                </a:solidFill>
                <a:latin typeface="DM Sans" pitchFamily="34" charset="0"/>
                <a:ea typeface="DM Sans" pitchFamily="34" charset="-122"/>
                <a:cs typeface="DM Sans" pitchFamily="34" charset="-120"/>
              </a:rPr>
              <a:t>OrdinalFed · IEEE WIECON-ECE 2026</a:t>
            </a:r>
            <a:endParaRPr lang="en-US" sz="1200" dirty="0"/>
          </a:p>
        </p:txBody>
      </p:sp>
      <p:sp>
        <p:nvSpPr>
          <p:cNvPr id="19" name="Text 15"/>
          <p:cNvSpPr/>
          <p:nvPr/>
        </p:nvSpPr>
        <p:spPr>
          <a:xfrm>
            <a:off x="11235432" y="6238280"/>
            <a:ext cx="143768"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5"/>
                </a:solidFill>
                <a:latin typeface="DM Sans" pitchFamily="34" charset="0"/>
                <a:ea typeface="DM Sans" pitchFamily="34" charset="-122"/>
                <a:cs typeface="DM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AF0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B3"/>
                </a:solidFill>
                <a:latin typeface="DM Sans" pitchFamily="34" charset="0"/>
                <a:ea typeface="DM Sans" pitchFamily="34" charset="-122"/>
                <a:cs typeface="DM Sans" pitchFamily="34" charset="-120"/>
              </a:rPr>
              <a:t>OUR METHOD</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DM Sans" pitchFamily="34" charset="0"/>
                <a:ea typeface="DM Sans" pitchFamily="34" charset="-122"/>
                <a:cs typeface="DM Sans" pitchFamily="34" charset="-120"/>
              </a:rPr>
              <a:t>How the server sets the weights</a:t>
            </a:r>
            <a:endParaRPr lang="en-US" sz="3200" dirty="0"/>
          </a:p>
        </p:txBody>
      </p:sp>
      <p:sp>
        <p:nvSpPr>
          <p:cNvPr id="4" name="Shape 2"/>
          <p:cNvSpPr/>
          <p:nvPr/>
        </p:nvSpPr>
        <p:spPr>
          <a:xfrm>
            <a:off x="815975" y="1831876"/>
            <a:ext cx="3007717" cy="1875631"/>
          </a:xfrm>
          <a:prstGeom prst="roundRect">
            <a:avLst>
              <a:gd name="adj" fmla="val 6602"/>
            </a:avLst>
          </a:prstGeom>
          <a:solidFill>
            <a:srgbClr val="FEFDFB"/>
          </a:solidFill>
          <a:ln w="6350">
            <a:solidFill>
              <a:srgbClr val="D5DEE9"/>
            </a:solidFill>
            <a:prstDash val="solid"/>
          </a:ln>
        </p:spPr>
      </p:sp>
      <p:sp>
        <p:nvSpPr>
          <p:cNvPr id="5" name="Text 3"/>
          <p:cNvSpPr/>
          <p:nvPr/>
        </p:nvSpPr>
        <p:spPr>
          <a:xfrm>
            <a:off x="1073150" y="2089051"/>
            <a:ext cx="355600" cy="355600"/>
          </a:xfrm>
          <a:prstGeom prst="roundRect">
            <a:avLst>
              <a:gd name="adj" fmla="val 50000"/>
            </a:avLst>
          </a:prstGeom>
          <a:solidFill>
            <a:srgbClr val="2F6FB3"/>
          </a:solidFill>
          <a:ln/>
        </p:spPr>
        <p:txBody>
          <a:bodyPr wrap="square" lIns="0" tIns="0" rIns="0" bIns="0" rtlCol="0" anchor="ctr">
            <a:normAutofit/>
          </a:bodyPr>
          <a:lstStyle/>
          <a:p>
            <a:pPr algn="ctr" indent="0" marL="0">
              <a:lnSpc>
                <a:spcPts val="1960"/>
              </a:lnSpc>
              <a:buNone/>
            </a:pPr>
            <a:r>
              <a:rPr lang="en-US" sz="1400" b="1" dirty="0">
                <a:solidFill>
                  <a:srgbClr val="F7F6F2"/>
                </a:solidFill>
                <a:latin typeface="DM Sans" pitchFamily="34" charset="0"/>
                <a:ea typeface="DM Sans" pitchFamily="34" charset="-122"/>
                <a:cs typeface="DM Sans" pitchFamily="34" charset="-120"/>
              </a:rPr>
              <a:t>1</a:t>
            </a:r>
            <a:endParaRPr lang="en-US" sz="1400" dirty="0"/>
          </a:p>
        </p:txBody>
      </p:sp>
      <p:sp>
        <p:nvSpPr>
          <p:cNvPr id="6" name="Text 4"/>
          <p:cNvSpPr/>
          <p:nvPr/>
        </p:nvSpPr>
        <p:spPr>
          <a:xfrm>
            <a:off x="1073150" y="2546251"/>
            <a:ext cx="256816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DM Sans" pitchFamily="34" charset="0"/>
                <a:ea typeface="DM Sans" pitchFamily="34" charset="-122"/>
                <a:cs typeface="DM Sans" pitchFamily="34" charset="-120"/>
              </a:rPr>
              <a:t>Score</a:t>
            </a:r>
            <a:endParaRPr lang="en-US" sz="2000" dirty="0"/>
          </a:p>
        </p:txBody>
      </p:sp>
      <p:sp>
        <p:nvSpPr>
          <p:cNvPr id="7" name="Text 5"/>
          <p:cNvSpPr/>
          <p:nvPr/>
        </p:nvSpPr>
        <p:spPr>
          <a:xfrm>
            <a:off x="1073150" y="2952651"/>
            <a:ext cx="2568168"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DM Sans" pitchFamily="34" charset="0"/>
                <a:ea typeface="DM Sans" pitchFamily="34" charset="-122"/>
                <a:cs typeface="DM Sans" pitchFamily="34" charset="-120"/>
              </a:rPr>
              <a:t>QWK of each model on the 50 server images</a:t>
            </a:r>
            <a:endParaRPr lang="en-US" sz="1400" dirty="0"/>
          </a:p>
        </p:txBody>
      </p:sp>
      <p:pic>
        <p:nvPicPr>
          <p:cNvPr id="8" name="Image 0" descr="arrow-right">    </p:cNvPr>
          <p:cNvPicPr>
            <a:picLocks noChangeAspect="1"/>
          </p:cNvPicPr>
          <p:nvPr/>
        </p:nvPicPr>
        <p:blipFill>
          <a:blip r:embed="rId1"/>
          <a:srcRect l="0" r="0" t="0" b="0"/>
          <a:stretch/>
        </p:blipFill>
        <p:spPr>
          <a:xfrm>
            <a:off x="3979267" y="2655391"/>
            <a:ext cx="457200" cy="228600"/>
          </a:xfrm>
          <a:prstGeom prst="rect">
            <a:avLst/>
          </a:prstGeom>
        </p:spPr>
      </p:pic>
      <p:sp>
        <p:nvSpPr>
          <p:cNvPr id="9" name="Shape 6"/>
          <p:cNvSpPr/>
          <p:nvPr/>
        </p:nvSpPr>
        <p:spPr>
          <a:xfrm>
            <a:off x="4592042" y="1831876"/>
            <a:ext cx="3007816" cy="1875631"/>
          </a:xfrm>
          <a:prstGeom prst="roundRect">
            <a:avLst>
              <a:gd name="adj" fmla="val 6602"/>
            </a:avLst>
          </a:prstGeom>
          <a:solidFill>
            <a:srgbClr val="FEFDFB"/>
          </a:solidFill>
          <a:ln w="6350">
            <a:solidFill>
              <a:srgbClr val="D5DEE9"/>
            </a:solidFill>
            <a:prstDash val="solid"/>
          </a:ln>
        </p:spPr>
      </p:sp>
      <p:sp>
        <p:nvSpPr>
          <p:cNvPr id="10" name="Text 7"/>
          <p:cNvSpPr/>
          <p:nvPr/>
        </p:nvSpPr>
        <p:spPr>
          <a:xfrm>
            <a:off x="4849217" y="2089051"/>
            <a:ext cx="355600" cy="355600"/>
          </a:xfrm>
          <a:prstGeom prst="roundRect">
            <a:avLst>
              <a:gd name="adj" fmla="val 50000"/>
            </a:avLst>
          </a:prstGeom>
          <a:solidFill>
            <a:srgbClr val="2F6FB3"/>
          </a:solidFill>
          <a:ln/>
        </p:spPr>
        <p:txBody>
          <a:bodyPr wrap="square" lIns="0" tIns="0" rIns="0" bIns="0" rtlCol="0" anchor="ctr">
            <a:normAutofit/>
          </a:bodyPr>
          <a:lstStyle/>
          <a:p>
            <a:pPr algn="ctr" indent="0" marL="0">
              <a:lnSpc>
                <a:spcPts val="1960"/>
              </a:lnSpc>
              <a:buNone/>
            </a:pPr>
            <a:r>
              <a:rPr lang="en-US" sz="1400" b="1" dirty="0">
                <a:solidFill>
                  <a:srgbClr val="F7F6F2"/>
                </a:solidFill>
                <a:latin typeface="DM Sans" pitchFamily="34" charset="0"/>
                <a:ea typeface="DM Sans" pitchFamily="34" charset="-122"/>
                <a:cs typeface="DM Sans" pitchFamily="34" charset="-120"/>
              </a:rPr>
              <a:t>2</a:t>
            </a:r>
            <a:endParaRPr lang="en-US" sz="1400" dirty="0"/>
          </a:p>
        </p:txBody>
      </p:sp>
      <p:sp>
        <p:nvSpPr>
          <p:cNvPr id="11" name="Text 8"/>
          <p:cNvSpPr/>
          <p:nvPr/>
        </p:nvSpPr>
        <p:spPr>
          <a:xfrm>
            <a:off x="4849217" y="2546251"/>
            <a:ext cx="256827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DM Sans" pitchFamily="34" charset="0"/>
                <a:ea typeface="DM Sans" pitchFamily="34" charset="-122"/>
                <a:cs typeface="DM Sans" pitchFamily="34" charset="-120"/>
              </a:rPr>
              <a:t>Convert</a:t>
            </a:r>
            <a:endParaRPr lang="en-US" sz="2000" dirty="0"/>
          </a:p>
        </p:txBody>
      </p:sp>
      <p:sp>
        <p:nvSpPr>
          <p:cNvPr id="12" name="Text 9"/>
          <p:cNvSpPr/>
          <p:nvPr/>
        </p:nvSpPr>
        <p:spPr>
          <a:xfrm>
            <a:off x="4849217" y="2952651"/>
            <a:ext cx="256827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DM Sans" pitchFamily="34" charset="0"/>
                <a:ea typeface="DM Sans" pitchFamily="34" charset="-122"/>
                <a:cs typeface="DM Sans" pitchFamily="34" charset="-120"/>
              </a:rPr>
              <a:t>A softmax turns the scores into quality weights</a:t>
            </a:r>
            <a:endParaRPr lang="en-US" sz="1400" dirty="0"/>
          </a:p>
        </p:txBody>
      </p:sp>
      <p:pic>
        <p:nvPicPr>
          <p:cNvPr id="13" name="Image 1" descr="arrow-right">    </p:cNvPr>
          <p:cNvPicPr>
            <a:picLocks noChangeAspect="1"/>
          </p:cNvPicPr>
          <p:nvPr/>
        </p:nvPicPr>
        <p:blipFill>
          <a:blip r:embed="rId2"/>
          <a:srcRect l="0" r="0" t="0" b="0"/>
          <a:stretch/>
        </p:blipFill>
        <p:spPr>
          <a:xfrm>
            <a:off x="7755434" y="2655391"/>
            <a:ext cx="457200" cy="228600"/>
          </a:xfrm>
          <a:prstGeom prst="rect">
            <a:avLst/>
          </a:prstGeom>
        </p:spPr>
      </p:pic>
      <p:sp>
        <p:nvSpPr>
          <p:cNvPr id="14" name="Shape 10"/>
          <p:cNvSpPr/>
          <p:nvPr/>
        </p:nvSpPr>
        <p:spPr>
          <a:xfrm>
            <a:off x="8368209" y="1831876"/>
            <a:ext cx="3007816" cy="1875631"/>
          </a:xfrm>
          <a:prstGeom prst="roundRect">
            <a:avLst>
              <a:gd name="adj" fmla="val 6602"/>
            </a:avLst>
          </a:prstGeom>
          <a:solidFill>
            <a:srgbClr val="FEFDFB"/>
          </a:solidFill>
          <a:ln w="6350">
            <a:solidFill>
              <a:srgbClr val="D5DEE9"/>
            </a:solidFill>
            <a:prstDash val="solid"/>
          </a:ln>
        </p:spPr>
      </p:sp>
      <p:sp>
        <p:nvSpPr>
          <p:cNvPr id="15" name="Text 11"/>
          <p:cNvSpPr/>
          <p:nvPr/>
        </p:nvSpPr>
        <p:spPr>
          <a:xfrm>
            <a:off x="8625384" y="2089051"/>
            <a:ext cx="355600" cy="355600"/>
          </a:xfrm>
          <a:prstGeom prst="roundRect">
            <a:avLst>
              <a:gd name="adj" fmla="val 50000"/>
            </a:avLst>
          </a:prstGeom>
          <a:solidFill>
            <a:srgbClr val="2F6FB3"/>
          </a:solidFill>
          <a:ln/>
        </p:spPr>
        <p:txBody>
          <a:bodyPr wrap="square" lIns="0" tIns="0" rIns="0" bIns="0" rtlCol="0" anchor="ctr">
            <a:normAutofit/>
          </a:bodyPr>
          <a:lstStyle/>
          <a:p>
            <a:pPr algn="ctr" indent="0" marL="0">
              <a:lnSpc>
                <a:spcPts val="1960"/>
              </a:lnSpc>
              <a:buNone/>
            </a:pPr>
            <a:r>
              <a:rPr lang="en-US" sz="1400" b="1" dirty="0">
                <a:solidFill>
                  <a:srgbClr val="F7F6F2"/>
                </a:solidFill>
                <a:latin typeface="DM Sans" pitchFamily="34" charset="0"/>
                <a:ea typeface="DM Sans" pitchFamily="34" charset="-122"/>
                <a:cs typeface="DM Sans" pitchFamily="34" charset="-120"/>
              </a:rPr>
              <a:t>3</a:t>
            </a:r>
            <a:endParaRPr lang="en-US" sz="1400" dirty="0"/>
          </a:p>
        </p:txBody>
      </p:sp>
      <p:sp>
        <p:nvSpPr>
          <p:cNvPr id="16" name="Text 12"/>
          <p:cNvSpPr/>
          <p:nvPr/>
        </p:nvSpPr>
        <p:spPr>
          <a:xfrm>
            <a:off x="8625384" y="2546251"/>
            <a:ext cx="256827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DM Sans" pitchFamily="34" charset="0"/>
                <a:ea typeface="DM Sans" pitchFamily="34" charset="-122"/>
                <a:cs typeface="DM Sans" pitchFamily="34" charset="-120"/>
              </a:rPr>
              <a:t>Mix</a:t>
            </a:r>
            <a:endParaRPr lang="en-US" sz="2000" dirty="0"/>
          </a:p>
        </p:txBody>
      </p:sp>
      <p:sp>
        <p:nvSpPr>
          <p:cNvPr id="17" name="Text 13"/>
          <p:cNvSpPr/>
          <p:nvPr/>
        </p:nvSpPr>
        <p:spPr>
          <a:xfrm>
            <a:off x="8625384" y="2952651"/>
            <a:ext cx="256827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DM Sans" pitchFamily="34" charset="0"/>
                <a:ea typeface="DM Sans" pitchFamily="34" charset="-122"/>
                <a:cs typeface="DM Sans" pitchFamily="34" charset="-120"/>
              </a:rPr>
              <a:t>weight = β · image share + (1 − β) · quality</a:t>
            </a:r>
            <a:endParaRPr lang="en-US" sz="1400" dirty="0"/>
          </a:p>
        </p:txBody>
      </p:sp>
      <p:sp>
        <p:nvSpPr>
          <p:cNvPr id="18" name="Shape 14"/>
          <p:cNvSpPr/>
          <p:nvPr/>
        </p:nvSpPr>
        <p:spPr>
          <a:xfrm>
            <a:off x="812800" y="3990082"/>
            <a:ext cx="10566400" cy="152400"/>
          </a:xfrm>
          <a:prstGeom prst="roundRect">
            <a:avLst>
              <a:gd name="adj" fmla="val 50000"/>
            </a:avLst>
          </a:prstGeom>
          <a:gradFill rotWithShape="1">
            <a:gsLst>
              <a:gs pos="0">
                <a:srgbClr val="A9C8EA"/>
              </a:gs>
              <a:gs pos="100000">
                <a:srgbClr val="1F4E8C"/>
              </a:gs>
            </a:gsLst>
            <a:lin ang="0" scaled="0"/>
          </a:gradFill>
          <a:ln/>
        </p:spPr>
      </p:sp>
      <p:sp>
        <p:nvSpPr>
          <p:cNvPr id="19" name="Text 15"/>
          <p:cNvSpPr/>
          <p:nvPr/>
        </p:nvSpPr>
        <p:spPr>
          <a:xfrm>
            <a:off x="812800" y="4218682"/>
            <a:ext cx="401681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DM Sans" pitchFamily="34" charset="0"/>
                <a:ea typeface="DM Sans" pitchFamily="34" charset="-122"/>
                <a:cs typeface="DM Sans" pitchFamily="34" charset="-120"/>
              </a:rPr>
              <a:t>Round 1: β = 0.5 (counts and quality equal)</a:t>
            </a:r>
            <a:endParaRPr lang="en-US" sz="1300" dirty="0"/>
          </a:p>
        </p:txBody>
      </p:sp>
      <p:sp>
        <p:nvSpPr>
          <p:cNvPr id="20" name="Text 16"/>
          <p:cNvSpPr/>
          <p:nvPr/>
        </p:nvSpPr>
        <p:spPr>
          <a:xfrm>
            <a:off x="8629928" y="4218682"/>
            <a:ext cx="2749272" cy="25648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14213D"/>
                </a:solidFill>
                <a:latin typeface="DM Sans" pitchFamily="34" charset="0"/>
                <a:ea typeface="DM Sans" pitchFamily="34" charset="-122"/>
                <a:cs typeface="DM Sans" pitchFamily="34" charset="-120"/>
              </a:rPr>
              <a:t>Round 10: β = 0 (quality only)</a:t>
            </a:r>
            <a:endParaRPr lang="en-US" sz="1300" dirty="0"/>
          </a:p>
        </p:txBody>
      </p:sp>
      <p:sp>
        <p:nvSpPr>
          <p:cNvPr id="21" name="Text 17"/>
          <p:cNvSpPr/>
          <p:nvPr/>
        </p:nvSpPr>
        <p:spPr>
          <a:xfrm>
            <a:off x="812800" y="4729163"/>
            <a:ext cx="1088339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C"/>
                </a:solidFill>
                <a:latin typeface="DM Sans" pitchFamily="34" charset="0"/>
                <a:ea typeface="DM Sans" pitchFamily="34" charset="-122"/>
                <a:cs typeface="DM Sans" pitchFamily="34" charset="-120"/>
              </a:rPr>
              <a:t>β falls smoothly over the rounds. Every hospital keeps a minimum weight, so no one is ever left out.</a:t>
            </a:r>
            <a:endParaRPr lang="en-US" sz="1300" dirty="0"/>
          </a:p>
        </p:txBody>
      </p:sp>
      <p:sp>
        <p:nvSpPr>
          <p:cNvPr id="22" name="Text 18"/>
          <p:cNvSpPr/>
          <p:nvPr/>
        </p:nvSpPr>
        <p:spPr>
          <a:xfrm>
            <a:off x="812800" y="6238280"/>
            <a:ext cx="311157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A6B"/>
                </a:solidFill>
                <a:latin typeface="DM Sans" pitchFamily="34" charset="0"/>
                <a:ea typeface="DM Sans" pitchFamily="34" charset="-122"/>
                <a:cs typeface="DM Sans" pitchFamily="34" charset="-120"/>
              </a:rPr>
              <a:t>OrdinalFed · IEEE WIECON-ECE 2026</a:t>
            </a:r>
            <a:endParaRPr lang="en-US" sz="1200" dirty="0"/>
          </a:p>
        </p:txBody>
      </p:sp>
      <p:sp>
        <p:nvSpPr>
          <p:cNvPr id="23" name="Text 19"/>
          <p:cNvSpPr/>
          <p:nvPr/>
        </p:nvSpPr>
        <p:spPr>
          <a:xfrm>
            <a:off x="11232654" y="6238280"/>
            <a:ext cx="146546"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F5A6B"/>
                </a:solidFill>
                <a:latin typeface="DM Sans" pitchFamily="34" charset="0"/>
                <a:ea typeface="DM Sans" pitchFamily="34" charset="-122"/>
                <a:cs typeface="DM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B3"/>
                </a:solidFill>
                <a:latin typeface="DM Sans" pitchFamily="34" charset="0"/>
                <a:ea typeface="DM Sans" pitchFamily="34" charset="-122"/>
                <a:cs typeface="DM Sans" pitchFamily="34" charset="-120"/>
              </a:rPr>
              <a:t>EXPERIMENTS</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DM Sans" pitchFamily="34" charset="0"/>
                <a:ea typeface="DM Sans" pitchFamily="34" charset="-122"/>
                <a:cs typeface="DM Sans" pitchFamily="34" charset="-120"/>
              </a:rPr>
              <a:t>Experimental setup</a:t>
            </a:r>
            <a:endParaRPr lang="en-US" sz="3200" dirty="0"/>
          </a:p>
        </p:txBody>
      </p:sp>
      <p:sp>
        <p:nvSpPr>
          <p:cNvPr id="4" name="Shape 2"/>
          <p:cNvSpPr/>
          <p:nvPr/>
        </p:nvSpPr>
        <p:spPr>
          <a:xfrm>
            <a:off x="812800" y="1854101"/>
            <a:ext cx="10566400" cy="3067050"/>
          </a:xfrm>
          <a:custGeom>
            <a:avLst/>
            <a:gdLst/>
            <a:ahLst/>
            <a:cxnLst/>
            <a:rect l="l" t="t" r="r" b="b"/>
            <a:pathLst>
              <a:path w="10566400" h="3067050">
                <a:moveTo>
                  <a:pt x="10464800" y="0"/>
                </a:moveTo>
                <a:lnTo>
                  <a:pt x="10464800" y="0"/>
                </a:lnTo>
                <a:arcTo hR="101600" wR="101600" stAng="16200000" swAng="5400000"/>
                <a:lnTo>
                  <a:pt x="10566400" y="2965450"/>
                </a:lnTo>
                <a:arcTo hR="101600" wR="101600" stAng="0" swAng="5400000"/>
                <a:lnTo>
                  <a:pt x="101600" y="3067050"/>
                </a:lnTo>
                <a:arcTo hR="101600" wR="101600" stAng="5400000" swAng="5400000"/>
                <a:lnTo>
                  <a:pt x="0" y="2965450"/>
                </a:lnTo>
                <a:arcTo hR="95250" wR="101600" stAng="10800000" swAng="-5400000"/>
                <a:lnTo>
                  <a:pt x="10464800" y="3060700"/>
                </a:lnTo>
                <a:arcTo hR="95250" wR="95250" stAng="5400000" swAng="-5400000"/>
                <a:lnTo>
                  <a:pt x="10560050" y="101600"/>
                </a:lnTo>
                <a:arcTo hR="101600" wR="95250" stAng="0" swAng="-5400000"/>
                <a:close/>
              </a:path>
            </a:pathLst>
          </a:custGeom>
          <a:solidFill>
            <a:srgbClr val="E2E0D8"/>
          </a:solidFill>
          <a:ln/>
        </p:spPr>
      </p:sp>
      <p:sp>
        <p:nvSpPr>
          <p:cNvPr id="5" name="Shape 3"/>
          <p:cNvSpPr/>
          <p:nvPr/>
        </p:nvSpPr>
        <p:spPr>
          <a:xfrm>
            <a:off x="812800" y="1854101"/>
            <a:ext cx="10566400" cy="3067050"/>
          </a:xfrm>
          <a:custGeom>
            <a:avLst/>
            <a:gdLst/>
            <a:ahLst/>
            <a:cxnLst/>
            <a:rect l="l" t="t" r="r" b="b"/>
            <a:pathLst>
              <a:path w="10566400" h="3067050">
                <a:moveTo>
                  <a:pt x="101600" y="3067050"/>
                </a:moveTo>
                <a:lnTo>
                  <a:pt x="101600" y="3067050"/>
                </a:lnTo>
                <a:arcTo hR="101600" wR="101600" stAng="5400000" swAng="5400000"/>
                <a:lnTo>
                  <a:pt x="0" y="101600"/>
                </a:lnTo>
                <a:arcTo hR="101600" wR="101600" stAng="10800000" swAng="5400000"/>
                <a:lnTo>
                  <a:pt x="10464800" y="0"/>
                </a:lnTo>
                <a:arcTo hR="101600" wR="101600" stAng="16200000" swAng="5400000"/>
                <a:lnTo>
                  <a:pt x="10566400" y="101600"/>
                </a:lnTo>
                <a:arcTo hR="88900" wR="101600" stAng="0" swAng="-5400000"/>
                <a:lnTo>
                  <a:pt x="101600" y="12700"/>
                </a:lnTo>
                <a:arcTo hR="88900" wR="88900" stAng="16200000" swAng="-5400000"/>
                <a:lnTo>
                  <a:pt x="12700" y="2965450"/>
                </a:lnTo>
                <a:arcTo hR="101600" wR="88900" stAng="10800000" swAng="-5400000"/>
                <a:close/>
              </a:path>
            </a:pathLst>
          </a:custGeom>
          <a:solidFill>
            <a:srgbClr val="141413">
              <a:alpha val="22000"/>
            </a:srgbClr>
          </a:solidFill>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1866801"/>
          <a:ext cx="10547350" cy="3048000"/>
        </p:xfrm>
        <a:graphic>
          <a:graphicData uri="http://schemas.openxmlformats.org/drawingml/2006/table">
            <a:tbl>
              <a:tblPr/>
              <a:tblGrid>
                <a:gridCol w="2531364"/>
                <a:gridCol w="8015986"/>
              </a:tblGrid>
              <a:tr h="508000">
                <a:tc>
                  <a:txBody>
                    <a:bodyPr/>
                    <a:lstStyle/>
                    <a:p>
                      <a:pPr indent="0" marL="0">
                        <a:lnSpc>
                          <a:spcPts val="2100"/>
                        </a:lnSpc>
                        <a:buNone/>
                      </a:pPr>
                      <a:r>
                        <a:rPr lang="en-US" sz="1500" dirty="0">
                          <a:solidFill>
                            <a:srgbClr val="14213D"/>
                          </a:solidFill>
                          <a:latin typeface="DM Sans" pitchFamily="34" charset="0"/>
                          <a:ea typeface="DM Sans" pitchFamily="34" charset="-122"/>
                          <a:cs typeface="DM Sans" pitchFamily="34" charset="-120"/>
                        </a:rPr>
                        <a:t>Dataset</a:t>
                      </a:r>
                      <a:endParaRPr lang="en-US" sz="1500" dirty="0">
                        <a:latin typeface="DM Sans" charset="0"/>
                        <a:ea typeface="DM Sans" charset="0"/>
                        <a:cs typeface="DM Sans" charset="0"/>
                      </a:endParaRPr>
                    </a:p>
                  </a:txBody>
                  <a:tcPr marL="177800" marR="177800" marT="114300" marB="114300" anchor="t">
                    <a:lnL w="0" cap="flat" cmpd="sng" algn="ctr">
                      <a:noFill/>
                    </a:lnL>
                    <a:lnR w="12700" cap="flat" cmpd="sng" algn="ctr">
                      <a:solidFill>
                        <a:srgbClr val="CBCAC8"/>
                      </a:solidFill>
                      <a:prstDash val="solid"/>
                      <a:round/>
                      <a:headEnd type="none" w="med" len="med"/>
                      <a:tailEnd type="none" w="med" len="med"/>
                    </a:lnR>
                    <a:lnT w="0" cap="flat" cmpd="sng" algn="ctr">
                      <a:noFill/>
                    </a:lnT>
                    <a:lnB w="12700" cap="flat" cmpd="sng" algn="ctr">
                      <a:solidFill>
                        <a:srgbClr val="CBCAC8"/>
                      </a:solidFill>
                      <a:prstDash val="solid"/>
                      <a:round/>
                      <a:headEnd type="none" w="med" len="med"/>
                      <a:tailEnd type="none" w="med" len="med"/>
                    </a:lnB>
                    <a:solidFill>
                      <a:srgbClr val="FEFDFB"/>
                    </a:solidFill>
                  </a:tcPr>
                </a:tc>
                <a:tc>
                  <a:txBody>
                    <a:bodyPr/>
                    <a:lstStyle/>
                    <a:p>
                      <a:pPr indent="0" marL="0">
                        <a:lnSpc>
                          <a:spcPts val="2100"/>
                        </a:lnSpc>
                        <a:buNone/>
                      </a:pPr>
                      <a:r>
                        <a:rPr lang="en-US" sz="1500" dirty="0">
                          <a:solidFill>
                            <a:srgbClr val="14213D"/>
                          </a:solidFill>
                          <a:latin typeface="DM Sans" pitchFamily="34" charset="0"/>
                          <a:ea typeface="DM Sans" pitchFamily="34" charset="-122"/>
                          <a:cs typeface="DM Sans" pitchFamily="34" charset="-120"/>
                        </a:rPr>
                        <a:t>DDR: 12,522 gradable fundus images (6,260 train · 2,503 validation · 3,759 test)</a:t>
                      </a:r>
                      <a:endParaRPr lang="en-US" sz="1500" dirty="0">
                        <a:latin typeface="DM Sans" charset="0"/>
                        <a:ea typeface="DM Sans" charset="0"/>
                        <a:cs typeface="DM Sans" charset="0"/>
                      </a:endParaRPr>
                    </a:p>
                  </a:txBody>
                  <a:tcPr marL="177800" marR="177800" marT="114300" marB="114300" anchor="t">
                    <a:lnL w="12700" cap="flat" cmpd="sng" algn="ctr">
                      <a:solidFill>
                        <a:srgbClr val="CBCAC8"/>
                      </a:solidFill>
                      <a:prstDash val="solid"/>
                      <a:round/>
                      <a:headEnd type="none" w="med" len="med"/>
                      <a:tailEnd type="none" w="med" len="med"/>
                    </a:lnL>
                    <a:lnR w="12700" cap="flat" cmpd="sng" algn="ctr">
                      <a:solidFill>
                        <a:srgbClr val="CBCAC8"/>
                      </a:solidFill>
                      <a:prstDash val="solid"/>
                      <a:round/>
                      <a:headEnd type="none" w="med" len="med"/>
                      <a:tailEnd type="none" w="med" len="med"/>
                    </a:lnR>
                    <a:lnT w="0" cap="flat" cmpd="sng" algn="ctr">
                      <a:noFill/>
                    </a:lnT>
                    <a:lnB w="12700" cap="flat" cmpd="sng" algn="ctr">
                      <a:solidFill>
                        <a:srgbClr val="CBCAC8"/>
                      </a:solidFill>
                      <a:prstDash val="solid"/>
                      <a:round/>
                      <a:headEnd type="none" w="med" len="med"/>
                      <a:tailEnd type="none" w="med" len="med"/>
                    </a:lnB>
                    <a:solidFill>
                      <a:srgbClr val="FEFDFB"/>
                    </a:solidFill>
                  </a:tcPr>
                </a:tc>
              </a:tr>
              <a:tr h="508000">
                <a:tc>
                  <a:txBody>
                    <a:bodyPr/>
                    <a:lstStyle/>
                    <a:p>
                      <a:pPr indent="0" marL="0">
                        <a:lnSpc>
                          <a:spcPts val="2100"/>
                        </a:lnSpc>
                        <a:buNone/>
                      </a:pPr>
                      <a:r>
                        <a:rPr lang="en-US" sz="1500" dirty="0">
                          <a:solidFill>
                            <a:srgbClr val="14213D"/>
                          </a:solidFill>
                          <a:latin typeface="DM Sans" pitchFamily="34" charset="0"/>
                          <a:ea typeface="DM Sans" pitchFamily="34" charset="-122"/>
                          <a:cs typeface="DM Sans" pitchFamily="34" charset="-120"/>
                        </a:rPr>
                        <a:t>Clients</a:t>
                      </a:r>
                      <a:endParaRPr lang="en-US" sz="1500" dirty="0">
                        <a:latin typeface="DM Sans" charset="0"/>
                        <a:ea typeface="DM Sans" charset="0"/>
                        <a:cs typeface="DM Sans" charset="0"/>
                      </a:endParaRPr>
                    </a:p>
                  </a:txBody>
                  <a:tcPr marL="177800" marR="177800" marT="114300" marB="114300" anchor="t">
                    <a:lnL w="0" cap="flat" cmpd="sng" algn="ctr">
                      <a:noFill/>
                    </a:lnL>
                    <a:lnR w="12700" cap="flat" cmpd="sng" algn="ctr">
                      <a:solidFill>
                        <a:srgbClr val="C0BEB8"/>
                      </a:solidFill>
                      <a:prstDash val="solid"/>
                      <a:round/>
                      <a:headEnd type="none" w="med" len="med"/>
                      <a:tailEnd type="none" w="med" len="med"/>
                    </a:lnR>
                    <a:lnT w="12700" cap="flat" cmpd="sng" algn="ctr">
                      <a:solidFill>
                        <a:srgbClr val="CBCAC8"/>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7"/>
                    </a:solidFill>
                  </a:tcPr>
                </a:tc>
                <a:tc>
                  <a:txBody>
                    <a:bodyPr/>
                    <a:lstStyle/>
                    <a:p>
                      <a:pPr indent="0" marL="0">
                        <a:lnSpc>
                          <a:spcPts val="2100"/>
                        </a:lnSpc>
                        <a:buNone/>
                      </a:pPr>
                      <a:r>
                        <a:rPr lang="en-US" sz="1500" dirty="0">
                          <a:solidFill>
                            <a:srgbClr val="14213D"/>
                          </a:solidFill>
                          <a:latin typeface="DM Sans" pitchFamily="34" charset="0"/>
                          <a:ea typeface="DM Sans" pitchFamily="34" charset="-122"/>
                          <a:cs typeface="DM Sans" pitchFamily="34" charset="-120"/>
                        </a:rPr>
                        <a:t>5 hospitals; data split 3 ways (next slide)</a:t>
                      </a:r>
                      <a:endParaRPr lang="en-US" sz="1500" dirty="0">
                        <a:latin typeface="DM Sans" charset="0"/>
                        <a:ea typeface="DM Sans" charset="0"/>
                        <a:cs typeface="DM Sans" charset="0"/>
                      </a:endParaRPr>
                    </a:p>
                  </a:txBody>
                  <a:tcPr marL="177800" marR="177800" marT="114300" marB="114300" anchor="t">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AC8"/>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7"/>
                    </a:solidFill>
                  </a:tcPr>
                </a:tc>
              </a:tr>
              <a:tr h="508000">
                <a:tc>
                  <a:txBody>
                    <a:bodyPr/>
                    <a:lstStyle/>
                    <a:p>
                      <a:pPr indent="0" marL="0">
                        <a:lnSpc>
                          <a:spcPts val="2100"/>
                        </a:lnSpc>
                        <a:buNone/>
                      </a:pPr>
                      <a:r>
                        <a:rPr lang="en-US" sz="1500" dirty="0">
                          <a:solidFill>
                            <a:srgbClr val="14213D"/>
                          </a:solidFill>
                          <a:latin typeface="DM Sans" pitchFamily="34" charset="0"/>
                          <a:ea typeface="DM Sans" pitchFamily="34" charset="-122"/>
                          <a:cs typeface="DM Sans" pitchFamily="34" charset="-120"/>
                        </a:rPr>
                        <a:t>Model</a:t>
                      </a:r>
                      <a:endParaRPr lang="en-US" sz="1500" dirty="0">
                        <a:latin typeface="DM Sans" charset="0"/>
                        <a:ea typeface="DM Sans" charset="0"/>
                        <a:cs typeface="DM Sans" charset="0"/>
                      </a:endParaRPr>
                    </a:p>
                  </a:txBody>
                  <a:tcPr marL="177800" marR="177800" marT="114300" marB="114300" anchor="t">
                    <a:lnL w="0" cap="flat" cmpd="sng" algn="ctr">
                      <a:noFill/>
                    </a:lnL>
                    <a:lnR w="12700" cap="flat" cmpd="sng" algn="ctr">
                      <a:solidFill>
                        <a:srgbClr val="CBCAC8"/>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BCAC8"/>
                      </a:solidFill>
                      <a:prstDash val="solid"/>
                      <a:round/>
                      <a:headEnd type="none" w="med" len="med"/>
                      <a:tailEnd type="none" w="med" len="med"/>
                    </a:lnB>
                    <a:solidFill>
                      <a:srgbClr val="FEFDFB"/>
                    </a:solidFill>
                  </a:tcPr>
                </a:tc>
                <a:tc>
                  <a:txBody>
                    <a:bodyPr/>
                    <a:lstStyle/>
                    <a:p>
                      <a:pPr indent="0" marL="0">
                        <a:lnSpc>
                          <a:spcPts val="2100"/>
                        </a:lnSpc>
                        <a:buNone/>
                      </a:pPr>
                      <a:r>
                        <a:rPr lang="en-US" sz="1500" dirty="0">
                          <a:solidFill>
                            <a:srgbClr val="14213D"/>
                          </a:solidFill>
                          <a:latin typeface="DM Sans" pitchFamily="34" charset="0"/>
                          <a:ea typeface="DM Sans" pitchFamily="34" charset="-122"/>
                          <a:cs typeface="DM Sans" pitchFamily="34" charset="-120"/>
                        </a:rPr>
                        <a:t>EfficientNet-B3, 224 × 224 pixels</a:t>
                      </a:r>
                      <a:endParaRPr lang="en-US" sz="1500" dirty="0">
                        <a:latin typeface="DM Sans" charset="0"/>
                        <a:ea typeface="DM Sans" charset="0"/>
                        <a:cs typeface="DM Sans" charset="0"/>
                      </a:endParaRPr>
                    </a:p>
                  </a:txBody>
                  <a:tcPr marL="177800" marR="177800" marT="114300" marB="114300" anchor="t">
                    <a:lnL w="12700" cap="flat" cmpd="sng" algn="ctr">
                      <a:solidFill>
                        <a:srgbClr val="CBCAC8"/>
                      </a:solidFill>
                      <a:prstDash val="solid"/>
                      <a:round/>
                      <a:headEnd type="none" w="med" len="med"/>
                      <a:tailEnd type="none" w="med" len="med"/>
                    </a:lnL>
                    <a:lnR w="12700" cap="flat" cmpd="sng" algn="ctr">
                      <a:solidFill>
                        <a:srgbClr val="CBCAC8"/>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BCAC8"/>
                      </a:solidFill>
                      <a:prstDash val="solid"/>
                      <a:round/>
                      <a:headEnd type="none" w="med" len="med"/>
                      <a:tailEnd type="none" w="med" len="med"/>
                    </a:lnB>
                    <a:solidFill>
                      <a:srgbClr val="FEFDFB"/>
                    </a:solidFill>
                  </a:tcPr>
                </a:tc>
              </a:tr>
              <a:tr h="508000">
                <a:tc>
                  <a:txBody>
                    <a:bodyPr/>
                    <a:lstStyle/>
                    <a:p>
                      <a:pPr indent="0" marL="0">
                        <a:lnSpc>
                          <a:spcPts val="2100"/>
                        </a:lnSpc>
                        <a:buNone/>
                      </a:pPr>
                      <a:r>
                        <a:rPr lang="en-US" sz="1500" dirty="0">
                          <a:solidFill>
                            <a:srgbClr val="14213D"/>
                          </a:solidFill>
                          <a:latin typeface="DM Sans" pitchFamily="34" charset="0"/>
                          <a:ea typeface="DM Sans" pitchFamily="34" charset="-122"/>
                          <a:cs typeface="DM Sans" pitchFamily="34" charset="-120"/>
                        </a:rPr>
                        <a:t>Training</a:t>
                      </a:r>
                      <a:endParaRPr lang="en-US" sz="1500" dirty="0">
                        <a:latin typeface="DM Sans" charset="0"/>
                        <a:ea typeface="DM Sans" charset="0"/>
                        <a:cs typeface="DM Sans" charset="0"/>
                      </a:endParaRPr>
                    </a:p>
                  </a:txBody>
                  <a:tcPr marL="177800" marR="177800" marT="114300" marB="114300" anchor="t">
                    <a:lnL w="0" cap="flat" cmpd="sng" algn="ctr">
                      <a:noFill/>
                    </a:lnL>
                    <a:lnR w="12700" cap="flat" cmpd="sng" algn="ctr">
                      <a:solidFill>
                        <a:srgbClr val="C0BEB8"/>
                      </a:solidFill>
                      <a:prstDash val="solid"/>
                      <a:round/>
                      <a:headEnd type="none" w="med" len="med"/>
                      <a:tailEnd type="none" w="med" len="med"/>
                    </a:lnR>
                    <a:lnT w="12700" cap="flat" cmpd="sng" algn="ctr">
                      <a:solidFill>
                        <a:srgbClr val="CBCAC8"/>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7"/>
                    </a:solidFill>
                  </a:tcPr>
                </a:tc>
                <a:tc>
                  <a:txBody>
                    <a:bodyPr/>
                    <a:lstStyle/>
                    <a:p>
                      <a:pPr indent="0" marL="0">
                        <a:lnSpc>
                          <a:spcPts val="2100"/>
                        </a:lnSpc>
                        <a:buNone/>
                      </a:pPr>
                      <a:r>
                        <a:rPr lang="en-US" sz="1500" dirty="0">
                          <a:solidFill>
                            <a:srgbClr val="14213D"/>
                          </a:solidFill>
                          <a:latin typeface="DM Sans" pitchFamily="34" charset="0"/>
                          <a:ea typeface="DM Sans" pitchFamily="34" charset="-122"/>
                          <a:cs typeface="DM Sans" pitchFamily="34" charset="-120"/>
                        </a:rPr>
                        <a:t>10 rounds × 5 local epochs, 3 random seeds</a:t>
                      </a:r>
                      <a:endParaRPr lang="en-US" sz="1500" dirty="0">
                        <a:latin typeface="DM Sans" charset="0"/>
                        <a:ea typeface="DM Sans" charset="0"/>
                        <a:cs typeface="DM Sans" charset="0"/>
                      </a:endParaRPr>
                    </a:p>
                  </a:txBody>
                  <a:tcPr marL="177800" marR="177800" marT="114300" marB="114300" anchor="t">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AC8"/>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7"/>
                    </a:solidFill>
                  </a:tcPr>
                </a:tc>
              </a:tr>
              <a:tr h="508000">
                <a:tc>
                  <a:txBody>
                    <a:bodyPr/>
                    <a:lstStyle/>
                    <a:p>
                      <a:pPr indent="0" marL="0">
                        <a:lnSpc>
                          <a:spcPts val="2100"/>
                        </a:lnSpc>
                        <a:buNone/>
                      </a:pPr>
                      <a:r>
                        <a:rPr lang="en-US" sz="1500" dirty="0">
                          <a:solidFill>
                            <a:srgbClr val="14213D"/>
                          </a:solidFill>
                          <a:latin typeface="DM Sans" pitchFamily="34" charset="0"/>
                          <a:ea typeface="DM Sans" pitchFamily="34" charset="-122"/>
                          <a:cs typeface="DM Sans" pitchFamily="34" charset="-120"/>
                        </a:rPr>
                        <a:t>Compared with</a:t>
                      </a:r>
                      <a:endParaRPr lang="en-US" sz="1500" dirty="0">
                        <a:latin typeface="DM Sans" charset="0"/>
                        <a:ea typeface="DM Sans" charset="0"/>
                        <a:cs typeface="DM Sans" charset="0"/>
                      </a:endParaRPr>
                    </a:p>
                  </a:txBody>
                  <a:tcPr marL="177800" marR="177800" marT="114300" marB="114300" anchor="t">
                    <a:lnL w="0" cap="flat" cmpd="sng" algn="ctr">
                      <a:noFill/>
                    </a:lnL>
                    <a:lnR w="12700" cap="flat" cmpd="sng" algn="ctr">
                      <a:solidFill>
                        <a:srgbClr val="CBCAC8"/>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BCAC8"/>
                      </a:solidFill>
                      <a:prstDash val="solid"/>
                      <a:round/>
                      <a:headEnd type="none" w="med" len="med"/>
                      <a:tailEnd type="none" w="med" len="med"/>
                    </a:lnB>
                    <a:solidFill>
                      <a:srgbClr val="FEFDFB"/>
                    </a:solidFill>
                  </a:tcPr>
                </a:tc>
                <a:tc>
                  <a:txBody>
                    <a:bodyPr/>
                    <a:lstStyle/>
                    <a:p>
                      <a:pPr indent="0" marL="0">
                        <a:lnSpc>
                          <a:spcPts val="2100"/>
                        </a:lnSpc>
                        <a:buNone/>
                      </a:pPr>
                      <a:r>
                        <a:rPr lang="en-US" sz="1500" dirty="0">
                          <a:solidFill>
                            <a:srgbClr val="14213D"/>
                          </a:solidFill>
                          <a:latin typeface="DM Sans" pitchFamily="34" charset="0"/>
                          <a:ea typeface="DM Sans" pitchFamily="34" charset="-122"/>
                          <a:cs typeface="DM Sans" pitchFamily="34" charset="-120"/>
                        </a:rPr>
                        <a:t>FedAvg · FedProx · AccWt · OrdinalFed + Prox</a:t>
                      </a:r>
                      <a:endParaRPr lang="en-US" sz="1500" dirty="0">
                        <a:latin typeface="DM Sans" charset="0"/>
                        <a:ea typeface="DM Sans" charset="0"/>
                        <a:cs typeface="DM Sans" charset="0"/>
                      </a:endParaRPr>
                    </a:p>
                  </a:txBody>
                  <a:tcPr marL="177800" marR="177800" marT="114300" marB="114300" anchor="t">
                    <a:lnL w="12700" cap="flat" cmpd="sng" algn="ctr">
                      <a:solidFill>
                        <a:srgbClr val="CBCAC8"/>
                      </a:solidFill>
                      <a:prstDash val="solid"/>
                      <a:round/>
                      <a:headEnd type="none" w="med" len="med"/>
                      <a:tailEnd type="none" w="med" len="med"/>
                    </a:lnL>
                    <a:lnR w="12700" cap="flat" cmpd="sng" algn="ctr">
                      <a:solidFill>
                        <a:srgbClr val="CBCAC8"/>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BCAC8"/>
                      </a:solidFill>
                      <a:prstDash val="solid"/>
                      <a:round/>
                      <a:headEnd type="none" w="med" len="med"/>
                      <a:tailEnd type="none" w="med" len="med"/>
                    </a:lnB>
                    <a:solidFill>
                      <a:srgbClr val="FEFDFB"/>
                    </a:solidFill>
                  </a:tcPr>
                </a:tc>
              </a:tr>
              <a:tr h="508000">
                <a:tc>
                  <a:txBody>
                    <a:bodyPr/>
                    <a:lstStyle/>
                    <a:p>
                      <a:pPr indent="0" marL="0">
                        <a:lnSpc>
                          <a:spcPts val="2100"/>
                        </a:lnSpc>
                        <a:buNone/>
                      </a:pPr>
                      <a:r>
                        <a:rPr lang="en-US" sz="1500" dirty="0">
                          <a:solidFill>
                            <a:srgbClr val="14213D"/>
                          </a:solidFill>
                          <a:latin typeface="DM Sans" pitchFamily="34" charset="0"/>
                          <a:ea typeface="DM Sans" pitchFamily="34" charset="-122"/>
                          <a:cs typeface="DM Sans" pitchFamily="34" charset="-120"/>
                        </a:rPr>
                        <a:t>External test</a:t>
                      </a:r>
                      <a:endParaRPr lang="en-US" sz="1500" dirty="0">
                        <a:latin typeface="DM Sans" charset="0"/>
                        <a:ea typeface="DM Sans" charset="0"/>
                        <a:cs typeface="DM Sans" charset="0"/>
                      </a:endParaRPr>
                    </a:p>
                  </a:txBody>
                  <a:tcPr marL="177800" marR="177800" marT="114300" marB="114300" anchor="t">
                    <a:lnL w="0" cap="flat" cmpd="sng" algn="ctr">
                      <a:noFill/>
                    </a:lnL>
                    <a:lnR w="12700" cap="flat" cmpd="sng" algn="ctr">
                      <a:solidFill>
                        <a:srgbClr val="C0BEB8"/>
                      </a:solidFill>
                      <a:prstDash val="solid"/>
                      <a:round/>
                      <a:headEnd type="none" w="med" len="med"/>
                      <a:tailEnd type="none" w="med" len="med"/>
                    </a:lnR>
                    <a:lnT w="12700" cap="flat" cmpd="sng" algn="ctr">
                      <a:solidFill>
                        <a:srgbClr val="CBCAC8"/>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7"/>
                    </a:solidFill>
                  </a:tcPr>
                </a:tc>
                <a:tc>
                  <a:txBody>
                    <a:bodyPr/>
                    <a:lstStyle/>
                    <a:p>
                      <a:pPr indent="0" marL="0">
                        <a:lnSpc>
                          <a:spcPts val="2100"/>
                        </a:lnSpc>
                        <a:buNone/>
                      </a:pPr>
                      <a:r>
                        <a:rPr lang="en-US" sz="1500" dirty="0">
                          <a:solidFill>
                            <a:srgbClr val="14213D"/>
                          </a:solidFill>
                          <a:latin typeface="DM Sans" pitchFamily="34" charset="0"/>
                          <a:ea typeface="DM Sans" pitchFamily="34" charset="-122"/>
                          <a:cs typeface="DM Sans" pitchFamily="34" charset="-120"/>
                        </a:rPr>
                        <a:t>APTOS 2019 (3,662 images), no retraining</a:t>
                      </a:r>
                      <a:endParaRPr lang="en-US" sz="1500" dirty="0">
                        <a:latin typeface="DM Sans" charset="0"/>
                        <a:ea typeface="DM Sans" charset="0"/>
                        <a:cs typeface="DM Sans" charset="0"/>
                      </a:endParaRPr>
                    </a:p>
                  </a:txBody>
                  <a:tcPr marL="177800" marR="177800" marT="114300" marB="114300" anchor="t">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AC8"/>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7"/>
                    </a:solidFill>
                  </a:tcPr>
                </a:tc>
              </a:tr>
            </a:tbl>
          </a:graphicData>
        </a:graphic>
      </p:graphicFrame>
      <p:sp>
        <p:nvSpPr>
          <p:cNvPr id="7" name="Text 4"/>
          <p:cNvSpPr/>
          <p:nvPr/>
        </p:nvSpPr>
        <p:spPr>
          <a:xfrm>
            <a:off x="812800" y="6238280"/>
            <a:ext cx="311157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5"/>
                </a:solidFill>
                <a:latin typeface="DM Sans" pitchFamily="34" charset="0"/>
                <a:ea typeface="DM Sans" pitchFamily="34" charset="-122"/>
                <a:cs typeface="DM Sans" pitchFamily="34" charset="-120"/>
              </a:rPr>
              <a:t>OrdinalFed · IEEE WIECON-ECE 2026</a:t>
            </a:r>
            <a:endParaRPr lang="en-US" sz="1200" dirty="0"/>
          </a:p>
        </p:txBody>
      </p:sp>
      <p:sp>
        <p:nvSpPr>
          <p:cNvPr id="8" name="Text 5"/>
          <p:cNvSpPr/>
          <p:nvPr/>
        </p:nvSpPr>
        <p:spPr>
          <a:xfrm>
            <a:off x="11246941" y="6238280"/>
            <a:ext cx="1322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5"/>
                </a:solidFill>
                <a:latin typeface="DM Sans" pitchFamily="34" charset="0"/>
                <a:ea typeface="DM Sans" pitchFamily="34" charset="-122"/>
                <a:cs typeface="DM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AF0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B3"/>
                </a:solidFill>
                <a:latin typeface="DM Sans" pitchFamily="34" charset="0"/>
                <a:ea typeface="DM Sans" pitchFamily="34" charset="-122"/>
                <a:cs typeface="DM Sans" pitchFamily="34" charset="-120"/>
              </a:rPr>
              <a:t>EXPERIMENTS</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DM Sans" pitchFamily="34" charset="0"/>
                <a:ea typeface="DM Sans" pitchFamily="34" charset="-122"/>
                <a:cs typeface="DM Sans" pitchFamily="34" charset="-120"/>
              </a:rPr>
              <a:t>Three ways to split the data</a:t>
            </a:r>
            <a:endParaRPr lang="en-US" sz="3200" dirty="0"/>
          </a:p>
        </p:txBody>
      </p:sp>
      <p:sp>
        <p:nvSpPr>
          <p:cNvPr id="4" name="Shape 2"/>
          <p:cNvSpPr/>
          <p:nvPr/>
        </p:nvSpPr>
        <p:spPr>
          <a:xfrm>
            <a:off x="815975" y="1755676"/>
            <a:ext cx="10560050" cy="3105150"/>
          </a:xfrm>
          <a:prstGeom prst="roundRect">
            <a:avLst>
              <a:gd name="adj" fmla="val 3988"/>
            </a:avLst>
          </a:prstGeom>
          <a:solidFill>
            <a:srgbClr val="FEFDFB"/>
          </a:solidFill>
          <a:ln w="6350">
            <a:solidFill>
              <a:srgbClr val="D5DEE9"/>
            </a:solidFill>
            <a:prstDash val="solid"/>
          </a:ln>
        </p:spPr>
      </p:sp>
      <p:pic>
        <p:nvPicPr>
          <p:cNvPr id="5" name="Image 0" descr="Stacked bars showing the grade mix of each of the 5 clients under the IID, Dirichlet alpha 0.1 and real-site partitions">    </p:cNvPr>
          <p:cNvPicPr>
            <a:picLocks noChangeAspect="1"/>
          </p:cNvPicPr>
          <p:nvPr/>
        </p:nvPicPr>
        <p:blipFill>
          <a:blip r:embed="rId1"/>
          <a:srcRect l="0" r="0" t="-53" b="-53"/>
          <a:stretch/>
        </p:blipFill>
        <p:spPr>
          <a:xfrm>
            <a:off x="1651000" y="1936651"/>
            <a:ext cx="8890000" cy="2743200"/>
          </a:xfrm>
          <a:prstGeom prst="rect">
            <a:avLst/>
          </a:prstGeom>
        </p:spPr>
      </p:pic>
      <p:sp>
        <p:nvSpPr>
          <p:cNvPr id="6" name="Text 3"/>
          <p:cNvSpPr/>
          <p:nvPr/>
        </p:nvSpPr>
        <p:spPr>
          <a:xfrm>
            <a:off x="812800" y="5067201"/>
            <a:ext cx="10883392"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D4A5C"/>
                </a:solidFill>
                <a:latin typeface="DM Sans" pitchFamily="34" charset="0"/>
                <a:ea typeface="DM Sans" pitchFamily="34" charset="-122"/>
                <a:cs typeface="DM Sans" pitchFamily="34" charset="-120"/>
              </a:rPr>
              <a:t>Hardest case (middle):</a:t>
            </a:r>
            <a:r>
              <a:rPr lang="en-US" sz="1400" dirty="0">
                <a:solidFill>
                  <a:srgbClr val="3D4A5C"/>
                </a:solidFill>
                <a:latin typeface="DM Sans" pitchFamily="34" charset="0"/>
                <a:ea typeface="DM Sans" pitchFamily="34" charset="-122"/>
                <a:cs typeface="DM Sans" pitchFamily="34" charset="-120"/>
              </a:rPr>
              <a:t> each client sees mostly one grade. Client 0 has only 32 images, all Grade 0; Client 4 has 2,087 images, 98% Grade 2.</a:t>
            </a:r>
            <a:endParaRPr lang="en-US" sz="1400" dirty="0"/>
          </a:p>
        </p:txBody>
      </p:sp>
      <p:sp>
        <p:nvSpPr>
          <p:cNvPr id="7" name="Text 4"/>
          <p:cNvSpPr/>
          <p:nvPr/>
        </p:nvSpPr>
        <p:spPr>
          <a:xfrm>
            <a:off x="812800" y="6238280"/>
            <a:ext cx="311157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A6B"/>
                </a:solidFill>
                <a:latin typeface="DM Sans" pitchFamily="34" charset="0"/>
                <a:ea typeface="DM Sans" pitchFamily="34" charset="-122"/>
                <a:cs typeface="DM Sans" pitchFamily="34" charset="-120"/>
              </a:rPr>
              <a:t>OrdinalFed · IEEE WIECON-ECE 2026</a:t>
            </a:r>
            <a:endParaRPr lang="en-US" sz="1200" dirty="0"/>
          </a:p>
        </p:txBody>
      </p:sp>
      <p:sp>
        <p:nvSpPr>
          <p:cNvPr id="8" name="Text 5"/>
          <p:cNvSpPr/>
          <p:nvPr/>
        </p:nvSpPr>
        <p:spPr>
          <a:xfrm>
            <a:off x="11235730" y="6238280"/>
            <a:ext cx="14347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F5A6B"/>
                </a:solidFill>
                <a:latin typeface="DM Sans" pitchFamily="34" charset="0"/>
                <a:ea typeface="DM Sans" pitchFamily="34" charset="-122"/>
                <a:cs typeface="DM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AF0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B3"/>
                </a:solidFill>
                <a:latin typeface="DM Sans" pitchFamily="34" charset="0"/>
                <a:ea typeface="DM Sans" pitchFamily="34" charset="-122"/>
                <a:cs typeface="DM Sans" pitchFamily="34" charset="-120"/>
              </a:rPr>
              <a:t>RESULTS</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DM Sans" pitchFamily="34" charset="0"/>
                <a:ea typeface="DM Sans" pitchFamily="34" charset="-122"/>
                <a:cs typeface="DM Sans" pitchFamily="34" charset="-120"/>
              </a:rPr>
              <a:t>Test QWK after every round</a:t>
            </a:r>
            <a:endParaRPr lang="en-US" sz="3200" dirty="0"/>
          </a:p>
        </p:txBody>
      </p:sp>
      <p:sp>
        <p:nvSpPr>
          <p:cNvPr id="4" name="Shape 2"/>
          <p:cNvSpPr/>
          <p:nvPr/>
        </p:nvSpPr>
        <p:spPr>
          <a:xfrm>
            <a:off x="815975" y="1755676"/>
            <a:ext cx="10560050" cy="3263900"/>
          </a:xfrm>
          <a:prstGeom prst="roundRect">
            <a:avLst>
              <a:gd name="adj" fmla="val 3794"/>
            </a:avLst>
          </a:prstGeom>
          <a:solidFill>
            <a:srgbClr val="FEFDFB"/>
          </a:solidFill>
          <a:ln w="6350">
            <a:solidFill>
              <a:srgbClr val="D5DEE9"/>
            </a:solidFill>
            <a:prstDash val="solid"/>
          </a:ln>
        </p:spPr>
      </p:sp>
      <p:pic>
        <p:nvPicPr>
          <p:cNvPr id="5" name="Image 0" descr="Line charts of test QWK over 10 rounds for FedAvg, FedProx and OrdinalFed under the IID, Dirichlet alpha 0.1 and real-site partitions">    </p:cNvPr>
          <p:cNvPicPr>
            <a:picLocks noChangeAspect="1"/>
          </p:cNvPicPr>
          <p:nvPr/>
        </p:nvPicPr>
        <p:blipFill>
          <a:blip r:embed="rId1"/>
          <a:srcRect l="-55" r="-55" t="0" b="0"/>
          <a:stretch/>
        </p:blipFill>
        <p:spPr>
          <a:xfrm>
            <a:off x="1651000" y="1936651"/>
            <a:ext cx="8890000" cy="2901950"/>
          </a:xfrm>
          <a:prstGeom prst="rect">
            <a:avLst/>
          </a:prstGeom>
        </p:spPr>
      </p:pic>
      <p:sp>
        <p:nvSpPr>
          <p:cNvPr id="6" name="Text 3"/>
          <p:cNvSpPr/>
          <p:nvPr/>
        </p:nvSpPr>
        <p:spPr>
          <a:xfrm>
            <a:off x="812800" y="5225951"/>
            <a:ext cx="10883392"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D4A5C"/>
                </a:solidFill>
                <a:latin typeface="DM Sans" pitchFamily="34" charset="0"/>
                <a:ea typeface="DM Sans" pitchFamily="34" charset="-122"/>
                <a:cs typeface="DM Sans" pitchFamily="34" charset="-120"/>
              </a:rPr>
              <a:t>Extreme skew (middle):</a:t>
            </a:r>
            <a:r>
              <a:rPr lang="en-US" sz="1400" dirty="0">
                <a:solidFill>
                  <a:srgbClr val="3D4A5C"/>
                </a:solidFill>
                <a:latin typeface="DM Sans" pitchFamily="34" charset="0"/>
                <a:ea typeface="DM Sans" pitchFamily="34" charset="-122"/>
                <a:cs typeface="DM Sans" pitchFamily="34" charset="-120"/>
              </a:rPr>
              <a:t> FedAvg collapses from round 5. OrdinalFed avoids the collapse but goes up and down. FedProx stays flat.</a:t>
            </a:r>
            <a:endParaRPr lang="en-US" sz="1400" dirty="0"/>
          </a:p>
        </p:txBody>
      </p:sp>
      <p:sp>
        <p:nvSpPr>
          <p:cNvPr id="7" name="Text 4"/>
          <p:cNvSpPr/>
          <p:nvPr/>
        </p:nvSpPr>
        <p:spPr>
          <a:xfrm>
            <a:off x="812800" y="6238280"/>
            <a:ext cx="311157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A6B"/>
                </a:solidFill>
                <a:latin typeface="DM Sans" pitchFamily="34" charset="0"/>
                <a:ea typeface="DM Sans" pitchFamily="34" charset="-122"/>
                <a:cs typeface="DM Sans" pitchFamily="34" charset="-120"/>
              </a:rPr>
              <a:t>OrdinalFed · IEEE WIECON-ECE 2026</a:t>
            </a:r>
            <a:endParaRPr lang="en-US" sz="1200" dirty="0"/>
          </a:p>
        </p:txBody>
      </p:sp>
      <p:sp>
        <p:nvSpPr>
          <p:cNvPr id="8" name="Text 5"/>
          <p:cNvSpPr/>
          <p:nvPr/>
        </p:nvSpPr>
        <p:spPr>
          <a:xfrm>
            <a:off x="11232654" y="6238280"/>
            <a:ext cx="146546"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F5A6B"/>
                </a:solidFill>
                <a:latin typeface="DM Sans" pitchFamily="34" charset="0"/>
                <a:ea typeface="DM Sans" pitchFamily="34" charset="-122"/>
                <a:cs typeface="DM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B3"/>
                </a:solidFill>
                <a:latin typeface="DM Sans" pitchFamily="34" charset="0"/>
                <a:ea typeface="DM Sans" pitchFamily="34" charset="-122"/>
                <a:cs typeface="DM Sans" pitchFamily="34" charset="-120"/>
              </a:rPr>
              <a:t>RESULTS</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DM Sans" pitchFamily="34" charset="0"/>
                <a:ea typeface="DM Sans" pitchFamily="34" charset="-122"/>
                <a:cs typeface="DM Sans" pitchFamily="34" charset="-120"/>
              </a:rPr>
              <a:t>Worst round under extreme skew</a:t>
            </a:r>
            <a:endParaRPr lang="en-US" sz="3200" dirty="0"/>
          </a:p>
        </p:txBody>
      </p:sp>
      <p:sp>
        <p:nvSpPr>
          <p:cNvPr id="4" name="Text 2"/>
          <p:cNvSpPr/>
          <p:nvPr/>
        </p:nvSpPr>
        <p:spPr>
          <a:xfrm>
            <a:off x="812800" y="1803301"/>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B6575"/>
                </a:solidFill>
                <a:latin typeface="DM Sans" pitchFamily="34" charset="0"/>
                <a:ea typeface="DM Sans" pitchFamily="34" charset="-122"/>
                <a:cs typeface="DM Sans" pitchFamily="34" charset="-120"/>
              </a:rPr>
              <a:t>Test QWK in the worst of the 10 rounds, mean of 3 seeds. Higher is better.</a:t>
            </a:r>
            <a:endParaRPr lang="en-US" sz="1400" dirty="0"/>
          </a:p>
        </p:txBody>
      </p:sp>
      <p:sp>
        <p:nvSpPr>
          <p:cNvPr id="5" name="Text 3"/>
          <p:cNvSpPr/>
          <p:nvPr/>
        </p:nvSpPr>
        <p:spPr>
          <a:xfrm>
            <a:off x="812800" y="2350591"/>
            <a:ext cx="222377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DM Sans" pitchFamily="34" charset="0"/>
                <a:ea typeface="DM Sans" pitchFamily="34" charset="-122"/>
                <a:cs typeface="DM Sans" pitchFamily="34" charset="-120"/>
              </a:rPr>
              <a:t>FedAvg</a:t>
            </a:r>
            <a:endParaRPr lang="en-US" sz="1500" dirty="0"/>
          </a:p>
        </p:txBody>
      </p:sp>
      <p:sp>
        <p:nvSpPr>
          <p:cNvPr id="6" name="Shape 4"/>
          <p:cNvSpPr/>
          <p:nvPr/>
        </p:nvSpPr>
        <p:spPr>
          <a:xfrm>
            <a:off x="3124200" y="2306141"/>
            <a:ext cx="3962400" cy="355600"/>
          </a:xfrm>
          <a:custGeom>
            <a:avLst/>
            <a:gdLst/>
            <a:ahLst/>
            <a:cxnLst/>
            <a:rect l="l" t="t" r="r" b="b"/>
            <a:pathLst>
              <a:path w="3962400" h="355600">
                <a:moveTo>
                  <a:pt x="0" y="0"/>
                </a:moveTo>
                <a:lnTo>
                  <a:pt x="3886200" y="0"/>
                </a:lnTo>
                <a:arcTo hR="76200" wR="76200" stAng="16200000" swAng="5400000"/>
                <a:lnTo>
                  <a:pt x="3962400" y="279400"/>
                </a:lnTo>
                <a:arcTo hR="76200" wR="76200" stAng="0" swAng="5400000"/>
                <a:lnTo>
                  <a:pt x="0" y="355600"/>
                </a:lnTo>
                <a:lnTo>
                  <a:pt x="0" y="0"/>
                </a:lnTo>
                <a:close/>
              </a:path>
            </a:pathLst>
          </a:custGeom>
          <a:solidFill>
            <a:srgbClr val="D9622B"/>
          </a:solidFill>
          <a:ln/>
        </p:spPr>
      </p:sp>
      <p:sp>
        <p:nvSpPr>
          <p:cNvPr id="7" name="Text 5"/>
          <p:cNvSpPr/>
          <p:nvPr/>
        </p:nvSpPr>
        <p:spPr>
          <a:xfrm>
            <a:off x="7239000" y="2323902"/>
            <a:ext cx="733306"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4213D"/>
                </a:solidFill>
                <a:latin typeface="DM Sans" pitchFamily="34" charset="0"/>
                <a:ea typeface="DM Sans" pitchFamily="34" charset="-122"/>
                <a:cs typeface="DM Sans" pitchFamily="34" charset="-120"/>
              </a:rPr>
              <a:t>0.378</a:t>
            </a:r>
            <a:endParaRPr lang="en-US" sz="1800" dirty="0"/>
          </a:p>
        </p:txBody>
      </p:sp>
      <p:sp>
        <p:nvSpPr>
          <p:cNvPr id="8" name="Text 6"/>
          <p:cNvSpPr/>
          <p:nvPr/>
        </p:nvSpPr>
        <p:spPr>
          <a:xfrm>
            <a:off x="812800" y="2883991"/>
            <a:ext cx="222377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DM Sans" pitchFamily="34" charset="0"/>
                <a:ea typeface="DM Sans" pitchFamily="34" charset="-122"/>
                <a:cs typeface="DM Sans" pitchFamily="34" charset="-120"/>
              </a:rPr>
              <a:t>OrdinalFed (ours)</a:t>
            </a:r>
            <a:endParaRPr lang="en-US" sz="1500" dirty="0"/>
          </a:p>
        </p:txBody>
      </p:sp>
      <p:sp>
        <p:nvSpPr>
          <p:cNvPr id="9" name="Shape 7"/>
          <p:cNvSpPr/>
          <p:nvPr/>
        </p:nvSpPr>
        <p:spPr>
          <a:xfrm>
            <a:off x="3124200" y="2839541"/>
            <a:ext cx="5391150" cy="355600"/>
          </a:xfrm>
          <a:custGeom>
            <a:avLst/>
            <a:gdLst/>
            <a:ahLst/>
            <a:cxnLst/>
            <a:rect l="l" t="t" r="r" b="b"/>
            <a:pathLst>
              <a:path w="5391150" h="355600">
                <a:moveTo>
                  <a:pt x="0" y="0"/>
                </a:moveTo>
                <a:lnTo>
                  <a:pt x="5314950" y="0"/>
                </a:lnTo>
                <a:arcTo hR="76200" wR="76200" stAng="16200000" swAng="5400000"/>
                <a:lnTo>
                  <a:pt x="5391150" y="279400"/>
                </a:lnTo>
                <a:arcTo hR="76200" wR="76200" stAng="0" swAng="5400000"/>
                <a:lnTo>
                  <a:pt x="0" y="355600"/>
                </a:lnTo>
                <a:lnTo>
                  <a:pt x="0" y="0"/>
                </a:lnTo>
                <a:close/>
              </a:path>
            </a:pathLst>
          </a:custGeom>
          <a:solidFill>
            <a:srgbClr val="2F6FB3"/>
          </a:solidFill>
          <a:ln/>
        </p:spPr>
      </p:sp>
      <p:sp>
        <p:nvSpPr>
          <p:cNvPr id="10" name="Text 8"/>
          <p:cNvSpPr/>
          <p:nvPr/>
        </p:nvSpPr>
        <p:spPr>
          <a:xfrm>
            <a:off x="8667750" y="2857302"/>
            <a:ext cx="699849"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4213D"/>
                </a:solidFill>
                <a:latin typeface="DM Sans" pitchFamily="34" charset="0"/>
                <a:ea typeface="DM Sans" pitchFamily="34" charset="-122"/>
                <a:cs typeface="DM Sans" pitchFamily="34" charset="-120"/>
              </a:rPr>
              <a:t>0.514</a:t>
            </a:r>
            <a:endParaRPr lang="en-US" sz="1800" dirty="0"/>
          </a:p>
        </p:txBody>
      </p:sp>
      <p:sp>
        <p:nvSpPr>
          <p:cNvPr id="11" name="Text 9"/>
          <p:cNvSpPr/>
          <p:nvPr/>
        </p:nvSpPr>
        <p:spPr>
          <a:xfrm>
            <a:off x="812800" y="3417391"/>
            <a:ext cx="222377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DM Sans" pitchFamily="34" charset="0"/>
                <a:ea typeface="DM Sans" pitchFamily="34" charset="-122"/>
                <a:cs typeface="DM Sans" pitchFamily="34" charset="-120"/>
              </a:rPr>
              <a:t>OrdinalFed + Prox</a:t>
            </a:r>
            <a:endParaRPr lang="en-US" sz="1500" dirty="0"/>
          </a:p>
        </p:txBody>
      </p:sp>
      <p:sp>
        <p:nvSpPr>
          <p:cNvPr id="12" name="Shape 10"/>
          <p:cNvSpPr/>
          <p:nvPr/>
        </p:nvSpPr>
        <p:spPr>
          <a:xfrm>
            <a:off x="3124200" y="3372941"/>
            <a:ext cx="6572250" cy="355600"/>
          </a:xfrm>
          <a:custGeom>
            <a:avLst/>
            <a:gdLst/>
            <a:ahLst/>
            <a:cxnLst/>
            <a:rect l="l" t="t" r="r" b="b"/>
            <a:pathLst>
              <a:path w="6572250" h="355600">
                <a:moveTo>
                  <a:pt x="0" y="0"/>
                </a:moveTo>
                <a:lnTo>
                  <a:pt x="6496050" y="0"/>
                </a:lnTo>
                <a:arcTo hR="76200" wR="76200" stAng="16200000" swAng="5400000"/>
                <a:lnTo>
                  <a:pt x="6572250" y="279400"/>
                </a:lnTo>
                <a:arcTo hR="76200" wR="76200" stAng="0" swAng="5400000"/>
                <a:lnTo>
                  <a:pt x="0" y="355600"/>
                </a:lnTo>
                <a:lnTo>
                  <a:pt x="0" y="0"/>
                </a:lnTo>
                <a:close/>
              </a:path>
            </a:pathLst>
          </a:custGeom>
          <a:solidFill>
            <a:srgbClr val="8DB3DE"/>
          </a:solidFill>
          <a:ln/>
        </p:spPr>
      </p:sp>
      <p:sp>
        <p:nvSpPr>
          <p:cNvPr id="13" name="Text 11"/>
          <p:cNvSpPr/>
          <p:nvPr/>
        </p:nvSpPr>
        <p:spPr>
          <a:xfrm>
            <a:off x="9848850" y="3390702"/>
            <a:ext cx="717471"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4213D"/>
                </a:solidFill>
                <a:latin typeface="DM Sans" pitchFamily="34" charset="0"/>
                <a:ea typeface="DM Sans" pitchFamily="34" charset="-122"/>
                <a:cs typeface="DM Sans" pitchFamily="34" charset="-120"/>
              </a:rPr>
              <a:t>0.627</a:t>
            </a:r>
            <a:endParaRPr lang="en-US" sz="1800" dirty="0"/>
          </a:p>
        </p:txBody>
      </p:sp>
      <p:sp>
        <p:nvSpPr>
          <p:cNvPr id="14" name="Text 12"/>
          <p:cNvSpPr/>
          <p:nvPr/>
        </p:nvSpPr>
        <p:spPr>
          <a:xfrm>
            <a:off x="812800" y="3950791"/>
            <a:ext cx="222377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DM Sans" pitchFamily="34" charset="0"/>
                <a:ea typeface="DM Sans" pitchFamily="34" charset="-122"/>
                <a:cs typeface="DM Sans" pitchFamily="34" charset="-120"/>
              </a:rPr>
              <a:t>FedProx</a:t>
            </a:r>
            <a:endParaRPr lang="en-US" sz="1500" dirty="0"/>
          </a:p>
        </p:txBody>
      </p:sp>
      <p:sp>
        <p:nvSpPr>
          <p:cNvPr id="15" name="Shape 13"/>
          <p:cNvSpPr/>
          <p:nvPr/>
        </p:nvSpPr>
        <p:spPr>
          <a:xfrm>
            <a:off x="3124200" y="3906341"/>
            <a:ext cx="6718300" cy="355600"/>
          </a:xfrm>
          <a:custGeom>
            <a:avLst/>
            <a:gdLst/>
            <a:ahLst/>
            <a:cxnLst/>
            <a:rect l="l" t="t" r="r" b="b"/>
            <a:pathLst>
              <a:path w="6718300" h="355600">
                <a:moveTo>
                  <a:pt x="0" y="0"/>
                </a:moveTo>
                <a:lnTo>
                  <a:pt x="6642100" y="0"/>
                </a:lnTo>
                <a:arcTo hR="76200" wR="76200" stAng="16200000" swAng="5400000"/>
                <a:lnTo>
                  <a:pt x="6718300" y="279400"/>
                </a:lnTo>
                <a:arcTo hR="76200" wR="76200" stAng="0" swAng="5400000"/>
                <a:lnTo>
                  <a:pt x="0" y="355600"/>
                </a:lnTo>
                <a:lnTo>
                  <a:pt x="0" y="0"/>
                </a:lnTo>
                <a:close/>
              </a:path>
            </a:pathLst>
          </a:custGeom>
          <a:solidFill>
            <a:srgbClr val="2E9B5F"/>
          </a:solidFill>
          <a:ln/>
        </p:spPr>
      </p:sp>
      <p:sp>
        <p:nvSpPr>
          <p:cNvPr id="16" name="Text 14"/>
          <p:cNvSpPr/>
          <p:nvPr/>
        </p:nvSpPr>
        <p:spPr>
          <a:xfrm>
            <a:off x="9994900" y="3924102"/>
            <a:ext cx="695206"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4213D"/>
                </a:solidFill>
                <a:latin typeface="DM Sans" pitchFamily="34" charset="0"/>
                <a:ea typeface="DM Sans" pitchFamily="34" charset="-122"/>
                <a:cs typeface="DM Sans" pitchFamily="34" charset="-120"/>
              </a:rPr>
              <a:t>0.641</a:t>
            </a:r>
            <a:endParaRPr lang="en-US" sz="1800" dirty="0"/>
          </a:p>
        </p:txBody>
      </p:sp>
      <p:sp>
        <p:nvSpPr>
          <p:cNvPr id="17" name="Text 15"/>
          <p:cNvSpPr/>
          <p:nvPr/>
        </p:nvSpPr>
        <p:spPr>
          <a:xfrm>
            <a:off x="812800" y="4515941"/>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DM Sans" pitchFamily="34" charset="0"/>
                <a:ea typeface="DM Sans" pitchFamily="34" charset="-122"/>
                <a:cs typeface="DM Sans" pitchFamily="34" charset="-120"/>
              </a:rPr>
              <a:t>OrdinalFed lifts the worst round from </a:t>
            </a:r>
            <a:r>
              <a:rPr lang="en-US" sz="1500" b="1" dirty="0">
                <a:solidFill>
                  <a:srgbClr val="14213D"/>
                </a:solidFill>
                <a:latin typeface="DM Sans" pitchFamily="34" charset="0"/>
                <a:ea typeface="DM Sans" pitchFamily="34" charset="-122"/>
                <a:cs typeface="DM Sans" pitchFamily="34" charset="-120"/>
              </a:rPr>
              <a:t>0.378 to 0.514</a:t>
            </a:r>
            <a:r>
              <a:rPr lang="en-US" sz="1500" dirty="0">
                <a:solidFill>
                  <a:srgbClr val="14213D"/>
                </a:solidFill>
                <a:latin typeface="DM Sans" pitchFamily="34" charset="0"/>
                <a:ea typeface="DM Sans" pitchFamily="34" charset="-122"/>
                <a:cs typeface="DM Sans" pitchFamily="34" charset="-120"/>
              </a:rPr>
              <a:t> (mean over rounds 0.535 → 0.604), with no change at the hospitals. </a:t>
            </a:r>
            <a:r>
              <a:rPr lang="en-US" sz="1500" b="1" dirty="0">
                <a:solidFill>
                  <a:srgbClr val="14213D"/>
                </a:solidFill>
                <a:latin typeface="DM Sans" pitchFamily="34" charset="0"/>
                <a:ea typeface="DM Sans" pitchFamily="34" charset="-122"/>
                <a:cs typeface="DM Sans" pitchFamily="34" charset="-120"/>
              </a:rPr>
              <a:t>FedProx is still the most stable.</a:t>
            </a:r>
            <a:endParaRPr lang="en-US" sz="1500" dirty="0"/>
          </a:p>
        </p:txBody>
      </p:sp>
      <p:sp>
        <p:nvSpPr>
          <p:cNvPr id="18" name="Text 16"/>
          <p:cNvSpPr/>
          <p:nvPr/>
        </p:nvSpPr>
        <p:spPr>
          <a:xfrm>
            <a:off x="812800" y="6238280"/>
            <a:ext cx="311157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5"/>
                </a:solidFill>
                <a:latin typeface="DM Sans" pitchFamily="34" charset="0"/>
                <a:ea typeface="DM Sans" pitchFamily="34" charset="-122"/>
                <a:cs typeface="DM Sans" pitchFamily="34" charset="-120"/>
              </a:rPr>
              <a:t>OrdinalFed · IEEE WIECON-ECE 2026</a:t>
            </a:r>
            <a:endParaRPr lang="en-US" sz="1200" dirty="0"/>
          </a:p>
        </p:txBody>
      </p:sp>
      <p:sp>
        <p:nvSpPr>
          <p:cNvPr id="19" name="Text 17"/>
          <p:cNvSpPr/>
          <p:nvPr/>
        </p:nvSpPr>
        <p:spPr>
          <a:xfrm>
            <a:off x="11176595" y="6238280"/>
            <a:ext cx="20260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5"/>
                </a:solidFill>
                <a:latin typeface="DM Sans" pitchFamily="34" charset="0"/>
                <a:ea typeface="DM Sans" pitchFamily="34" charset="-122"/>
                <a:cs typeface="DM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B3"/>
                </a:solidFill>
                <a:latin typeface="DM Sans" pitchFamily="34" charset="0"/>
                <a:ea typeface="DM Sans" pitchFamily="34" charset="-122"/>
                <a:cs typeface="DM Sans" pitchFamily="34" charset="-120"/>
              </a:rPr>
              <a:t>ABLATION</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DM Sans" pitchFamily="34" charset="0"/>
                <a:ea typeface="DM Sans" pitchFamily="34" charset="-122"/>
                <a:cs typeface="DM Sans" pitchFamily="34" charset="-120"/>
              </a:rPr>
              <a:t>Why does it work?</a:t>
            </a:r>
            <a:endParaRPr lang="en-US" sz="3200" dirty="0"/>
          </a:p>
        </p:txBody>
      </p:sp>
      <p:sp>
        <p:nvSpPr>
          <p:cNvPr id="4" name="Shape 2"/>
          <p:cNvSpPr/>
          <p:nvPr/>
        </p:nvSpPr>
        <p:spPr>
          <a:xfrm>
            <a:off x="812800" y="1854101"/>
            <a:ext cx="5659934" cy="2840434"/>
          </a:xfrm>
          <a:custGeom>
            <a:avLst/>
            <a:gdLst/>
            <a:ahLst/>
            <a:cxnLst/>
            <a:rect l="l" t="t" r="r" b="b"/>
            <a:pathLst>
              <a:path w="5659934" h="2840434">
                <a:moveTo>
                  <a:pt x="5558334" y="0"/>
                </a:moveTo>
                <a:lnTo>
                  <a:pt x="5558334" y="0"/>
                </a:lnTo>
                <a:arcTo hR="101600" wR="101600" stAng="16200000" swAng="5400000"/>
                <a:lnTo>
                  <a:pt x="5659934" y="2738834"/>
                </a:lnTo>
                <a:arcTo hR="101600" wR="101600" stAng="0" swAng="5400000"/>
                <a:lnTo>
                  <a:pt x="101600" y="2840434"/>
                </a:lnTo>
                <a:arcTo hR="101600" wR="101600" stAng="5400000" swAng="5400000"/>
                <a:lnTo>
                  <a:pt x="0" y="2738834"/>
                </a:lnTo>
                <a:arcTo hR="95250" wR="101600" stAng="10800000" swAng="-5400000"/>
                <a:lnTo>
                  <a:pt x="5558334" y="2834084"/>
                </a:lnTo>
                <a:arcTo hR="95250" wR="95250" stAng="5400000" swAng="-5400000"/>
                <a:lnTo>
                  <a:pt x="5653584" y="101600"/>
                </a:lnTo>
                <a:arcTo hR="101600" wR="95250" stAng="0" swAng="-5400000"/>
                <a:close/>
              </a:path>
            </a:pathLst>
          </a:custGeom>
          <a:solidFill>
            <a:srgbClr val="E2E0D8"/>
          </a:solidFill>
          <a:ln/>
        </p:spPr>
      </p:sp>
      <p:sp>
        <p:nvSpPr>
          <p:cNvPr id="5" name="Shape 3"/>
          <p:cNvSpPr/>
          <p:nvPr/>
        </p:nvSpPr>
        <p:spPr>
          <a:xfrm>
            <a:off x="812800" y="1854101"/>
            <a:ext cx="5659934" cy="2840434"/>
          </a:xfrm>
          <a:custGeom>
            <a:avLst/>
            <a:gdLst/>
            <a:ahLst/>
            <a:cxnLst/>
            <a:rect l="l" t="t" r="r" b="b"/>
            <a:pathLst>
              <a:path w="5659934" h="2840434">
                <a:moveTo>
                  <a:pt x="101600" y="2840434"/>
                </a:moveTo>
                <a:lnTo>
                  <a:pt x="101600" y="2840434"/>
                </a:lnTo>
                <a:arcTo hR="101600" wR="101600" stAng="5400000" swAng="5400000"/>
                <a:lnTo>
                  <a:pt x="0" y="101600"/>
                </a:lnTo>
                <a:arcTo hR="101600" wR="101600" stAng="10800000" swAng="5400000"/>
                <a:lnTo>
                  <a:pt x="5558334" y="0"/>
                </a:lnTo>
                <a:arcTo hR="101600" wR="101600" stAng="16200000" swAng="5400000"/>
                <a:lnTo>
                  <a:pt x="5659934" y="101600"/>
                </a:lnTo>
                <a:arcTo hR="88900" wR="101600" stAng="0" swAng="-5400000"/>
                <a:lnTo>
                  <a:pt x="101600" y="12700"/>
                </a:lnTo>
                <a:arcTo hR="88900" wR="88900" stAng="16200000" swAng="-5400000"/>
                <a:lnTo>
                  <a:pt x="12700" y="2738834"/>
                </a:lnTo>
                <a:arcTo hR="101600" wR="88900" stAng="10800000" swAng="-5400000"/>
                <a:close/>
              </a:path>
            </a:pathLst>
          </a:custGeom>
          <a:solidFill>
            <a:srgbClr val="141413">
              <a:alpha val="22000"/>
            </a:srgbClr>
          </a:solidFill>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1866801"/>
          <a:ext cx="5640884" cy="2821384"/>
        </p:xfrm>
        <a:graphic>
          <a:graphicData uri="http://schemas.openxmlformats.org/drawingml/2006/table">
            <a:tbl>
              <a:tblPr/>
              <a:tblGrid>
                <a:gridCol w="3835801"/>
                <a:gridCol w="1805083"/>
              </a:tblGrid>
              <a:tr h="713581">
                <a:tc>
                  <a:txBody>
                    <a:bodyPr/>
                    <a:lstStyle/>
                    <a:p>
                      <a:pPr indent="0" marL="0">
                        <a:lnSpc>
                          <a:spcPts val="1960"/>
                        </a:lnSpc>
                        <a:buNone/>
                      </a:pPr>
                      <a:r>
                        <a:rPr lang="en-US" sz="1400" b="1" dirty="0">
                          <a:solidFill>
                            <a:srgbClr val="14213D"/>
                          </a:solidFill>
                          <a:latin typeface="DM Sans" pitchFamily="34" charset="0"/>
                          <a:ea typeface="DM Sans" pitchFamily="34" charset="-122"/>
                          <a:cs typeface="DM Sans" pitchFamily="34" charset="-120"/>
                        </a:rPr>
                        <a:t>Configuration (extreme skew)</a:t>
                      </a:r>
                      <a:endParaRPr lang="en-US" sz="1400" dirty="0">
                        <a:latin typeface="DM Sans" charset="0"/>
                        <a:ea typeface="DM Sans" charset="0"/>
                        <a:cs typeface="DM Sans" charset="0"/>
                      </a:endParaRPr>
                    </a:p>
                  </a:txBody>
                  <a:tcPr marL="152400" marR="152400" marT="101600" marB="101600" anchor="t">
                    <a:lnL w="0" cap="flat" cmpd="sng" algn="ctr">
                      <a:noFill/>
                    </a:lnL>
                    <a:lnR w="12700" cap="flat" cmpd="sng" algn="ctr">
                      <a:solidFill>
                        <a:srgbClr val="B6B9BE"/>
                      </a:solidFill>
                      <a:prstDash val="solid"/>
                      <a:round/>
                      <a:headEnd type="none" w="med" len="med"/>
                      <a:tailEnd type="none" w="med" len="med"/>
                    </a:lnR>
                    <a:lnT w="0" cap="flat" cmpd="sng" algn="ctr">
                      <a:noFill/>
                    </a:lnT>
                    <a:lnB w="12700" cap="flat" cmpd="sng" algn="ctr">
                      <a:solidFill>
                        <a:srgbClr val="B6B9BE"/>
                      </a:solidFill>
                      <a:prstDash val="solid"/>
                      <a:round/>
                      <a:headEnd type="none" w="med" len="med"/>
                      <a:tailEnd type="none" w="med" len="med"/>
                    </a:lnB>
                    <a:solidFill>
                      <a:srgbClr val="E4E8EE"/>
                    </a:solidFill>
                  </a:tcPr>
                </a:tc>
                <a:tc>
                  <a:txBody>
                    <a:bodyPr/>
                    <a:lstStyle/>
                    <a:p>
                      <a:pPr algn="r" indent="0" marL="0">
                        <a:lnSpc>
                          <a:spcPts val="1960"/>
                        </a:lnSpc>
                        <a:buNone/>
                      </a:pPr>
                      <a:r>
                        <a:rPr lang="en-US" sz="1400" b="1" dirty="0">
                          <a:solidFill>
                            <a:srgbClr val="14213D"/>
                          </a:solidFill>
                          <a:latin typeface="DM Sans" pitchFamily="34" charset="0"/>
                          <a:ea typeface="DM Sans" pitchFamily="34" charset="-122"/>
                          <a:cs typeface="DM Sans" pitchFamily="34" charset="-120"/>
                        </a:rPr>
                        <a:t>Worst-round QWK</a:t>
                      </a:r>
                      <a:endParaRPr lang="en-US" sz="1400" dirty="0">
                        <a:latin typeface="DM Sans" charset="0"/>
                        <a:ea typeface="DM Sans" charset="0"/>
                        <a:cs typeface="DM Sans" charset="0"/>
                      </a:endParaRPr>
                    </a:p>
                  </a:txBody>
                  <a:tcPr marL="152400" marR="152400" marT="101600" marB="101600" anchor="t">
                    <a:lnL w="12700" cap="flat" cmpd="sng" algn="ctr">
                      <a:solidFill>
                        <a:srgbClr val="B6B9BE"/>
                      </a:solidFill>
                      <a:prstDash val="solid"/>
                      <a:round/>
                      <a:headEnd type="none" w="med" len="med"/>
                      <a:tailEnd type="none" w="med" len="med"/>
                    </a:lnL>
                    <a:lnR w="12700" cap="flat" cmpd="sng" algn="ctr">
                      <a:solidFill>
                        <a:srgbClr val="B6B9BE"/>
                      </a:solidFill>
                      <a:prstDash val="solid"/>
                      <a:round/>
                      <a:headEnd type="none" w="med" len="med"/>
                      <a:tailEnd type="none" w="med" len="med"/>
                    </a:lnR>
                    <a:lnT w="0" cap="flat" cmpd="sng" algn="ctr">
                      <a:noFill/>
                    </a:lnT>
                    <a:lnB w="12700" cap="flat" cmpd="sng" algn="ctr">
                      <a:solidFill>
                        <a:srgbClr val="B6B9BE"/>
                      </a:solidFill>
                      <a:prstDash val="solid"/>
                      <a:round/>
                      <a:headEnd type="none" w="med" len="med"/>
                      <a:tailEnd type="none" w="med" len="med"/>
                    </a:lnB>
                    <a:solidFill>
                      <a:srgbClr val="E4E8EE"/>
                    </a:solidFill>
                  </a:tcPr>
                </a:tc>
              </a:tr>
              <a:tr h="713581">
                <a:tc>
                  <a:txBody>
                    <a:bodyPr/>
                    <a:lstStyle/>
                    <a:p>
                      <a:pPr indent="0" marL="0">
                        <a:lnSpc>
                          <a:spcPts val="1960"/>
                        </a:lnSpc>
                        <a:buNone/>
                      </a:pPr>
                      <a:r>
                        <a:rPr lang="en-US" sz="1400" dirty="0">
                          <a:solidFill>
                            <a:srgbClr val="14213D"/>
                          </a:solidFill>
                          <a:latin typeface="DM Sans" pitchFamily="34" charset="0"/>
                          <a:ea typeface="DM Sans" pitchFamily="34" charset="-122"/>
                          <a:cs typeface="DM Sans" pitchFamily="34" charset="-120"/>
                        </a:rPr>
                        <a:t>Cross-entropy + image-count weights (FedAvg)</a:t>
                      </a:r>
                      <a:endParaRPr lang="en-US" sz="1400" dirty="0">
                        <a:latin typeface="DM Sans" charset="0"/>
                        <a:ea typeface="DM Sans" charset="0"/>
                        <a:cs typeface="DM Sans" charset="0"/>
                      </a:endParaRPr>
                    </a:p>
                  </a:txBody>
                  <a:tcPr marL="152400" marR="152400" marT="101600" marB="101600" anchor="t">
                    <a:lnL w="0" cap="flat" cmpd="sng" algn="ctr">
                      <a:noFill/>
                    </a:lnL>
                    <a:lnR w="12700" cap="flat" cmpd="sng" algn="ctr">
                      <a:solidFill>
                        <a:srgbClr val="CBCAC8"/>
                      </a:solidFill>
                      <a:prstDash val="solid"/>
                      <a:round/>
                      <a:headEnd type="none" w="med" len="med"/>
                      <a:tailEnd type="none" w="med" len="med"/>
                    </a:lnR>
                    <a:lnT w="12700" cap="flat" cmpd="sng" algn="ctr">
                      <a:solidFill>
                        <a:srgbClr val="B6B9BE"/>
                      </a:solidFill>
                      <a:prstDash val="solid"/>
                      <a:round/>
                      <a:headEnd type="none" w="med" len="med"/>
                      <a:tailEnd type="none" w="med" len="med"/>
                    </a:lnT>
                    <a:lnB w="12700" cap="flat" cmpd="sng" algn="ctr">
                      <a:solidFill>
                        <a:srgbClr val="CBCAC8"/>
                      </a:solidFill>
                      <a:prstDash val="solid"/>
                      <a:round/>
                      <a:headEnd type="none" w="med" len="med"/>
                      <a:tailEnd type="none" w="med" len="med"/>
                    </a:lnB>
                    <a:solidFill>
                      <a:srgbClr val="FEFDFB"/>
                    </a:solidFill>
                  </a:tcPr>
                </a:tc>
                <a:tc>
                  <a:txBody>
                    <a:bodyPr/>
                    <a:lstStyle/>
                    <a:p>
                      <a:pPr algn="r" indent="0" marL="0">
                        <a:lnSpc>
                          <a:spcPts val="1960"/>
                        </a:lnSpc>
                        <a:buNone/>
                      </a:pPr>
                      <a:r>
                        <a:rPr lang="en-US" sz="1400" dirty="0">
                          <a:solidFill>
                            <a:srgbClr val="14213D"/>
                          </a:solidFill>
                          <a:latin typeface="DM Sans" pitchFamily="34" charset="0"/>
                          <a:ea typeface="DM Sans" pitchFamily="34" charset="-122"/>
                          <a:cs typeface="DM Sans" pitchFamily="34" charset="-120"/>
                        </a:rPr>
                        <a:t>0.378</a:t>
                      </a:r>
                      <a:endParaRPr lang="en-US" sz="1400" dirty="0">
                        <a:latin typeface="DM Sans" charset="0"/>
                        <a:ea typeface="DM Sans" charset="0"/>
                        <a:cs typeface="DM Sans" charset="0"/>
                      </a:endParaRPr>
                    </a:p>
                  </a:txBody>
                  <a:tcPr marL="152400" marR="152400" marT="101600" marB="101600" anchor="t">
                    <a:lnL w="12700" cap="flat" cmpd="sng" algn="ctr">
                      <a:solidFill>
                        <a:srgbClr val="CBCAC8"/>
                      </a:solidFill>
                      <a:prstDash val="solid"/>
                      <a:round/>
                      <a:headEnd type="none" w="med" len="med"/>
                      <a:tailEnd type="none" w="med" len="med"/>
                    </a:lnL>
                    <a:lnR w="12700" cap="flat" cmpd="sng" algn="ctr">
                      <a:solidFill>
                        <a:srgbClr val="CBCAC8"/>
                      </a:solidFill>
                      <a:prstDash val="solid"/>
                      <a:round/>
                      <a:headEnd type="none" w="med" len="med"/>
                      <a:tailEnd type="none" w="med" len="med"/>
                    </a:lnR>
                    <a:lnT w="12700" cap="flat" cmpd="sng" algn="ctr">
                      <a:solidFill>
                        <a:srgbClr val="B6B9BE"/>
                      </a:solidFill>
                      <a:prstDash val="solid"/>
                      <a:round/>
                      <a:headEnd type="none" w="med" len="med"/>
                      <a:tailEnd type="none" w="med" len="med"/>
                    </a:lnT>
                    <a:lnB w="12700" cap="flat" cmpd="sng" algn="ctr">
                      <a:solidFill>
                        <a:srgbClr val="CBCAC8"/>
                      </a:solidFill>
                      <a:prstDash val="solid"/>
                      <a:round/>
                      <a:headEnd type="none" w="med" len="med"/>
                      <a:tailEnd type="none" w="med" len="med"/>
                    </a:lnB>
                    <a:solidFill>
                      <a:srgbClr val="FEFDFB"/>
                    </a:solidFill>
                  </a:tcPr>
                </a:tc>
              </a:tr>
              <a:tr h="464741">
                <a:tc>
                  <a:txBody>
                    <a:bodyPr/>
                    <a:lstStyle/>
                    <a:p>
                      <a:pPr indent="0" marL="0">
                        <a:lnSpc>
                          <a:spcPts val="1960"/>
                        </a:lnSpc>
                        <a:buNone/>
                      </a:pPr>
                      <a:r>
                        <a:rPr lang="en-US" sz="1400" dirty="0">
                          <a:solidFill>
                            <a:srgbClr val="14213D"/>
                          </a:solidFill>
                          <a:latin typeface="DM Sans" pitchFamily="34" charset="0"/>
                          <a:ea typeface="DM Sans" pitchFamily="34" charset="-122"/>
                          <a:cs typeface="DM Sans" pitchFamily="34" charset="-120"/>
                        </a:rPr>
                        <a:t>OrdinalLoss + image-count weights</a:t>
                      </a:r>
                      <a:endParaRPr lang="en-US" sz="1400" dirty="0">
                        <a:latin typeface="DM Sans" charset="0"/>
                        <a:ea typeface="DM Sans" charset="0"/>
                        <a:cs typeface="DM Sans" charset="0"/>
                      </a:endParaRPr>
                    </a:p>
                  </a:txBody>
                  <a:tcPr marL="152400" marR="152400" marT="101600" marB="101600" anchor="t">
                    <a:lnL w="0" cap="flat" cmpd="sng" algn="ctr">
                      <a:noFill/>
                    </a:lnL>
                    <a:lnR w="12700" cap="flat" cmpd="sng" algn="ctr">
                      <a:solidFill>
                        <a:srgbClr val="C0BEB8"/>
                      </a:solidFill>
                      <a:prstDash val="solid"/>
                      <a:round/>
                      <a:headEnd type="none" w="med" len="med"/>
                      <a:tailEnd type="none" w="med" len="med"/>
                    </a:lnR>
                    <a:lnT w="12700" cap="flat" cmpd="sng" algn="ctr">
                      <a:solidFill>
                        <a:srgbClr val="CBCAC8"/>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7"/>
                    </a:solidFill>
                  </a:tcPr>
                </a:tc>
                <a:tc>
                  <a:txBody>
                    <a:bodyPr/>
                    <a:lstStyle/>
                    <a:p>
                      <a:pPr algn="r" indent="0" marL="0">
                        <a:lnSpc>
                          <a:spcPts val="1960"/>
                        </a:lnSpc>
                        <a:buNone/>
                      </a:pPr>
                      <a:r>
                        <a:rPr lang="en-US" sz="1400" dirty="0">
                          <a:solidFill>
                            <a:srgbClr val="14213D"/>
                          </a:solidFill>
                          <a:latin typeface="DM Sans" pitchFamily="34" charset="0"/>
                          <a:ea typeface="DM Sans" pitchFamily="34" charset="-122"/>
                          <a:cs typeface="DM Sans" pitchFamily="34" charset="-120"/>
                        </a:rPr>
                        <a:t>0.380</a:t>
                      </a:r>
                      <a:endParaRPr lang="en-US" sz="1400" dirty="0">
                        <a:latin typeface="DM Sans" charset="0"/>
                        <a:ea typeface="DM Sans" charset="0"/>
                        <a:cs typeface="DM Sans" charset="0"/>
                      </a:endParaRPr>
                    </a:p>
                  </a:txBody>
                  <a:tcPr marL="152400" marR="152400" marT="101600" marB="101600" anchor="t">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BCAC8"/>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0EEE7"/>
                    </a:solidFill>
                  </a:tcPr>
                </a:tc>
              </a:tr>
              <a:tr h="464741">
                <a:tc>
                  <a:txBody>
                    <a:bodyPr/>
                    <a:lstStyle/>
                    <a:p>
                      <a:pPr indent="0" marL="0">
                        <a:lnSpc>
                          <a:spcPts val="1960"/>
                        </a:lnSpc>
                        <a:buNone/>
                      </a:pPr>
                      <a:r>
                        <a:rPr lang="en-US" sz="1400" dirty="0">
                          <a:solidFill>
                            <a:srgbClr val="14213D"/>
                          </a:solidFill>
                          <a:latin typeface="DM Sans" pitchFamily="34" charset="0"/>
                          <a:ea typeface="DM Sans" pitchFamily="34" charset="-122"/>
                          <a:cs typeface="DM Sans" pitchFamily="34" charset="-120"/>
                        </a:rPr>
                        <a:t>Cross-entropy + QWK weights</a:t>
                      </a:r>
                      <a:endParaRPr lang="en-US" sz="1400" dirty="0">
                        <a:latin typeface="DM Sans" charset="0"/>
                        <a:ea typeface="DM Sans" charset="0"/>
                        <a:cs typeface="DM Sans" charset="0"/>
                      </a:endParaRPr>
                    </a:p>
                  </a:txBody>
                  <a:tcPr marL="152400" marR="152400" marT="101600" marB="101600" anchor="t">
                    <a:lnL w="0" cap="flat" cmpd="sng" algn="ctr">
                      <a:noFill/>
                    </a:lnL>
                    <a:lnR w="12700" cap="flat" cmpd="sng" algn="ctr">
                      <a:solidFill>
                        <a:srgbClr val="CBCAC8"/>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BCAC8"/>
                      </a:solidFill>
                      <a:prstDash val="solid"/>
                      <a:round/>
                      <a:headEnd type="none" w="med" len="med"/>
                      <a:tailEnd type="none" w="med" len="med"/>
                    </a:lnB>
                    <a:solidFill>
                      <a:srgbClr val="FEFDFB"/>
                    </a:solidFill>
                  </a:tcPr>
                </a:tc>
                <a:tc>
                  <a:txBody>
                    <a:bodyPr/>
                    <a:lstStyle/>
                    <a:p>
                      <a:pPr algn="r" indent="0" marL="0">
                        <a:lnSpc>
                          <a:spcPts val="1960"/>
                        </a:lnSpc>
                        <a:buNone/>
                      </a:pPr>
                      <a:r>
                        <a:rPr lang="en-US" sz="1400" dirty="0">
                          <a:solidFill>
                            <a:srgbClr val="14213D"/>
                          </a:solidFill>
                          <a:latin typeface="DM Sans" pitchFamily="34" charset="0"/>
                          <a:ea typeface="DM Sans" pitchFamily="34" charset="-122"/>
                          <a:cs typeface="DM Sans" pitchFamily="34" charset="-120"/>
                        </a:rPr>
                        <a:t>0.586</a:t>
                      </a:r>
                      <a:endParaRPr lang="en-US" sz="1400" dirty="0">
                        <a:latin typeface="DM Sans" charset="0"/>
                        <a:ea typeface="DM Sans" charset="0"/>
                        <a:cs typeface="DM Sans" charset="0"/>
                      </a:endParaRPr>
                    </a:p>
                  </a:txBody>
                  <a:tcPr marL="152400" marR="152400" marT="101600" marB="101600" anchor="t">
                    <a:lnL w="12700" cap="flat" cmpd="sng" algn="ctr">
                      <a:solidFill>
                        <a:srgbClr val="CBCAC8"/>
                      </a:solidFill>
                      <a:prstDash val="solid"/>
                      <a:round/>
                      <a:headEnd type="none" w="med" len="med"/>
                      <a:tailEnd type="none" w="med" len="med"/>
                    </a:lnL>
                    <a:lnR w="12700" cap="flat" cmpd="sng" algn="ctr">
                      <a:solidFill>
                        <a:srgbClr val="CBCAC8"/>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BCAC8"/>
                      </a:solidFill>
                      <a:prstDash val="solid"/>
                      <a:round/>
                      <a:headEnd type="none" w="med" len="med"/>
                      <a:tailEnd type="none" w="med" len="med"/>
                    </a:lnB>
                    <a:solidFill>
                      <a:srgbClr val="FEFDFB"/>
                    </a:solidFill>
                  </a:tcPr>
                </a:tc>
              </a:tr>
              <a:tr h="464741">
                <a:tc>
                  <a:txBody>
                    <a:bodyPr/>
                    <a:lstStyle/>
                    <a:p>
                      <a:pPr indent="0" marL="0">
                        <a:lnSpc>
                          <a:spcPts val="1960"/>
                        </a:lnSpc>
                        <a:buNone/>
                      </a:pPr>
                      <a:r>
                        <a:rPr lang="en-US" sz="1400" dirty="0">
                          <a:solidFill>
                            <a:srgbClr val="14213D"/>
                          </a:solidFill>
                          <a:latin typeface="DM Sans" pitchFamily="34" charset="0"/>
                          <a:ea typeface="DM Sans" pitchFamily="34" charset="-122"/>
                          <a:cs typeface="DM Sans" pitchFamily="34" charset="-120"/>
                        </a:rPr>
                        <a:t>Cross-entropy + equal weights</a:t>
                      </a:r>
                      <a:endParaRPr lang="en-US" sz="1400" dirty="0">
                        <a:latin typeface="DM Sans" charset="0"/>
                        <a:ea typeface="DM Sans" charset="0"/>
                        <a:cs typeface="DM Sans" charset="0"/>
                      </a:endParaRPr>
                    </a:p>
                  </a:txBody>
                  <a:tcPr marL="152400" marR="152400" marT="101600" marB="101600" anchor="t">
                    <a:lnL w="0" cap="flat" cmpd="sng" algn="ctr">
                      <a:noFill/>
                    </a:lnL>
                    <a:lnR w="12700" cap="flat" cmpd="sng" algn="ctr">
                      <a:solidFill>
                        <a:srgbClr val="B0B9C3"/>
                      </a:solidFill>
                      <a:prstDash val="solid"/>
                      <a:round/>
                      <a:headEnd type="none" w="med" len="med"/>
                      <a:tailEnd type="none" w="med" len="med"/>
                    </a:lnR>
                    <a:lnT w="12700" cap="flat" cmpd="sng" algn="ctr">
                      <a:solidFill>
                        <a:srgbClr val="CBCAC8"/>
                      </a:solidFill>
                      <a:prstDash val="solid"/>
                      <a:round/>
                      <a:headEnd type="none" w="med" len="med"/>
                      <a:tailEnd type="none" w="med" len="med"/>
                    </a:lnT>
                    <a:lnB w="12700" cap="flat" cmpd="sng" algn="ctr">
                      <a:solidFill>
                        <a:srgbClr val="B0B9C3"/>
                      </a:solidFill>
                      <a:prstDash val="solid"/>
                      <a:round/>
                      <a:headEnd type="none" w="med" len="med"/>
                      <a:tailEnd type="none" w="med" len="med"/>
                    </a:lnB>
                    <a:solidFill>
                      <a:srgbClr val="DCE8F5"/>
                    </a:solidFill>
                  </a:tcPr>
                </a:tc>
                <a:tc>
                  <a:txBody>
                    <a:bodyPr/>
                    <a:lstStyle/>
                    <a:p>
                      <a:pPr algn="r" indent="0" marL="0">
                        <a:lnSpc>
                          <a:spcPts val="1960"/>
                        </a:lnSpc>
                        <a:buNone/>
                      </a:pPr>
                      <a:r>
                        <a:rPr lang="en-US" sz="1400" dirty="0">
                          <a:solidFill>
                            <a:srgbClr val="14213D"/>
                          </a:solidFill>
                          <a:latin typeface="DM Sans" pitchFamily="34" charset="0"/>
                          <a:ea typeface="DM Sans" pitchFamily="34" charset="-122"/>
                          <a:cs typeface="DM Sans" pitchFamily="34" charset="-120"/>
                        </a:rPr>
                        <a:t>0.630 (best)</a:t>
                      </a:r>
                      <a:endParaRPr lang="en-US" sz="1400" dirty="0">
                        <a:latin typeface="DM Sans" charset="0"/>
                        <a:ea typeface="DM Sans" charset="0"/>
                        <a:cs typeface="DM Sans" charset="0"/>
                      </a:endParaRPr>
                    </a:p>
                  </a:txBody>
                  <a:tcPr marL="152400" marR="152400" marT="101600" marB="101600" anchor="t">
                    <a:lnL w="12700" cap="flat" cmpd="sng" algn="ctr">
                      <a:solidFill>
                        <a:srgbClr val="B0B9C3"/>
                      </a:solidFill>
                      <a:prstDash val="solid"/>
                      <a:round/>
                      <a:headEnd type="none" w="med" len="med"/>
                      <a:tailEnd type="none" w="med" len="med"/>
                    </a:lnL>
                    <a:lnR w="12700" cap="flat" cmpd="sng" algn="ctr">
                      <a:solidFill>
                        <a:srgbClr val="B0B9C3"/>
                      </a:solidFill>
                      <a:prstDash val="solid"/>
                      <a:round/>
                      <a:headEnd type="none" w="med" len="med"/>
                      <a:tailEnd type="none" w="med" len="med"/>
                    </a:lnR>
                    <a:lnT w="12700" cap="flat" cmpd="sng" algn="ctr">
                      <a:solidFill>
                        <a:srgbClr val="CBCAC8"/>
                      </a:solidFill>
                      <a:prstDash val="solid"/>
                      <a:round/>
                      <a:headEnd type="none" w="med" len="med"/>
                      <a:tailEnd type="none" w="med" len="med"/>
                    </a:lnT>
                    <a:lnB w="12700" cap="flat" cmpd="sng" algn="ctr">
                      <a:solidFill>
                        <a:srgbClr val="B0B9C3"/>
                      </a:solidFill>
                      <a:prstDash val="solid"/>
                      <a:round/>
                      <a:headEnd type="none" w="med" len="med"/>
                      <a:tailEnd type="none" w="med" len="med"/>
                    </a:lnB>
                    <a:solidFill>
                      <a:srgbClr val="DCE8F5"/>
                    </a:solidFill>
                  </a:tcPr>
                </a:tc>
              </a:tr>
            </a:tbl>
          </a:graphicData>
        </a:graphic>
      </p:graphicFrame>
      <p:sp>
        <p:nvSpPr>
          <p:cNvPr id="7" name="Text 4"/>
          <p:cNvSpPr/>
          <p:nvPr/>
        </p:nvSpPr>
        <p:spPr>
          <a:xfrm>
            <a:off x="812800" y="4872335"/>
            <a:ext cx="582973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DM Sans" pitchFamily="34" charset="0"/>
                <a:ea typeface="DM Sans" pitchFamily="34" charset="-122"/>
                <a:cs typeface="DM Sans" pitchFamily="34" charset="-120"/>
              </a:rPr>
              <a:t>The loss alone does not help. With only 50 server images, the QWK scores are too noisy to rank hospitals.</a:t>
            </a:r>
            <a:endParaRPr lang="en-US" sz="1400" dirty="0"/>
          </a:p>
        </p:txBody>
      </p:sp>
      <p:sp>
        <p:nvSpPr>
          <p:cNvPr id="8" name="Shape 5"/>
          <p:cNvSpPr/>
          <p:nvPr/>
        </p:nvSpPr>
        <p:spPr>
          <a:xfrm>
            <a:off x="6726734" y="1854101"/>
            <a:ext cx="4652466" cy="3515916"/>
          </a:xfrm>
          <a:prstGeom prst="roundRect">
            <a:avLst>
              <a:gd name="adj" fmla="val 3612"/>
            </a:avLst>
          </a:prstGeom>
          <a:solidFill>
            <a:srgbClr val="14213D"/>
          </a:solidFill>
          <a:ln/>
        </p:spPr>
      </p:sp>
      <p:sp>
        <p:nvSpPr>
          <p:cNvPr id="9" name="Text 6"/>
          <p:cNvSpPr/>
          <p:nvPr/>
        </p:nvSpPr>
        <p:spPr>
          <a:xfrm>
            <a:off x="7031534" y="2158901"/>
            <a:ext cx="416415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EC1E8"/>
                </a:solidFill>
                <a:latin typeface="DM Sans" pitchFamily="34" charset="0"/>
                <a:ea typeface="DM Sans" pitchFamily="34" charset="-122"/>
                <a:cs typeface="DM Sans" pitchFamily="34" charset="-120"/>
              </a:rPr>
              <a:t>KEY INSIGHT</a:t>
            </a:r>
            <a:endParaRPr lang="en-US" sz="1200" dirty="0"/>
          </a:p>
        </p:txBody>
      </p:sp>
      <p:sp>
        <p:nvSpPr>
          <p:cNvPr id="10" name="Text 7"/>
          <p:cNvSpPr/>
          <p:nvPr/>
        </p:nvSpPr>
        <p:spPr>
          <a:xfrm>
            <a:off x="7031534" y="2499221"/>
            <a:ext cx="4164152"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7F6F2"/>
                </a:solidFill>
                <a:latin typeface="DM Sans" pitchFamily="34" charset="0"/>
                <a:ea typeface="DM Sans" pitchFamily="34" charset="-122"/>
                <a:cs typeface="DM Sans" pitchFamily="34" charset="-120"/>
              </a:rPr>
              <a:t>Small hospitals get a bigger voice</a:t>
            </a:r>
            <a:endParaRPr lang="en-US" sz="2000" dirty="0"/>
          </a:p>
        </p:txBody>
      </p:sp>
      <p:sp>
        <p:nvSpPr>
          <p:cNvPr id="11" name="Text 8"/>
          <p:cNvSpPr/>
          <p:nvPr/>
        </p:nvSpPr>
        <p:spPr>
          <a:xfrm>
            <a:off x="7031534" y="3235821"/>
            <a:ext cx="416415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CE6F2"/>
                </a:solidFill>
                <a:latin typeface="DM Sans" pitchFamily="34" charset="0"/>
                <a:ea typeface="DM Sans" pitchFamily="34" charset="-122"/>
                <a:cs typeface="DM Sans" pitchFamily="34" charset="-120"/>
              </a:rPr>
              <a:t>Weight of the two smallest clients, who hold 5.9% of the images:</a:t>
            </a:r>
            <a:endParaRPr lang="en-US" sz="1400" dirty="0"/>
          </a:p>
        </p:txBody>
      </p:sp>
      <p:sp>
        <p:nvSpPr>
          <p:cNvPr id="12" name="Text 9"/>
          <p:cNvSpPr/>
          <p:nvPr/>
        </p:nvSpPr>
        <p:spPr>
          <a:xfrm>
            <a:off x="7031534" y="3860502"/>
            <a:ext cx="1119287"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F7F6F2"/>
                </a:solidFill>
                <a:latin typeface="DM Sans" pitchFamily="34" charset="0"/>
                <a:ea typeface="DM Sans" pitchFamily="34" charset="-122"/>
                <a:cs typeface="DM Sans" pitchFamily="34" charset="-120"/>
              </a:rPr>
              <a:t>5.9%</a:t>
            </a:r>
            <a:endParaRPr lang="en-US" sz="3200" dirty="0"/>
          </a:p>
        </p:txBody>
      </p:sp>
      <p:sp>
        <p:nvSpPr>
          <p:cNvPr id="13" name="Text 10"/>
          <p:cNvSpPr/>
          <p:nvPr/>
        </p:nvSpPr>
        <p:spPr>
          <a:xfrm>
            <a:off x="7031534" y="4332883"/>
            <a:ext cx="101768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D0E4"/>
                </a:solidFill>
                <a:latin typeface="DM Sans" pitchFamily="34" charset="0"/>
                <a:ea typeface="DM Sans" pitchFamily="34" charset="-122"/>
                <a:cs typeface="DM Sans" pitchFamily="34" charset="-120"/>
              </a:rPr>
              <a:t>FedAvg</a:t>
            </a:r>
            <a:endParaRPr lang="en-US" sz="1200" dirty="0"/>
          </a:p>
        </p:txBody>
      </p:sp>
      <p:pic>
        <p:nvPicPr>
          <p:cNvPr id="14" name="Image 0" descr="arrow-right">    </p:cNvPr>
          <p:cNvPicPr>
            <a:picLocks noChangeAspect="1"/>
          </p:cNvPicPr>
          <p:nvPr/>
        </p:nvPicPr>
        <p:blipFill>
          <a:blip r:embed="rId1"/>
          <a:srcRect l="0" r="0" t="0" b="0"/>
          <a:stretch/>
        </p:blipFill>
        <p:spPr>
          <a:xfrm>
            <a:off x="8150820" y="4101703"/>
            <a:ext cx="406400" cy="203200"/>
          </a:xfrm>
          <a:prstGeom prst="rect">
            <a:avLst/>
          </a:prstGeom>
        </p:spPr>
      </p:pic>
      <p:sp>
        <p:nvSpPr>
          <p:cNvPr id="15" name="Text 11"/>
          <p:cNvSpPr/>
          <p:nvPr/>
        </p:nvSpPr>
        <p:spPr>
          <a:xfrm>
            <a:off x="8709620" y="3860502"/>
            <a:ext cx="1494036"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9EC1E8"/>
                </a:solidFill>
                <a:latin typeface="DM Sans" pitchFamily="34" charset="0"/>
                <a:ea typeface="DM Sans" pitchFamily="34" charset="-122"/>
                <a:cs typeface="DM Sans" pitchFamily="34" charset="-120"/>
              </a:rPr>
              <a:t>40.8%</a:t>
            </a:r>
            <a:endParaRPr lang="en-US" sz="3200" dirty="0"/>
          </a:p>
        </p:txBody>
      </p:sp>
      <p:sp>
        <p:nvSpPr>
          <p:cNvPr id="16" name="Text 12"/>
          <p:cNvSpPr/>
          <p:nvPr/>
        </p:nvSpPr>
        <p:spPr>
          <a:xfrm>
            <a:off x="8709620" y="4332883"/>
            <a:ext cx="17318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D0E4"/>
                </a:solidFill>
                <a:latin typeface="DM Sans" pitchFamily="34" charset="0"/>
                <a:ea typeface="DM Sans" pitchFamily="34" charset="-122"/>
                <a:cs typeface="DM Sans" pitchFamily="34" charset="-120"/>
              </a:rPr>
              <a:t>OrdinalFed, round 10</a:t>
            </a:r>
            <a:endParaRPr lang="en-US" sz="1200" dirty="0"/>
          </a:p>
        </p:txBody>
      </p:sp>
      <p:sp>
        <p:nvSpPr>
          <p:cNvPr id="17" name="Text 13"/>
          <p:cNvSpPr/>
          <p:nvPr/>
        </p:nvSpPr>
        <p:spPr>
          <a:xfrm>
            <a:off x="812800" y="6238280"/>
            <a:ext cx="311157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5"/>
                </a:solidFill>
                <a:latin typeface="DM Sans" pitchFamily="34" charset="0"/>
                <a:ea typeface="DM Sans" pitchFamily="34" charset="-122"/>
                <a:cs typeface="DM Sans" pitchFamily="34" charset="-120"/>
              </a:rPr>
              <a:t>OrdinalFed · IEEE WIECON-ECE 2026</a:t>
            </a:r>
            <a:endParaRPr lang="en-US" sz="1200" dirty="0"/>
          </a:p>
        </p:txBody>
      </p:sp>
      <p:sp>
        <p:nvSpPr>
          <p:cNvPr id="18" name="Text 14"/>
          <p:cNvSpPr/>
          <p:nvPr/>
        </p:nvSpPr>
        <p:spPr>
          <a:xfrm>
            <a:off x="11233249" y="6238280"/>
            <a:ext cx="14595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5"/>
                </a:solidFill>
                <a:latin typeface="DM Sans" pitchFamily="34" charset="0"/>
                <a:ea typeface="DM Sans" pitchFamily="34" charset="-122"/>
                <a:cs typeface="DM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AF0F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B3"/>
                </a:solidFill>
                <a:latin typeface="DM Sans" pitchFamily="34" charset="0"/>
                <a:ea typeface="DM Sans" pitchFamily="34" charset="-122"/>
                <a:cs typeface="DM Sans" pitchFamily="34" charset="-120"/>
              </a:rPr>
              <a:t>RESULTS</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DM Sans" pitchFamily="34" charset="0"/>
                <a:ea typeface="DM Sans" pitchFamily="34" charset="-122"/>
                <a:cs typeface="DM Sans" pitchFamily="34" charset="-120"/>
              </a:rPr>
              <a:t>More results</a:t>
            </a:r>
            <a:endParaRPr lang="en-US" sz="3200" dirty="0"/>
          </a:p>
        </p:txBody>
      </p:sp>
      <p:sp>
        <p:nvSpPr>
          <p:cNvPr id="4" name="Shape 2"/>
          <p:cNvSpPr/>
          <p:nvPr/>
        </p:nvSpPr>
        <p:spPr>
          <a:xfrm>
            <a:off x="815975" y="1831876"/>
            <a:ext cx="5175250" cy="1817191"/>
          </a:xfrm>
          <a:prstGeom prst="roundRect">
            <a:avLst>
              <a:gd name="adj" fmla="val 6814"/>
            </a:avLst>
          </a:prstGeom>
          <a:solidFill>
            <a:srgbClr val="FEFDFB"/>
          </a:solidFill>
          <a:ln w="6350">
            <a:solidFill>
              <a:srgbClr val="D5DEE9"/>
            </a:solidFill>
            <a:prstDash val="solid"/>
          </a:ln>
        </p:spPr>
      </p:sp>
      <p:sp>
        <p:nvSpPr>
          <p:cNvPr id="5" name="Text 3"/>
          <p:cNvSpPr/>
          <p:nvPr/>
        </p:nvSpPr>
        <p:spPr>
          <a:xfrm>
            <a:off x="1073150" y="2089051"/>
            <a:ext cx="4800727"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2F6FB3"/>
                </a:solidFill>
                <a:latin typeface="DM Sans" pitchFamily="34" charset="0"/>
                <a:ea typeface="DM Sans" pitchFamily="34" charset="-122"/>
                <a:cs typeface="DM Sans" pitchFamily="34" charset="-120"/>
              </a:rPr>
              <a:t>≤ 0.01</a:t>
            </a:r>
            <a:endParaRPr lang="en-US" sz="3200" dirty="0"/>
          </a:p>
        </p:txBody>
      </p:sp>
      <p:sp>
        <p:nvSpPr>
          <p:cNvPr id="6" name="Text 4"/>
          <p:cNvSpPr/>
          <p:nvPr/>
        </p:nvSpPr>
        <p:spPr>
          <a:xfrm>
            <a:off x="1073150" y="2599531"/>
            <a:ext cx="480072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DM Sans" pitchFamily="34" charset="0"/>
                <a:ea typeface="DM Sans" pitchFamily="34" charset="-122"/>
                <a:cs typeface="DM Sans" pitchFamily="34" charset="-120"/>
              </a:rPr>
              <a:t>Gap on IID and real-site splits</a:t>
            </a:r>
            <a:endParaRPr lang="en-US" sz="1500" dirty="0"/>
          </a:p>
        </p:txBody>
      </p:sp>
      <p:sp>
        <p:nvSpPr>
          <p:cNvPr id="7" name="Text 5"/>
          <p:cNvSpPr/>
          <p:nvPr/>
        </p:nvSpPr>
        <p:spPr>
          <a:xfrm>
            <a:off x="1073150" y="2929731"/>
            <a:ext cx="49149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C"/>
                </a:solidFill>
                <a:latin typeface="DM Sans" pitchFamily="34" charset="0"/>
                <a:ea typeface="DM Sans" pitchFamily="34" charset="-122"/>
                <a:cs typeface="DM Sans" pitchFamily="34" charset="-120"/>
              </a:rPr>
              <a:t>All methods perform about the same when the skew is mild.</a:t>
            </a:r>
            <a:endParaRPr lang="en-US" sz="1300" dirty="0"/>
          </a:p>
        </p:txBody>
      </p:sp>
      <p:sp>
        <p:nvSpPr>
          <p:cNvPr id="8" name="Shape 6"/>
          <p:cNvSpPr/>
          <p:nvPr/>
        </p:nvSpPr>
        <p:spPr>
          <a:xfrm>
            <a:off x="6200775" y="1831876"/>
            <a:ext cx="5175250" cy="1817191"/>
          </a:xfrm>
          <a:prstGeom prst="roundRect">
            <a:avLst>
              <a:gd name="adj" fmla="val 6814"/>
            </a:avLst>
          </a:prstGeom>
          <a:solidFill>
            <a:srgbClr val="FEFDFB"/>
          </a:solidFill>
          <a:ln w="6350">
            <a:solidFill>
              <a:srgbClr val="D5DEE9"/>
            </a:solidFill>
            <a:prstDash val="solid"/>
          </a:ln>
        </p:spPr>
      </p:sp>
      <p:sp>
        <p:nvSpPr>
          <p:cNvPr id="9" name="Text 7"/>
          <p:cNvSpPr/>
          <p:nvPr/>
        </p:nvSpPr>
        <p:spPr>
          <a:xfrm>
            <a:off x="6457950" y="2089051"/>
            <a:ext cx="4800727"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2F6FB3"/>
                </a:solidFill>
                <a:latin typeface="DM Sans" pitchFamily="34" charset="0"/>
                <a:ea typeface="DM Sans" pitchFamily="34" charset="-122"/>
                <a:cs typeface="DM Sans" pitchFamily="34" charset="-120"/>
              </a:rPr>
              <a:t>0.36</a:t>
            </a:r>
            <a:endParaRPr lang="en-US" sz="3200" dirty="0"/>
          </a:p>
        </p:txBody>
      </p:sp>
      <p:sp>
        <p:nvSpPr>
          <p:cNvPr id="10" name="Text 8"/>
          <p:cNvSpPr/>
          <p:nvPr/>
        </p:nvSpPr>
        <p:spPr>
          <a:xfrm>
            <a:off x="6457950" y="2599531"/>
            <a:ext cx="480072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DM Sans" pitchFamily="34" charset="0"/>
                <a:ea typeface="DM Sans" pitchFamily="34" charset="-122"/>
                <a:cs typeface="DM Sans" pitchFamily="34" charset="-120"/>
              </a:rPr>
              <a:t>Best Grade 3 recall (OrdinalFed)</a:t>
            </a:r>
            <a:endParaRPr lang="en-US" sz="1500" dirty="0"/>
          </a:p>
        </p:txBody>
      </p:sp>
      <p:sp>
        <p:nvSpPr>
          <p:cNvPr id="11" name="Text 9"/>
          <p:cNvSpPr/>
          <p:nvPr/>
        </p:nvSpPr>
        <p:spPr>
          <a:xfrm>
            <a:off x="6457950" y="2929731"/>
            <a:ext cx="480072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C"/>
                </a:solidFill>
                <a:latin typeface="DM Sans" pitchFamily="34" charset="0"/>
                <a:ea typeface="DM Sans" pitchFamily="34" charset="-122"/>
                <a:cs typeface="DM Sans" pitchFamily="34" charset="-120"/>
              </a:rPr>
              <a:t>Others: 0.27–0.31 under extreme skew. Grade 3 is the rarest severe grade.</a:t>
            </a:r>
            <a:endParaRPr lang="en-US" sz="1300" dirty="0"/>
          </a:p>
        </p:txBody>
      </p:sp>
      <p:sp>
        <p:nvSpPr>
          <p:cNvPr id="12" name="Shape 10"/>
          <p:cNvSpPr/>
          <p:nvPr/>
        </p:nvSpPr>
        <p:spPr>
          <a:xfrm>
            <a:off x="815975" y="3858617"/>
            <a:ext cx="5175250" cy="1586111"/>
          </a:xfrm>
          <a:prstGeom prst="roundRect">
            <a:avLst>
              <a:gd name="adj" fmla="val 7807"/>
            </a:avLst>
          </a:prstGeom>
          <a:solidFill>
            <a:srgbClr val="FEFDFB"/>
          </a:solidFill>
          <a:ln w="6350">
            <a:solidFill>
              <a:srgbClr val="D5DEE9"/>
            </a:solidFill>
            <a:prstDash val="solid"/>
          </a:ln>
        </p:spPr>
      </p:sp>
      <p:sp>
        <p:nvSpPr>
          <p:cNvPr id="13" name="Text 11"/>
          <p:cNvSpPr/>
          <p:nvPr/>
        </p:nvSpPr>
        <p:spPr>
          <a:xfrm>
            <a:off x="1073150" y="4115792"/>
            <a:ext cx="4800727"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2F6FB3"/>
                </a:solidFill>
                <a:latin typeface="DM Sans" pitchFamily="34" charset="0"/>
                <a:ea typeface="DM Sans" pitchFamily="34" charset="-122"/>
                <a:cs typeface="DM Sans" pitchFamily="34" charset="-120"/>
              </a:rPr>
              <a:t>0.60–0.66</a:t>
            </a:r>
            <a:endParaRPr lang="en-US" sz="3200" dirty="0"/>
          </a:p>
        </p:txBody>
      </p:sp>
      <p:sp>
        <p:nvSpPr>
          <p:cNvPr id="14" name="Text 12"/>
          <p:cNvSpPr/>
          <p:nvPr/>
        </p:nvSpPr>
        <p:spPr>
          <a:xfrm>
            <a:off x="1073150" y="4626273"/>
            <a:ext cx="480072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DM Sans" pitchFamily="34" charset="0"/>
                <a:ea typeface="DM Sans" pitchFamily="34" charset="-122"/>
                <a:cs typeface="DM Sans" pitchFamily="34" charset="-120"/>
              </a:rPr>
              <a:t>QWK on external APTOS 2019</a:t>
            </a:r>
            <a:endParaRPr lang="en-US" sz="1500" dirty="0"/>
          </a:p>
        </p:txBody>
      </p:sp>
      <p:sp>
        <p:nvSpPr>
          <p:cNvPr id="15" name="Text 13"/>
          <p:cNvSpPr/>
          <p:nvPr/>
        </p:nvSpPr>
        <p:spPr>
          <a:xfrm>
            <a:off x="1073150" y="4956473"/>
            <a:ext cx="480072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C"/>
                </a:solidFill>
                <a:latin typeface="DM Sans" pitchFamily="34" charset="0"/>
                <a:ea typeface="DM Sans" pitchFamily="34" charset="-122"/>
                <a:cs typeface="DM Sans" pitchFamily="34" charset="-120"/>
              </a:rPr>
              <a:t>Close to the centralised model (0.641), with no retraining.</a:t>
            </a:r>
            <a:endParaRPr lang="en-US" sz="1300" dirty="0"/>
          </a:p>
        </p:txBody>
      </p:sp>
      <p:sp>
        <p:nvSpPr>
          <p:cNvPr id="16" name="Shape 14"/>
          <p:cNvSpPr/>
          <p:nvPr/>
        </p:nvSpPr>
        <p:spPr>
          <a:xfrm>
            <a:off x="6200775" y="3858617"/>
            <a:ext cx="5175250" cy="1586111"/>
          </a:xfrm>
          <a:prstGeom prst="roundRect">
            <a:avLst>
              <a:gd name="adj" fmla="val 7807"/>
            </a:avLst>
          </a:prstGeom>
          <a:solidFill>
            <a:srgbClr val="FEFDFB"/>
          </a:solidFill>
          <a:ln w="6350">
            <a:solidFill>
              <a:srgbClr val="D5DEE9"/>
            </a:solidFill>
            <a:prstDash val="solid"/>
          </a:ln>
        </p:spPr>
      </p:sp>
      <p:sp>
        <p:nvSpPr>
          <p:cNvPr id="17" name="Text 15"/>
          <p:cNvSpPr/>
          <p:nvPr/>
        </p:nvSpPr>
        <p:spPr>
          <a:xfrm>
            <a:off x="6457950" y="4115792"/>
            <a:ext cx="4800727"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2F6FB3"/>
                </a:solidFill>
                <a:latin typeface="DM Sans" pitchFamily="34" charset="0"/>
                <a:ea typeface="DM Sans" pitchFamily="34" charset="-122"/>
                <a:cs typeface="DM Sans" pitchFamily="34" charset="-120"/>
              </a:rPr>
              <a:t>1.2 s</a:t>
            </a:r>
            <a:endParaRPr lang="en-US" sz="3200" dirty="0"/>
          </a:p>
        </p:txBody>
      </p:sp>
      <p:sp>
        <p:nvSpPr>
          <p:cNvPr id="18" name="Text 16"/>
          <p:cNvSpPr/>
          <p:nvPr/>
        </p:nvSpPr>
        <p:spPr>
          <a:xfrm>
            <a:off x="6457950" y="4626273"/>
            <a:ext cx="480072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DM Sans" pitchFamily="34" charset="0"/>
                <a:ea typeface="DM Sans" pitchFamily="34" charset="-122"/>
                <a:cs typeface="DM Sans" pitchFamily="34" charset="-120"/>
              </a:rPr>
              <a:t>Extra server time per round</a:t>
            </a:r>
            <a:endParaRPr lang="en-US" sz="1500" dirty="0"/>
          </a:p>
        </p:txBody>
      </p:sp>
      <p:sp>
        <p:nvSpPr>
          <p:cNvPr id="19" name="Text 17"/>
          <p:cNvSpPr/>
          <p:nvPr/>
        </p:nvSpPr>
        <p:spPr>
          <a:xfrm>
            <a:off x="6457950" y="4956473"/>
            <a:ext cx="480072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C"/>
                </a:solidFill>
                <a:latin typeface="DM Sans" pitchFamily="34" charset="0"/>
                <a:ea typeface="DM Sans" pitchFamily="34" charset="-122"/>
                <a:cs typeface="DM Sans" pitchFamily="34" charset="-120"/>
              </a:rPr>
              <a:t>About 0.6% of a round. No extra communication.</a:t>
            </a:r>
            <a:endParaRPr lang="en-US" sz="1300" dirty="0"/>
          </a:p>
        </p:txBody>
      </p:sp>
      <p:sp>
        <p:nvSpPr>
          <p:cNvPr id="20" name="Text 18"/>
          <p:cNvSpPr/>
          <p:nvPr/>
        </p:nvSpPr>
        <p:spPr>
          <a:xfrm>
            <a:off x="812800" y="6238280"/>
            <a:ext cx="311157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A6B"/>
                </a:solidFill>
                <a:latin typeface="DM Sans" pitchFamily="34" charset="0"/>
                <a:ea typeface="DM Sans" pitchFamily="34" charset="-122"/>
                <a:cs typeface="DM Sans" pitchFamily="34" charset="-120"/>
              </a:rPr>
              <a:t>OrdinalFed · IEEE WIECON-ECE 2026</a:t>
            </a:r>
            <a:endParaRPr lang="en-US" sz="1200" dirty="0"/>
          </a:p>
        </p:txBody>
      </p:sp>
      <p:sp>
        <p:nvSpPr>
          <p:cNvPr id="21" name="Text 19"/>
          <p:cNvSpPr/>
          <p:nvPr/>
        </p:nvSpPr>
        <p:spPr>
          <a:xfrm>
            <a:off x="11193066" y="6238280"/>
            <a:ext cx="186134"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F5A6B"/>
                </a:solidFill>
                <a:latin typeface="DM Sans" pitchFamily="34" charset="0"/>
                <a:ea typeface="DM Sans" pitchFamily="34" charset="-122"/>
                <a:cs typeface="DM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EC1E8"/>
                </a:solidFill>
                <a:latin typeface="DM Sans" pitchFamily="34" charset="0"/>
                <a:ea typeface="DM Sans" pitchFamily="34" charset="-122"/>
                <a:cs typeface="DM Sans" pitchFamily="34" charset="-120"/>
              </a:rPr>
              <a:t>CONCLUSION</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7F6F2"/>
                </a:solidFill>
                <a:latin typeface="DM Sans" pitchFamily="34" charset="0"/>
                <a:ea typeface="DM Sans" pitchFamily="34" charset="-122"/>
                <a:cs typeface="DM Sans" pitchFamily="34" charset="-120"/>
              </a:rPr>
              <a:t>Takeaways</a:t>
            </a:r>
            <a:endParaRPr lang="en-US" sz="3200" dirty="0"/>
          </a:p>
        </p:txBody>
      </p:sp>
      <p:sp>
        <p:nvSpPr>
          <p:cNvPr id="4" name="Text 2"/>
          <p:cNvSpPr/>
          <p:nvPr/>
        </p:nvSpPr>
        <p:spPr>
          <a:xfrm>
            <a:off x="812800" y="1946771"/>
            <a:ext cx="406400" cy="406400"/>
          </a:xfrm>
          <a:prstGeom prst="roundRect">
            <a:avLst>
              <a:gd name="adj" fmla="val 50000"/>
            </a:avLst>
          </a:prstGeom>
          <a:solidFill>
            <a:srgbClr val="9EC1E8"/>
          </a:solidFill>
          <a:ln/>
        </p:spPr>
        <p:txBody>
          <a:bodyPr wrap="square" lIns="0" tIns="0" rIns="0" bIns="0" rtlCol="0" anchor="ctr">
            <a:normAutofit/>
          </a:bodyPr>
          <a:lstStyle/>
          <a:p>
            <a:pPr algn="ctr" indent="0" marL="0">
              <a:lnSpc>
                <a:spcPts val="2100"/>
              </a:lnSpc>
              <a:buNone/>
            </a:pPr>
            <a:r>
              <a:rPr lang="en-US" sz="1500" b="1" dirty="0">
                <a:solidFill>
                  <a:srgbClr val="14213D"/>
                </a:solidFill>
                <a:latin typeface="DM Sans" pitchFamily="34" charset="0"/>
                <a:ea typeface="DM Sans" pitchFamily="34" charset="-122"/>
                <a:cs typeface="DM Sans" pitchFamily="34" charset="-120"/>
              </a:rPr>
              <a:t>1</a:t>
            </a:r>
            <a:endParaRPr lang="en-US" sz="1500" dirty="0"/>
          </a:p>
        </p:txBody>
      </p:sp>
      <p:sp>
        <p:nvSpPr>
          <p:cNvPr id="5" name="Text 3"/>
          <p:cNvSpPr/>
          <p:nvPr/>
        </p:nvSpPr>
        <p:spPr>
          <a:xfrm>
            <a:off x="1422400" y="1854101"/>
            <a:ext cx="800385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7F6F2"/>
                </a:solidFill>
                <a:latin typeface="DM Sans" pitchFamily="34" charset="0"/>
                <a:ea typeface="DM Sans" pitchFamily="34" charset="-122"/>
                <a:cs typeface="DM Sans" pitchFamily="34" charset="-120"/>
              </a:rPr>
              <a:t>Server-side weighting stops most of FedAvg’s collapse</a:t>
            </a:r>
            <a:endParaRPr lang="en-US" sz="2000" dirty="0"/>
          </a:p>
        </p:txBody>
      </p:sp>
      <p:sp>
        <p:nvSpPr>
          <p:cNvPr id="6" name="Text 4"/>
          <p:cNvSpPr/>
          <p:nvPr/>
        </p:nvSpPr>
        <p:spPr>
          <a:xfrm>
            <a:off x="1422400" y="2197001"/>
            <a:ext cx="6869978"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D0E4"/>
                </a:solidFill>
                <a:latin typeface="DM Sans" pitchFamily="34" charset="0"/>
                <a:ea typeface="DM Sans" pitchFamily="34" charset="-122"/>
                <a:cs typeface="DM Sans" pitchFamily="34" charset="-120"/>
              </a:rPr>
              <a:t>Worst round 0.378 → 0.514, with no change at the hospitals</a:t>
            </a:r>
            <a:endParaRPr lang="en-US" sz="1400" dirty="0"/>
          </a:p>
        </p:txBody>
      </p:sp>
      <p:sp>
        <p:nvSpPr>
          <p:cNvPr id="7" name="Text 5"/>
          <p:cNvSpPr/>
          <p:nvPr/>
        </p:nvSpPr>
        <p:spPr>
          <a:xfrm>
            <a:off x="812800" y="2767112"/>
            <a:ext cx="406400" cy="406400"/>
          </a:xfrm>
          <a:prstGeom prst="roundRect">
            <a:avLst>
              <a:gd name="adj" fmla="val 50000"/>
            </a:avLst>
          </a:prstGeom>
          <a:solidFill>
            <a:srgbClr val="9EC1E8"/>
          </a:solidFill>
          <a:ln/>
        </p:spPr>
        <p:txBody>
          <a:bodyPr wrap="square" lIns="0" tIns="0" rIns="0" bIns="0" rtlCol="0" anchor="ctr">
            <a:normAutofit/>
          </a:bodyPr>
          <a:lstStyle/>
          <a:p>
            <a:pPr algn="ctr" indent="0" marL="0">
              <a:lnSpc>
                <a:spcPts val="2100"/>
              </a:lnSpc>
              <a:buNone/>
            </a:pPr>
            <a:r>
              <a:rPr lang="en-US" sz="1500" b="1" dirty="0">
                <a:solidFill>
                  <a:srgbClr val="14213D"/>
                </a:solidFill>
                <a:latin typeface="DM Sans" pitchFamily="34" charset="0"/>
                <a:ea typeface="DM Sans" pitchFamily="34" charset="-122"/>
                <a:cs typeface="DM Sans" pitchFamily="34" charset="-120"/>
              </a:rPr>
              <a:t>2</a:t>
            </a:r>
            <a:endParaRPr lang="en-US" sz="1500" dirty="0"/>
          </a:p>
        </p:txBody>
      </p:sp>
      <p:sp>
        <p:nvSpPr>
          <p:cNvPr id="8" name="Text 6"/>
          <p:cNvSpPr/>
          <p:nvPr/>
        </p:nvSpPr>
        <p:spPr>
          <a:xfrm>
            <a:off x="1422400" y="2674441"/>
            <a:ext cx="818483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7F6F2"/>
                </a:solidFill>
                <a:latin typeface="DM Sans" pitchFamily="34" charset="0"/>
                <a:ea typeface="DM Sans" pitchFamily="34" charset="-122"/>
                <a:cs typeface="DM Sans" pitchFamily="34" charset="-120"/>
              </a:rPr>
              <a:t>The gain comes from giving small hospitals more weight</a:t>
            </a:r>
            <a:endParaRPr lang="en-US" sz="2000" dirty="0"/>
          </a:p>
        </p:txBody>
      </p:sp>
      <p:sp>
        <p:nvSpPr>
          <p:cNvPr id="9" name="Text 7"/>
          <p:cNvSpPr/>
          <p:nvPr/>
        </p:nvSpPr>
        <p:spPr>
          <a:xfrm>
            <a:off x="1422400" y="3017341"/>
            <a:ext cx="7025315"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D0E4"/>
                </a:solidFill>
                <a:latin typeface="DM Sans" pitchFamily="34" charset="0"/>
                <a:ea typeface="DM Sans" pitchFamily="34" charset="-122"/>
                <a:cs typeface="DM Sans" pitchFamily="34" charset="-120"/>
              </a:rPr>
              <a:t>Equal weights work even better (0.630)</a:t>
            </a:r>
            <a:endParaRPr lang="en-US" sz="1400" dirty="0"/>
          </a:p>
        </p:txBody>
      </p:sp>
      <p:sp>
        <p:nvSpPr>
          <p:cNvPr id="10" name="Text 8"/>
          <p:cNvSpPr/>
          <p:nvPr/>
        </p:nvSpPr>
        <p:spPr>
          <a:xfrm>
            <a:off x="812800" y="3587452"/>
            <a:ext cx="406400" cy="406400"/>
          </a:xfrm>
          <a:prstGeom prst="roundRect">
            <a:avLst>
              <a:gd name="adj" fmla="val 50000"/>
            </a:avLst>
          </a:prstGeom>
          <a:solidFill>
            <a:srgbClr val="9EC1E8"/>
          </a:solidFill>
          <a:ln/>
        </p:spPr>
        <p:txBody>
          <a:bodyPr wrap="square" lIns="0" tIns="0" rIns="0" bIns="0" rtlCol="0" anchor="ctr">
            <a:normAutofit/>
          </a:bodyPr>
          <a:lstStyle/>
          <a:p>
            <a:pPr algn="ctr" indent="0" marL="0">
              <a:lnSpc>
                <a:spcPts val="2100"/>
              </a:lnSpc>
              <a:buNone/>
            </a:pPr>
            <a:r>
              <a:rPr lang="en-US" sz="1500" b="1" dirty="0">
                <a:solidFill>
                  <a:srgbClr val="14213D"/>
                </a:solidFill>
                <a:latin typeface="DM Sans" pitchFamily="34" charset="0"/>
                <a:ea typeface="DM Sans" pitchFamily="34" charset="-122"/>
                <a:cs typeface="DM Sans" pitchFamily="34" charset="-120"/>
              </a:rPr>
              <a:t>3</a:t>
            </a:r>
            <a:endParaRPr lang="en-US" sz="1500" dirty="0"/>
          </a:p>
        </p:txBody>
      </p:sp>
      <p:sp>
        <p:nvSpPr>
          <p:cNvPr id="11" name="Text 9"/>
          <p:cNvSpPr/>
          <p:nvPr/>
        </p:nvSpPr>
        <p:spPr>
          <a:xfrm>
            <a:off x="1422400" y="3494782"/>
            <a:ext cx="569630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7F6F2"/>
                </a:solidFill>
                <a:latin typeface="DM Sans" pitchFamily="34" charset="0"/>
                <a:ea typeface="DM Sans" pitchFamily="34" charset="-122"/>
                <a:cs typeface="DM Sans" pitchFamily="34" charset="-120"/>
              </a:rPr>
              <a:t>FedProx is still the most stable method</a:t>
            </a:r>
            <a:endParaRPr lang="en-US" sz="2000" dirty="0"/>
          </a:p>
        </p:txBody>
      </p:sp>
      <p:sp>
        <p:nvSpPr>
          <p:cNvPr id="12" name="Text 10"/>
          <p:cNvSpPr/>
          <p:nvPr/>
        </p:nvSpPr>
        <p:spPr>
          <a:xfrm>
            <a:off x="1422400" y="3837682"/>
            <a:ext cx="488933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D0E4"/>
                </a:solidFill>
                <a:latin typeface="DM Sans" pitchFamily="34" charset="0"/>
                <a:ea typeface="DM Sans" pitchFamily="34" charset="-122"/>
                <a:cs typeface="DM Sans" pitchFamily="34" charset="-120"/>
              </a:rPr>
              <a:t>Worst round 0.641</a:t>
            </a:r>
            <a:endParaRPr lang="en-US" sz="1400" dirty="0"/>
          </a:p>
        </p:txBody>
      </p:sp>
      <p:sp>
        <p:nvSpPr>
          <p:cNvPr id="13" name="Text 11"/>
          <p:cNvSpPr/>
          <p:nvPr/>
        </p:nvSpPr>
        <p:spPr>
          <a:xfrm>
            <a:off x="812800" y="4391323"/>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FD0E4"/>
                </a:solidFill>
                <a:latin typeface="DM Sans" pitchFamily="34" charset="0"/>
                <a:ea typeface="DM Sans" pitchFamily="34" charset="-122"/>
                <a:cs typeface="DM Sans" pitchFamily="34" charset="-120"/>
              </a:rPr>
              <a:t>Next:</a:t>
            </a:r>
            <a:r>
              <a:rPr lang="en-US" sz="1300" dirty="0">
                <a:solidFill>
                  <a:srgbClr val="BFD0E4"/>
                </a:solidFill>
                <a:latin typeface="DM Sans" pitchFamily="34" charset="0"/>
                <a:ea typeface="DM Sans" pitchFamily="34" charset="-122"/>
                <a:cs typeface="DM Sans" pitchFamily="34" charset="-120"/>
              </a:rPr>
              <a:t> larger server sets, higher resolution, more datasets and privacy guarantees.</a:t>
            </a:r>
            <a:endParaRPr lang="en-US" sz="1300" dirty="0"/>
          </a:p>
        </p:txBody>
      </p:sp>
      <p:sp>
        <p:nvSpPr>
          <p:cNvPr id="14" name="Text 12"/>
          <p:cNvSpPr/>
          <p:nvPr/>
        </p:nvSpPr>
        <p:spPr>
          <a:xfrm>
            <a:off x="812800" y="6238280"/>
            <a:ext cx="311157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F"/>
                </a:solidFill>
                <a:latin typeface="DM Sans" pitchFamily="34" charset="0"/>
                <a:ea typeface="DM Sans" pitchFamily="34" charset="-122"/>
                <a:cs typeface="DM Sans" pitchFamily="34" charset="-120"/>
              </a:rPr>
              <a:t>OrdinalFed · IEEE WIECON-ECE 2026</a:t>
            </a:r>
            <a:endParaRPr lang="en-US" sz="1200" dirty="0"/>
          </a:p>
        </p:txBody>
      </p:sp>
      <p:sp>
        <p:nvSpPr>
          <p:cNvPr id="15" name="Text 13"/>
          <p:cNvSpPr/>
          <p:nvPr/>
        </p:nvSpPr>
        <p:spPr>
          <a:xfrm>
            <a:off x="11190684" y="6238280"/>
            <a:ext cx="188516"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3BF"/>
                </a:solidFill>
                <a:latin typeface="DM Sans" pitchFamily="34" charset="0"/>
                <a:ea typeface="DM Sans" pitchFamily="34" charset="-122"/>
                <a:cs typeface="DM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213D"/>
        </a:solidFill>
      </p:bgPr>
    </p:bg>
    <p:spTree>
      <p:nvGrpSpPr>
        <p:cNvPr id="1" name=""/>
        <p:cNvGrpSpPr/>
        <p:nvPr/>
      </p:nvGrpSpPr>
      <p:grpSpPr>
        <a:xfrm>
          <a:off x="0" y="0"/>
          <a:ext cx="0" cy="0"/>
          <a:chOff x="0" y="0"/>
          <a:chExt cx="0" cy="0"/>
        </a:xfrm>
      </p:grpSpPr>
      <p:sp>
        <p:nvSpPr>
          <p:cNvPr id="2" name="Text 0"/>
          <p:cNvSpPr/>
          <p:nvPr>
            <p:ph type="title"/>
          </p:nvPr>
        </p:nvSpPr>
        <p:spPr>
          <a:xfrm>
            <a:off x="3801199" y="2082800"/>
            <a:ext cx="4589502" cy="825500"/>
          </a:xfrm>
          <a:prstGeom prst="rect">
            <a:avLst/>
          </a:prstGeom>
          <a:noFill/>
          <a:ln/>
        </p:spPr>
        <p:txBody>
          <a:bodyPr wrap="square" lIns="0" tIns="0" rIns="0" bIns="0" rtlCol="0" anchor="t">
            <a:normAutofit/>
          </a:bodyPr>
          <a:lstStyle/>
          <a:p>
            <a:pPr algn="ctr" indent="0" marL="0">
              <a:lnSpc>
                <a:spcPts val="6300"/>
              </a:lnSpc>
              <a:buNone/>
            </a:pPr>
            <a:r>
              <a:rPr lang="en-US" sz="6000" b="1" i="0" dirty="0">
                <a:solidFill>
                  <a:srgbClr val="F7F6F2"/>
                </a:solidFill>
                <a:latin typeface="DM Sans" pitchFamily="34" charset="0"/>
                <a:ea typeface="DM Sans" pitchFamily="34" charset="-122"/>
                <a:cs typeface="DM Sans" pitchFamily="34" charset="-120"/>
              </a:rPr>
              <a:t>Thank you</a:t>
            </a:r>
            <a:endParaRPr lang="en-US" sz="6000" dirty="0"/>
          </a:p>
        </p:txBody>
      </p:sp>
      <p:sp>
        <p:nvSpPr>
          <p:cNvPr id="3" name="Text 1"/>
          <p:cNvSpPr/>
          <p:nvPr/>
        </p:nvSpPr>
        <p:spPr>
          <a:xfrm>
            <a:off x="4776559" y="3060700"/>
            <a:ext cx="2638782" cy="472380"/>
          </a:xfrm>
          <a:prstGeom prst="rect">
            <a:avLst/>
          </a:prstGeom>
          <a:noFill/>
          <a:ln/>
        </p:spPr>
        <p:txBody>
          <a:bodyPr wrap="square" lIns="0" tIns="0" rIns="0" bIns="0" rtlCol="0" anchor="t">
            <a:normAutofit/>
          </a:bodyPr>
          <a:lstStyle/>
          <a:p>
            <a:pPr algn="ctr" indent="0" marL="0">
              <a:lnSpc>
                <a:spcPts val="3520"/>
              </a:lnSpc>
              <a:buNone/>
            </a:pPr>
            <a:r>
              <a:rPr lang="en-US" sz="3200" b="1" dirty="0">
                <a:solidFill>
                  <a:srgbClr val="9EC1E8"/>
                </a:solidFill>
                <a:latin typeface="DM Sans" pitchFamily="34" charset="0"/>
                <a:ea typeface="DM Sans" pitchFamily="34" charset="-122"/>
                <a:cs typeface="DM Sans" pitchFamily="34" charset="-120"/>
              </a:rPr>
              <a:t>Questions?</a:t>
            </a:r>
            <a:endParaRPr lang="en-US" sz="3200" dirty="0"/>
          </a:p>
        </p:txBody>
      </p:sp>
      <p:sp>
        <p:nvSpPr>
          <p:cNvPr id="4" name="Shape 2"/>
          <p:cNvSpPr/>
          <p:nvPr/>
        </p:nvSpPr>
        <p:spPr>
          <a:xfrm>
            <a:off x="5308600" y="3685480"/>
            <a:ext cx="254000" cy="254000"/>
          </a:xfrm>
          <a:prstGeom prst="roundRect">
            <a:avLst>
              <a:gd name="adj" fmla="val 20000"/>
            </a:avLst>
          </a:prstGeom>
          <a:solidFill>
            <a:srgbClr val="DCE8F5"/>
          </a:solidFill>
          <a:ln/>
        </p:spPr>
      </p:sp>
      <p:sp>
        <p:nvSpPr>
          <p:cNvPr id="5" name="Shape 3"/>
          <p:cNvSpPr/>
          <p:nvPr/>
        </p:nvSpPr>
        <p:spPr>
          <a:xfrm>
            <a:off x="5638800" y="3685480"/>
            <a:ext cx="254000" cy="254000"/>
          </a:xfrm>
          <a:prstGeom prst="roundRect">
            <a:avLst>
              <a:gd name="adj" fmla="val 20000"/>
            </a:avLst>
          </a:prstGeom>
          <a:solidFill>
            <a:srgbClr val="A9C8EA"/>
          </a:solidFill>
          <a:ln/>
        </p:spPr>
      </p:sp>
      <p:sp>
        <p:nvSpPr>
          <p:cNvPr id="6" name="Shape 4"/>
          <p:cNvSpPr/>
          <p:nvPr/>
        </p:nvSpPr>
        <p:spPr>
          <a:xfrm>
            <a:off x="5969000" y="3685480"/>
            <a:ext cx="254000" cy="254000"/>
          </a:xfrm>
          <a:prstGeom prst="roundRect">
            <a:avLst>
              <a:gd name="adj" fmla="val 20000"/>
            </a:avLst>
          </a:prstGeom>
          <a:solidFill>
            <a:srgbClr val="6FA3D9"/>
          </a:solidFill>
          <a:ln/>
        </p:spPr>
      </p:sp>
      <p:sp>
        <p:nvSpPr>
          <p:cNvPr id="7" name="Shape 5"/>
          <p:cNvSpPr/>
          <p:nvPr/>
        </p:nvSpPr>
        <p:spPr>
          <a:xfrm>
            <a:off x="6299200" y="3685480"/>
            <a:ext cx="254000" cy="254000"/>
          </a:xfrm>
          <a:prstGeom prst="roundRect">
            <a:avLst>
              <a:gd name="adj" fmla="val 20000"/>
            </a:avLst>
          </a:prstGeom>
          <a:solidFill>
            <a:srgbClr val="3A78BF"/>
          </a:solidFill>
          <a:ln/>
        </p:spPr>
      </p:sp>
      <p:sp>
        <p:nvSpPr>
          <p:cNvPr id="8" name="Shape 6"/>
          <p:cNvSpPr/>
          <p:nvPr/>
        </p:nvSpPr>
        <p:spPr>
          <a:xfrm>
            <a:off x="6635750" y="3691830"/>
            <a:ext cx="241300" cy="241300"/>
          </a:xfrm>
          <a:prstGeom prst="roundRect">
            <a:avLst>
              <a:gd name="adj" fmla="val 18421"/>
            </a:avLst>
          </a:prstGeom>
          <a:solidFill>
            <a:srgbClr val="1F4E8C"/>
          </a:solidFill>
          <a:ln w="12700">
            <a:solidFill>
              <a:srgbClr val="6FA3D9"/>
            </a:solidFill>
            <a:prstDash val="solid"/>
          </a:ln>
        </p:spPr>
      </p:sp>
      <p:sp>
        <p:nvSpPr>
          <p:cNvPr id="9" name="Text 7"/>
          <p:cNvSpPr/>
          <p:nvPr/>
        </p:nvSpPr>
        <p:spPr>
          <a:xfrm>
            <a:off x="3558550" y="4117280"/>
            <a:ext cx="5074801" cy="292100"/>
          </a:xfrm>
          <a:prstGeom prst="rect">
            <a:avLst/>
          </a:prstGeom>
          <a:noFill/>
          <a:ln/>
        </p:spPr>
        <p:txBody>
          <a:bodyPr wrap="square" lIns="0" tIns="0" rIns="0" bIns="0" rtlCol="0" anchor="t">
            <a:normAutofit/>
          </a:bodyPr>
          <a:lstStyle/>
          <a:p>
            <a:pPr algn="ctr" indent="0" marL="0">
              <a:lnSpc>
                <a:spcPts val="2100"/>
              </a:lnSpc>
              <a:buNone/>
            </a:pPr>
            <a:r>
              <a:rPr lang="en-US" sz="1500" dirty="0">
                <a:solidFill>
                  <a:srgbClr val="F7F6F2"/>
                </a:solidFill>
                <a:latin typeface="DM Sans" pitchFamily="34" charset="0"/>
                <a:ea typeface="DM Sans" pitchFamily="34" charset="-122"/>
                <a:cs typeface="DM Sans" pitchFamily="34" charset="-120"/>
              </a:rPr>
              <a:t>Md Tamim Hossain · tamim0072276@gmail.com</a:t>
            </a:r>
            <a:endParaRPr lang="en-US" sz="1500" dirty="0"/>
          </a:p>
        </p:txBody>
      </p:sp>
      <p:sp>
        <p:nvSpPr>
          <p:cNvPr id="10" name="Text 8"/>
          <p:cNvSpPr/>
          <p:nvPr/>
        </p:nvSpPr>
        <p:spPr>
          <a:xfrm>
            <a:off x="2892623" y="4561780"/>
            <a:ext cx="6406753"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FD0E4"/>
                </a:solidFill>
                <a:latin typeface="DM Sans" pitchFamily="34" charset="0"/>
                <a:ea typeface="DM Sans" pitchFamily="34" charset="-122"/>
                <a:cs typeface="DM Sans" pitchFamily="34" charset="-120"/>
              </a:rPr>
              <a:t>Department of Computer Science and Engineering, MIST, Dhaka, Bangladesh</a:t>
            </a:r>
            <a:endParaRPr lang="en-US" sz="1200" dirty="0"/>
          </a:p>
        </p:txBody>
      </p:sp>
    </p:spTree>
  </p:cSld>
  <p:clrMapOvr>
    <a:masterClrMapping/>
  </p:clrMapOvr>
</p:sld>
</file>

<file path=ppt/theme/theme1.xml><?xml version="1.0" encoding="utf-8"?>
<a:theme xmlns:a="http://schemas.openxmlformats.org/drawingml/2006/main" name="OrdinalFed – IEEE WIECON-ECE 2026">
  <a:themeElements>
    <a:clrScheme name="OrdinalFed – IEEE WIECON-ECE 2026">
      <a:dk1>
        <a:srgbClr val="14213D"/>
      </a:dk1>
      <a:lt1>
        <a:srgbClr val="F7F6F2"/>
      </a:lt1>
      <a:dk2>
        <a:srgbClr val="4D566A"/>
      </a:dk2>
      <a:lt2>
        <a:srgbClr val="E0E1E0"/>
      </a:lt2>
      <a:accent1>
        <a:srgbClr val="2F6FB3"/>
      </a:accent1>
      <a:accent2>
        <a:srgbClr val="9EC1E8"/>
      </a:accent2>
      <a:accent3>
        <a:srgbClr val="A9C8EA"/>
      </a:accent3>
      <a:accent4>
        <a:srgbClr val="1F4E8C"/>
      </a:accent4>
      <a:accent5>
        <a:srgbClr val="6FA3D9"/>
      </a:accent5>
      <a:accent6>
        <a:srgbClr val="3A78BF"/>
      </a:accent6>
      <a:hlink>
        <a:srgbClr val="0563C1"/>
      </a:hlink>
      <a:folHlink>
        <a:srgbClr val="954F72"/>
      </a:folHlink>
    </a:clrScheme>
    <a:fontScheme name="OrdinalFed – IEEE WIECON-ECE 2026">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OrdinalFed – IEEE WIECON-ECE 2026</dc:title>
  <dc:subject/>
  <dc:creator/>
  <cp:lastModifiedBy/>
  <cp:revision>1</cp:revision>
  <dcterms:created xsi:type="dcterms:W3CDTF">2026-10-17T19:50:10Z</dcterms:created>
  <dcterms:modified xsi:type="dcterms:W3CDTF">2026-10-17T19:50:10Z</dcterms:modified>
</cp:coreProperties>
</file>